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Introduce this as a working local pilot, not a production deployment. The component references come from maintenance; inventory, cost and planning assumptions are clearly marked.</a:t>
            </a:r>
            <a:endParaRPr lang="en-US"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Explain that approving work reserves parts; only physical completion deducts stock. The pilot is intended to validate usefulness, not claim quantified savings.</a:t>
            </a:r>
            <a:endParaRPr lang="en-US"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These are the three configured lines, not a claim that all nine building records have complete equipment. New tags, positions and operating statuses are demo placeholders; asset serials still need confirmation.</a:t>
            </a:r>
            <a:endParaRPr lang="en-US"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Show HFD12X50 in Inventory. Two DIMMs imply eight finger cylinders installed per line; that is not the spare inventory. Tray clamp manufacturer remains unknown.</a:t>
            </a:r>
            <a:endParaRPr lang="en-US"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PESN and PNOZ m bo.1 are retained exactly as received, without guessing a corrected model. Counts of four and two were supplied. The user confirmed one robot and one PLC per AOI.</a:t>
            </a:r>
            <a:endParaRPr lang="en-US"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Include the robot as one of the seven catalog entries. All seven have two illustrative spare units for the demo; no physical spare count was supplied. Do not describe a robot as actually in stores.</a:t>
            </a:r>
            <a:endParaRPr lang="en-US"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Financial totals are incomplete and must not be used for procurement approval. Serial references must not be replicated as unique asset serials. The application shows demo notices.</a:t>
            </a:r>
            <a:endParaRPr lang="en-US"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Never rehearse fictional completion in the installed database. Sign in before the meeting, check all screens and verify a CSV in Excel. Supplier ordering remains manual; email is disabled. The disposable backend test is not a signed-in browser acceptance test.</a:t>
            </a:r>
            <a:endParaRPr lang="en-US"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Administrator manages accounts and structure. Leads run operations within scope; technicians operate within assigned access. Distinguish code implementation from infrastructure activation.</a:t>
            </a:r>
            <a:endParaRPr lang="en-US"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Keep the current architecture for the pilot. A production server adapter requires agreement; a database migration or framework rewrite is not automatically required. Define backup recovery objectives and test them.</a:t>
            </a:r>
            <a:endParaRPr lang="en-US"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These business rules are unresolved scope decisions. They may be deferred explicitly for a limited pilot; do not describe them as completed or set a production date before the decision.</a:t>
            </a:r>
            <a:endParaRPr lang="en-US"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381000" y="1270000"/>
            <a:ext cx="6096000" cy="635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102238"/>
                </a:solidFill>
                <a:latin typeface="Arial"/>
              </a:rPr>
              <a:t>Ask for permission to validate the process and assign owners, not immediate company-wide deployment. Capture feedback and prioritize production gaps. Use the detailed readiness checklist in the handoff package.</a:t>
            </a:r>
            <a:endParaRPr lang="en-US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MANAGER REVIEW / 19 OCTOBER 2026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MachineCare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Maintenance visibility for DIMM and AOI lines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Working local pilot | Representative equipment and component data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Decision requested: approve a scoped validation pilot and IT review.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1 / 12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THE OPERATIONAL VALUE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One record from request to replacement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Equipment context &gt; Part request &gt; Review / reservation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Physical completion &gt; Stock deduction &gt; Traceable history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Shared inventory and purchasing give maintenance leads a common view.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No downtime, savings or ROI claim has been measured yet.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2 / 12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EQUIPMENT STRUCTURE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The line model now reflects your layout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EACH LINE: DIMM PRESS 1 + DIMM PRESS 2 +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B01 / L01 2 DIMM presses 1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B01 / L02 2 DIMM presses 1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B03 / L02 2 DIMM presses 1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6 DIMM + 3 AOI across 3 configured lines. Existing ACOS and conveyor retained: 11 total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assets.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3 / 12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REAL COMPONENT INFORMATION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DIMM catalog: ten supplied references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Load cell / cylinders / solenoid / reed switches / optical sensors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Manufacturers supplied: Delta Transducers, Airtac and Panasonic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Example: Finger cylinder | HFD12X50 | 4 used per DIMM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Load cell: serial reference 2511231, not a general part number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122 illustrative opening spare units across the ten DIMM entries.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Installed quantities and shared spare balances are separate.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4 / 12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USER-SUPPLIED REFERENCES / 1 OF 2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AOI: robot cell and safety components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TM robot Model not supplied | 1 per AOI confirmed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PILZ small light curtain PSEN op113H-s-30-030 | 4 per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PILZ large light curtain PESN op113H-s-30-075 | 2 per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PILZ PLC PNOZ m bo.1 Ident-772104 | 1 per AOI confirmed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Identifiers preserved exactly as supplied. Validate against nameplates.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Catalog entries do not validate safety functions or inspection intervals.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5 / 12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USER-SUPPLIED REFERENCES / 2 OF 2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AOI: signaling, power and enclosure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Tower light ASTLF-110-4-5FT-CM | 2 per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Switching supply s-120-24 | 1 per AOI confirmed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VEVOR control box Serial 240108586510146 | 1 per AOI confirmed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Tower-light and power-supply manufacturers remain unknown.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Control-box serial is a reference, not every AOI's asset serial.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Seven AOI catalog entries; 14 illustrative opening spare units.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6 / 12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DATA CONFIDENCE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Known information versus demo assumptions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SUPPLIED: component names, stated manufacturers, identifiers and explicit counts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CONFIRMED: two DIMM presses and one AOI on each line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ILLUSTRATIVE: spare stock, reorder levels, new asset tags / station / status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UNKNOWN: actual prices, bins, supplier details, lead times and service intervals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$0 = unknown-price placeholder. 365 days = demo interval, not an instruction.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20 catalog entries total: 17 supplied component references + 3 earlier samples.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7 / 12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DEMO SCRIPT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Ten-minute live walkthrough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1 Equipment: show a line with two DIMMs and one AOI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2 Inventory: search HFD12X50 and PSEN; distinguish installed from spare counts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3 Demo copy only: request one finger cylinder and show reservation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4 Demo copy only: record completion, stock change and history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5 Show low-stock planning, order stages and a CSV report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Use the PDF fallback if the browser is unavailable.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8 / 12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IMPLEMENTED LOCAL PILOT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What works today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Scoped Administrator / Lead / Technician permissions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Equipment registry, shared catalog and compatibility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Requests, review, reservations, completion and historical snapshots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Stock receipts / adjustments, purchasing and partial deliveries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In-app alerts, audit / stock viewers and CSV generation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Backup and email-worker code exists; unattended services are not activated.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9 / 12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NOT READY FOR COMPANY-WIDE DEPLOYMENT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Production gates: platform and assurance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IT: approved hosting, HTTPS, service identity, access controls and secrets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Engineering: supported patched runtime / SDK and deployment testing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Security: identity / SSO-MFA decision, abuse controls and independent review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Operations: monitored startup services and protected off-host backups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Acceptance: authenticated browser workflows, concurrency and recovery tests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Current server is loopback-only. Production date depends on these gates.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10 / 12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DATA AND WORKFLOW OWNERSHIP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Production gates: maintenance decisions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Validate physical stock, actual assets, bins, prices and replacement intervals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Confirm AOI model spellings and counts; obtain missing robot details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Decide multi-bin rules, backdating, emergency review and corrections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Approve email recipients / SMTP and supplier-ordering process if required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Agree support ownership, pilot scope and measurable acceptance criteria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Recommended owners: maintenance lead + IT/security + application owner.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11 / 12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81000"/>
            <a:ext cx="109728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29C6B7"/>
                </a:solidFill>
                <a:latin typeface="Arial"/>
              </a:rPr>
              <a:t>PROPOSED NEXT STEP</a:t>
            </a:r>
            <a:endParaRPr lang="en-US" sz="1200"/>
          </a:p>
        </p:txBody>
      </p:sp>
      <p:sp>
        <p:nvSpPr>
          <p:cNvPr id="3" name="Text 3"/>
          <p:cNvSpPr txBox="1"/>
          <p:nvPr/>
        </p:nvSpPr>
        <p:spPr>
          <a:xfrm>
            <a:off x="609600" y="9652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The decision for tomorrow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09600" y="2209800"/>
            <a:ext cx="10972800" cy="393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Approve a limited, supervised pilot on one validated line.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Name a maintenance data owner and an IT/security reviewer.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Agree success measures: traceability, stock accuracy and operator usability.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Review findings before expanding access or committing a production date.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/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en-US" sz="2000" b="0">
                <a:solidFill>
                  <a:srgbClr val="EAF1F5"/>
                </a:solidFill>
                <a:latin typeface="Arial"/>
              </a:rPr>
              <a:t>Today: working local pilot. Next: verified data and user acceptance.</a:t>
            </a:r>
            <a:endParaRPr lang="en-US" sz="2000"/>
          </a:p>
        </p:txBody>
      </p:sp>
      <p:sp>
        <p:nvSpPr>
          <p:cNvPr id="5" name="Text 5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00" b="0">
                <a:solidFill>
                  <a:srgbClr val="97AAC0"/>
                </a:solidFill>
                <a:latin typeface="Arial"/>
              </a:rPr>
              <a:t>MACHINECARE  /  LOCAL PILOT  /  19 OCT 2026                                          12 / 12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Care">
  <a:themeElements>
    <a:clrScheme name="MachineCare">
      <a:dk1>
        <a:srgbClr val="102238"/>
      </a:dk1>
      <a:lt1>
        <a:srgbClr val="FFFFFF"/>
      </a:lt1>
      <a:dk2>
        <a:srgbClr val="20374F"/>
      </a:dk2>
      <a:lt2>
        <a:srgbClr val="EAF1F5"/>
      </a:lt2>
      <a:accent1>
        <a:srgbClr val="29C6B7"/>
      </a:accent1>
      <a:accent2>
        <a:srgbClr val="3A84D6"/>
      </a:accent2>
      <a:accent3>
        <a:srgbClr val="F0B35C"/>
      </a:accent3>
      <a:accent4>
        <a:srgbClr val="97AAC0"/>
      </a:accent4>
      <a:accent5>
        <a:srgbClr val="6C83B5"/>
      </a:accent5>
      <a:accent6>
        <a:srgbClr val="CB7596"/>
      </a:accent6>
      <a:hlink>
        <a:srgbClr val="3A84D6"/>
      </a:hlink>
      <a:folHlink>
        <a:srgbClr val="6C83B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tand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