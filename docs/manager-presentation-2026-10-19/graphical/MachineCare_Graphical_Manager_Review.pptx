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</Types>
</file>

<file path=_rels/.rels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</p:sldIdLst>
  <p:sldSz cx="12192000" cy="6858000" type="screen16x9"/>
  <p:notesSz cx="6858000" cy="9144000"/>
</p:presentation>
</file>

<file path=ppt/_rels/presentation.xml.rels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notesStyle/>
</p:notesMaster>
</file>

<file path=ppt/notesSlides/_rels/notesSlide1.xml.rels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 txBox="1"/>
          <p:nvPr>
            <p:ph type="body" idx="1"/>
          </p:nvPr>
        </p:nvSpPr>
        <p:spPr/>
        <p:txBody>
          <a:bodyPr/>
          <a:lstStyle/>
          <a:p>
            <a:r>
              <a:t>Open with the product and the purpose. Screenshots are captured from the existing app using the local demonstration database. Operational values remain illustrative.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 txBox="1"/>
          <p:nvPr>
            <p:ph type="body" idx="1"/>
          </p:nvPr>
        </p:nvSpPr>
        <p:spPr/>
        <p:txBody>
          <a:bodyPr/>
          <a:lstStyle/>
          <a:p>
            <a:r>
              <a:t>These are intended workflow benefits, not measured ROI. The pilot should measure traceability, stock accuracy and operator usability.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 txBox="1"/>
          <p:nvPr>
            <p:ph type="body" idx="1"/>
          </p:nvPr>
        </p:nvSpPr>
        <p:spPr/>
        <p:txBody>
          <a:bodyPr/>
          <a:lstStyle/>
          <a:p>
            <a:r>
              <a:t>There are three configured lines, not a complete survey of all nine building records. Existing ACOS and conveyor are retained. New asset identifiers and statuses are demo placeholders.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 txBox="1"/>
          <p:nvPr>
            <p:ph type="body" idx="1"/>
          </p:nvPr>
        </p:nvSpPr>
        <p:spPr/>
        <p:txBody>
          <a:bodyPr/>
          <a:lstStyle/>
          <a:p>
            <a:r>
              <a:t>Backend role and line/building scope checks enforce these distinctions. Shared inventory is facility-wide; maintenance access is scoped.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 txBox="1"/>
          <p:nvPr>
            <p:ph type="body" idx="1"/>
          </p:nvPr>
        </p:nvSpPr>
        <p:spPr/>
        <p:txBody>
          <a:bodyPr/>
          <a:lstStyle/>
          <a:p>
            <a:r>
              <a:t>Actual app capture. Counters and costs reflect the demo snapshot; not production performance metrics.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 txBox="1"/>
          <p:nvPr>
            <p:ph type="body" idx="1"/>
          </p:nvPr>
        </p:nvSpPr>
        <p:spPr/>
        <p:txBody>
          <a:bodyPr/>
          <a:lstStyle/>
          <a:p>
            <a:r>
              <a:t>Actual Equipment screen. New machine tags/stations/statuses are demo placeholders. Preserve existing asset history.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 txBox="1"/>
          <p:nvPr>
            <p:ph type="body" idx="1"/>
          </p:nvPr>
        </p:nvSpPr>
        <p:spPr/>
        <p:txBody>
          <a:bodyPr/>
          <a:lstStyle/>
          <a:p>
            <a:r>
              <a:t>The supplied model and installed count are real references. Opening stock of eight was illustrative; current balances may differ after demo actions.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 txBox="1"/>
          <p:nvPr>
            <p:ph type="body" idx="1"/>
          </p:nvPr>
        </p:nvSpPr>
        <p:spPr/>
        <p:txBody>
          <a:bodyPr/>
          <a:lstStyle/>
          <a:p>
            <a:r>
              <a:t>AOI robot, PLC, supply and box counts of one were confirmed by the user. Do not treat these catalog entries as a safety-system inspection or certification.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 txBox="1"/>
          <p:nvPr>
            <p:ph type="body" idx="1"/>
          </p:nvPr>
        </p:nvSpPr>
        <p:spPr/>
        <p:txBody>
          <a:bodyPr/>
          <a:lstStyle/>
          <a:p>
            <a:r>
              <a:t>Example uses initial demo stock. Four finger cylinders per DIMM multiplied by two DIMMs means eight installed on one line. Shared spares are a distinct balance and are not multiplied by line count.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 txBox="1"/>
          <p:nvPr>
            <p:ph type="body" idx="1"/>
          </p:nvPr>
        </p:nvSpPr>
        <p:spPr/>
        <p:txBody>
          <a:bodyPr/>
          <a:lstStyle/>
          <a:p>
            <a:r>
              <a:t>Pending early work reserves nothing. Approval reserves stock; completion deducts stock once and creates history. Manager early work requires an explanation and records immediate confirmation.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 txBox="1"/>
          <p:nvPr>
            <p:ph type="body" idx="1"/>
          </p:nvPr>
        </p:nvSpPr>
        <p:spPr/>
        <p:txBody>
          <a:bodyPr/>
          <a:lstStyle/>
          <a:p>
            <a:r>
              <a:t>Actual app screen. Any rehearsal records are fictional and confined to the demo database. Empty queues are valid; no screenshot is fabricated.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 txBox="1"/>
          <p:nvPr>
            <p:ph type="body" idx="1"/>
          </p:nvPr>
        </p:nvSpPr>
        <p:spPr/>
        <p:txBody>
          <a:bodyPr/>
          <a:lstStyle/>
          <a:p>
            <a:r>
              <a:t>Actual history capture. Existing sample maintenance and unknown-price catalog entries do not establish real operating cost.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 txBox="1"/>
          <p:nvPr>
            <p:ph type="body" idx="1"/>
          </p:nvPr>
        </p:nvSpPr>
        <p:spPr/>
        <p:txBody>
          <a:bodyPr/>
          <a:lstStyle/>
          <a:p>
            <a:r>
              <a:t>Administrator requests require another manager review. Supplier ordering remains manual; no order is transmitted by this presentation.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 txBox="1"/>
          <p:nvPr>
            <p:ph type="body" idx="1"/>
          </p:nvPr>
        </p:nvSpPr>
        <p:spPr/>
        <p:txBody>
          <a:bodyPr/>
          <a:lstStyle/>
          <a:p>
            <a:r>
              <a:t>Actual report screen. CSV generation exists; final Chrome download and Excel opening remain manual acceptance checks unless separately verified. Cost reports remain incomplete with placeholder prices.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 txBox="1"/>
          <p:nvPr>
            <p:ph type="body" idx="1"/>
          </p:nvPr>
        </p:nvSpPr>
        <p:spPr/>
        <p:txBody>
          <a:bodyPr/>
          <a:lstStyle/>
          <a:p>
            <a:r>
              <a:t>Actual stock movement screen. Imported opening stock is explicitly labeled illustrative. No manager approval should rely on fictional inventory.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 txBox="1"/>
          <p:nvPr>
            <p:ph type="body" idx="1"/>
          </p:nvPr>
        </p:nvSpPr>
        <p:spPr/>
        <p:txBody>
          <a:bodyPr/>
          <a:lstStyle/>
          <a:p>
            <a:r>
              <a:t>Do not mix confirmed component references with planning or asset assumptions. This separation is visible in the app and must remain in the presentation.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 txBox="1"/>
          <p:nvPr>
            <p:ph type="body" idx="1"/>
          </p:nvPr>
        </p:nvSpPr>
        <p:spPr/>
        <p:txBody>
          <a:bodyPr/>
          <a:lstStyle/>
          <a:p>
            <a:r>
              <a:t>Flutter web, Python standard-library HTTP API and SQLite are the current architecture. No framework replacement or company-network exposure has been approved. Email and scheduled operations are not activated.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 txBox="1"/>
          <p:nvPr>
            <p:ph type="body" idx="1"/>
          </p:nvPr>
        </p:nvSpPr>
        <p:spPr/>
        <p:txBody>
          <a:bodyPr/>
          <a:lstStyle/>
          <a:p>
            <a:r>
              <a:t>These are acceptance gates, not a promise of a production date. IT, maintenance and engineering must assign owners and accept evidence. Independent security review remains required.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 txBox="1"/>
          <p:nvPr>
            <p:ph type="body" idx="1"/>
          </p:nvPr>
        </p:nvSpPr>
        <p:spPr/>
        <p:txBody>
          <a:bodyPr/>
          <a:lstStyle/>
          <a:p>
            <a:r>
              <a:t>These items have not been implemented speculatively. A limited release may explicitly defer them; otherwise agree rules and test their effects on history, stock and approvals.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 txBox="1"/>
          <p:nvPr>
            <p:ph type="body" idx="1"/>
          </p:nvPr>
        </p:nvSpPr>
        <p:spPr/>
        <p:txBody>
          <a:bodyPr/>
          <a:lstStyle/>
          <a:p>
            <a:r>
              <a:t>No calendar promises. Advance when each stage meets agreed acceptance criteria. Suggested pilot measures: traceability, stock accuracy and operator usability.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 txBox="1"/>
          <p:nvPr>
            <p:ph type="body" idx="1"/>
          </p:nvPr>
        </p:nvSpPr>
        <p:spPr/>
        <p:txBody>
          <a:bodyPr/>
          <a:lstStyle/>
          <a:p>
            <a:r>
              <a:t>Ask for a supervised pilot, a maintenance data owner, and an IT/security reviewer. Agree success measures before promising savings or a production launch date.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 txBox="1"/>
          <p:nvPr>
            <p:ph type="body" idx="1"/>
          </p:nvPr>
        </p:nvSpPr>
        <p:spPr/>
        <p:txBody>
          <a:bodyPr/>
          <a:lstStyle/>
          <a:p>
            <a:r>
              <a:t>Exact supplied references. Load-cell serial is not a general part number. The tray clamp manufacturer remains unknown. Spare quantities are separate.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 txBox="1"/>
          <p:nvPr>
            <p:ph type="body" idx="1"/>
          </p:nvPr>
        </p:nvSpPr>
        <p:spPr/>
        <p:txBody>
          <a:bodyPr/>
          <a:lstStyle/>
          <a:p>
            <a:r>
              <a:t>Identifiers retained exactly as supplied. User confirmed one robot, PLC, supply and control box. Verify nameplates. No safety-function certification is implied.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</p:sldLayoutIdLst>
  <p:txStyles>
    <p:titleStyle/>
    <p:bodyStyle/>
    <p:otherStyle/>
  </p:txStyles>
</p:sldMaster>
</file>

<file path=ppt/slides/_rels/slide1.xml.rels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2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457200" y="279400"/>
            <a:ext cx="11176000" cy="26644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100" b="1">
                <a:solidFill>
                  <a:srgbClr val="33D2BB"/>
                </a:solidFill>
                <a:latin typeface="Arial"/>
              </a:rPr>
              <a:t>MANAGER PROPOSAL</a:t>
            </a:r>
            <a:endParaRPr sz="1100"/>
          </a:p>
        </p:txBody>
      </p:sp>
      <p:sp>
        <p:nvSpPr>
          <p:cNvPr id="3" name="Text 3"/>
          <p:cNvSpPr txBox="1"/>
          <p:nvPr/>
        </p:nvSpPr>
        <p:spPr>
          <a:xfrm>
            <a:off x="457200" y="685800"/>
            <a:ext cx="11277600" cy="53619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2900" b="1">
                <a:solidFill>
                  <a:srgbClr val="FFFFFF"/>
                </a:solidFill>
                <a:latin typeface="Arial"/>
              </a:rPr>
              <a:t>MachineCare</a:t>
            </a:r>
            <a:endParaRPr sz="2900"/>
          </a:p>
        </p:txBody>
      </p:sp>
      <p:sp>
        <p:nvSpPr>
          <p:cNvPr id="4" name="Text 4"/>
          <p:cNvSpPr txBox="1"/>
          <p:nvPr/>
        </p:nvSpPr>
        <p:spPr>
          <a:xfrm>
            <a:off x="508000" y="1841500"/>
            <a:ext cx="5334000" cy="124053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3800" b="1">
                <a:solidFill>
                  <a:srgbClr val="FFFFFF"/>
                </a:solidFill>
                <a:latin typeface="Arial"/>
              </a:rPr>
              <a:t>Equipment. Parts.</a:t>
            </a:r>
            <a:endParaRPr sz="3800"/>
          </a:p>
          <a:p>
            <a:pPr>
              <a:lnSpc>
                <a:spcPct val="118000"/>
              </a:lnSpc>
            </a:pPr>
            <a:r>
              <a:rPr lang="en-US" sz="3800" b="1">
                <a:solidFill>
                  <a:srgbClr val="FFFFFF"/>
                </a:solidFill>
                <a:latin typeface="Arial"/>
              </a:rPr>
              <a:t>Every replacement.</a:t>
            </a:r>
            <a:endParaRPr sz="3800"/>
          </a:p>
        </p:txBody>
      </p:sp>
      <p:sp>
        <p:nvSpPr>
          <p:cNvPr id="5" name="Text 5"/>
          <p:cNvSpPr txBox="1"/>
          <p:nvPr/>
        </p:nvSpPr>
        <p:spPr>
          <a:xfrm>
            <a:off x="533400" y="3962400"/>
            <a:ext cx="5080000" cy="701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2000" b="0">
                <a:solidFill>
                  <a:srgbClr val="BED2E2"/>
                </a:solidFill>
                <a:latin typeface="Arial"/>
              </a:rPr>
              <a:t>A shared view for maintenance teams</a:t>
            </a:r>
            <a:endParaRPr sz="2000"/>
          </a:p>
          <a:p>
            <a:pPr>
              <a:lnSpc>
                <a:spcPct val="118000"/>
              </a:lnSpc>
            </a:pPr>
            <a:r>
              <a:rPr lang="en-US" sz="2000" b="0">
                <a:solidFill>
                  <a:srgbClr val="BED2E2"/>
                </a:solidFill>
                <a:latin typeface="Arial"/>
              </a:rPr>
              <a:t>DIMM presses + AOI robot cells</a:t>
            </a:r>
            <a:endParaRPr sz="2000"/>
          </a:p>
        </p:txBody>
      </p:sp>
      <p:sp>
        <p:nvSpPr>
          <p:cNvPr id="6" name="Panel 6"/>
          <p:cNvSpPr/>
          <p:nvPr/>
        </p:nvSpPr>
        <p:spPr>
          <a:xfrm>
            <a:off x="508000" y="5245100"/>
            <a:ext cx="4953000" cy="685800"/>
          </a:xfrm>
          <a:prstGeom prst="roundRect">
            <a:avLst/>
          </a:prstGeom>
          <a:solidFill>
            <a:srgbClr val="007F80"/>
          </a:solidFill>
          <a:ln>
            <a:noFill/>
          </a:ln>
        </p:spPr>
      </p:sp>
      <p:sp>
        <p:nvSpPr>
          <p:cNvPr id="7" name="Text 7"/>
          <p:cNvSpPr txBox="1"/>
          <p:nvPr/>
        </p:nvSpPr>
        <p:spPr>
          <a:xfrm>
            <a:off x="711200" y="5435600"/>
            <a:ext cx="4572000" cy="37134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800" b="1">
                <a:solidFill>
                  <a:srgbClr val="FFFFFF"/>
                </a:solidFill>
                <a:latin typeface="Arial"/>
              </a:rPr>
              <a:t>Proposal: one-line validation pilot</a:t>
            </a:r>
            <a:endParaRPr sz="1800"/>
          </a:p>
        </p:txBody>
      </p:sp>
      <p:sp>
        <p:nvSpPr>
          <p:cNvPr id="8" name="Panel 8"/>
          <p:cNvSpPr/>
          <p:nvPr/>
        </p:nvSpPr>
        <p:spPr>
          <a:xfrm>
            <a:off x="6096000" y="1600200"/>
            <a:ext cx="5588000" cy="4635500"/>
          </a:xfrm>
          <a:prstGeom prst="roundRect">
            <a:avLst/>
          </a:prstGeom>
          <a:solidFill>
            <a:srgbClr val="E1EAF0"/>
          </a:solidFill>
          <a:ln>
            <a:noFill/>
          </a:ln>
        </p:spPr>
      </p:sp>
      <p:sp>
        <p:nvSpPr>
          <p:cNvPr id="9" name="Text 9"/>
          <p:cNvSpPr txBox="1"/>
          <p:nvPr/>
        </p:nvSpPr>
        <p:spPr>
          <a:xfrm>
            <a:off x="6286500" y="1917700"/>
            <a:ext cx="5207000" cy="35636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700" b="0">
                <a:solidFill>
                  <a:srgbClr val="17344E"/>
                </a:solidFill>
                <a:latin typeface="Arial"/>
              </a:rPr>
              <a:t>Screenshot capture pending</a:t>
            </a:r>
            <a:endParaRPr sz="1700"/>
          </a:p>
        </p:txBody>
      </p:sp>
      <p:sp>
        <p:nvSpPr>
          <p:cNvPr id="10" name="Text 10"/>
          <p:cNvSpPr txBox="1"/>
          <p:nvPr/>
        </p:nvSpPr>
        <p:spPr>
          <a:xfrm>
            <a:off x="457200" y="6540500"/>
            <a:ext cx="9652000" cy="23647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900" b="0">
                <a:solidFill>
                  <a:srgbClr val="AABECF"/>
                </a:solidFill>
                <a:latin typeface="Arial"/>
              </a:rPr>
              <a:t>MACHINECARE | LOCAL PILOT | 19 OCT 2026</a:t>
            </a:r>
            <a:endParaRPr sz="900"/>
          </a:p>
        </p:txBody>
      </p:sp>
      <p:sp>
        <p:nvSpPr>
          <p:cNvPr id="11" name="Text 11"/>
          <p:cNvSpPr txBox="1"/>
          <p:nvPr/>
        </p:nvSpPr>
        <p:spPr>
          <a:xfrm>
            <a:off x="11303000" y="6451600"/>
            <a:ext cx="508000" cy="2814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200" b="1">
                <a:solidFill>
                  <a:srgbClr val="33D2BB"/>
                </a:solidFill>
                <a:latin typeface="Arial"/>
              </a:rPr>
              <a:t>01</a:t>
            </a:r>
            <a:endParaRPr sz="1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457200" y="279400"/>
            <a:ext cx="11176000" cy="26644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100" b="1">
                <a:solidFill>
                  <a:srgbClr val="007F80"/>
                </a:solidFill>
                <a:latin typeface="Arial"/>
              </a:rPr>
              <a:t>01 / WHY THIS MATTERS</a:t>
            </a:r>
            <a:endParaRPr sz="1100"/>
          </a:p>
        </p:txBody>
      </p:sp>
      <p:sp>
        <p:nvSpPr>
          <p:cNvPr id="3" name="Text 3"/>
          <p:cNvSpPr txBox="1"/>
          <p:nvPr/>
        </p:nvSpPr>
        <p:spPr>
          <a:xfrm>
            <a:off x="457200" y="685800"/>
            <a:ext cx="11277600" cy="53619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2900" b="1">
                <a:solidFill>
                  <a:srgbClr val="17344E"/>
                </a:solidFill>
                <a:latin typeface="Arial"/>
              </a:rPr>
              <a:t>A connected maintenance record</a:t>
            </a:r>
            <a:endParaRPr sz="2900"/>
          </a:p>
        </p:txBody>
      </p:sp>
      <p:sp>
        <p:nvSpPr>
          <p:cNvPr id="4" name="Panel 4"/>
          <p:cNvSpPr/>
          <p:nvPr/>
        </p:nvSpPr>
        <p:spPr>
          <a:xfrm>
            <a:off x="457200" y="1841500"/>
            <a:ext cx="3581400" cy="33655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5" name="Panel 5"/>
          <p:cNvSpPr/>
          <p:nvPr/>
        </p:nvSpPr>
        <p:spPr>
          <a:xfrm>
            <a:off x="457200" y="1841500"/>
            <a:ext cx="63500" cy="3365500"/>
          </a:xfrm>
          <a:prstGeom prst="rect">
            <a:avLst/>
          </a:prstGeom>
          <a:solidFill>
            <a:srgbClr val="007F80"/>
          </a:solidFill>
          <a:ln>
            <a:noFill/>
          </a:ln>
        </p:spPr>
      </p:sp>
      <p:sp>
        <p:nvSpPr>
          <p:cNvPr id="6" name="Text 6"/>
          <p:cNvSpPr txBox="1"/>
          <p:nvPr/>
        </p:nvSpPr>
        <p:spPr>
          <a:xfrm>
            <a:off x="685800" y="2044700"/>
            <a:ext cx="3124200" cy="37134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800" b="1">
                <a:solidFill>
                  <a:srgbClr val="007F80"/>
                </a:solidFill>
                <a:latin typeface="Arial"/>
              </a:rPr>
              <a:t>Know the equipment</a:t>
            </a:r>
            <a:endParaRPr sz="1800"/>
          </a:p>
        </p:txBody>
      </p:sp>
      <p:sp>
        <p:nvSpPr>
          <p:cNvPr id="7" name="Text 7"/>
          <p:cNvSpPr txBox="1"/>
          <p:nvPr/>
        </p:nvSpPr>
        <p:spPr>
          <a:xfrm>
            <a:off x="685800" y="2806700"/>
            <a:ext cx="3124200" cy="5511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500" b="0">
                <a:solidFill>
                  <a:srgbClr val="536B7D"/>
                </a:solidFill>
                <a:latin typeface="Arial"/>
              </a:rPr>
              <a:t>Find the machine, line and</a:t>
            </a:r>
            <a:endParaRPr sz="1500"/>
          </a:p>
          <a:p>
            <a:pPr>
              <a:lnSpc>
                <a:spcPct val="118000"/>
              </a:lnSpc>
            </a:pPr>
            <a:r>
              <a:rPr lang="en-US" sz="1500" b="0">
                <a:solidFill>
                  <a:srgbClr val="536B7D"/>
                </a:solidFill>
                <a:latin typeface="Arial"/>
              </a:rPr>
              <a:t>compatible component.</a:t>
            </a:r>
            <a:endParaRPr sz="1500"/>
          </a:p>
        </p:txBody>
      </p:sp>
      <p:sp>
        <p:nvSpPr>
          <p:cNvPr id="8" name="Panel 8"/>
          <p:cNvSpPr/>
          <p:nvPr/>
        </p:nvSpPr>
        <p:spPr>
          <a:xfrm>
            <a:off x="4267200" y="1841500"/>
            <a:ext cx="3581400" cy="33655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9" name="Panel 9"/>
          <p:cNvSpPr/>
          <p:nvPr/>
        </p:nvSpPr>
        <p:spPr>
          <a:xfrm>
            <a:off x="4267200" y="1841500"/>
            <a:ext cx="63500" cy="3365500"/>
          </a:xfrm>
          <a:prstGeom prst="rect">
            <a:avLst/>
          </a:prstGeom>
          <a:solidFill>
            <a:srgbClr val="007F80"/>
          </a:solidFill>
          <a:ln>
            <a:noFill/>
          </a:ln>
        </p:spPr>
      </p:sp>
      <p:sp>
        <p:nvSpPr>
          <p:cNvPr id="10" name="Text 10"/>
          <p:cNvSpPr txBox="1"/>
          <p:nvPr/>
        </p:nvSpPr>
        <p:spPr>
          <a:xfrm>
            <a:off x="4495800" y="2044700"/>
            <a:ext cx="3124200" cy="37134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800" b="1">
                <a:solidFill>
                  <a:srgbClr val="007F80"/>
                </a:solidFill>
                <a:latin typeface="Arial"/>
              </a:rPr>
              <a:t>Know the stock</a:t>
            </a:r>
            <a:endParaRPr sz="1800"/>
          </a:p>
        </p:txBody>
      </p:sp>
      <p:sp>
        <p:nvSpPr>
          <p:cNvPr id="11" name="Text 11"/>
          <p:cNvSpPr txBox="1"/>
          <p:nvPr/>
        </p:nvSpPr>
        <p:spPr>
          <a:xfrm>
            <a:off x="4495800" y="2806700"/>
            <a:ext cx="3124200" cy="5511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500" b="0">
                <a:solidFill>
                  <a:srgbClr val="536B7D"/>
                </a:solidFill>
                <a:latin typeface="Arial"/>
              </a:rPr>
              <a:t>See physical, reserved and</a:t>
            </a:r>
            <a:endParaRPr sz="1500"/>
          </a:p>
          <a:p>
            <a:pPr>
              <a:lnSpc>
                <a:spcPct val="118000"/>
              </a:lnSpc>
            </a:pPr>
            <a:r>
              <a:rPr lang="en-US" sz="1500" b="0">
                <a:solidFill>
                  <a:srgbClr val="536B7D"/>
                </a:solidFill>
                <a:latin typeface="Arial"/>
              </a:rPr>
              <a:t>available quantities.</a:t>
            </a:r>
            <a:endParaRPr sz="1500"/>
          </a:p>
        </p:txBody>
      </p:sp>
      <p:sp>
        <p:nvSpPr>
          <p:cNvPr id="12" name="Panel 12"/>
          <p:cNvSpPr/>
          <p:nvPr/>
        </p:nvSpPr>
        <p:spPr>
          <a:xfrm>
            <a:off x="8077200" y="1841500"/>
            <a:ext cx="3581400" cy="33655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3" name="Panel 13"/>
          <p:cNvSpPr/>
          <p:nvPr/>
        </p:nvSpPr>
        <p:spPr>
          <a:xfrm>
            <a:off x="8077200" y="1841500"/>
            <a:ext cx="63500" cy="3365500"/>
          </a:xfrm>
          <a:prstGeom prst="rect">
            <a:avLst/>
          </a:prstGeom>
          <a:solidFill>
            <a:srgbClr val="007F80"/>
          </a:solidFill>
          <a:ln>
            <a:noFill/>
          </a:ln>
        </p:spPr>
      </p:sp>
      <p:sp>
        <p:nvSpPr>
          <p:cNvPr id="14" name="Text 14"/>
          <p:cNvSpPr txBox="1"/>
          <p:nvPr/>
        </p:nvSpPr>
        <p:spPr>
          <a:xfrm>
            <a:off x="8305800" y="2044700"/>
            <a:ext cx="3124200" cy="37134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800" b="1">
                <a:solidFill>
                  <a:srgbClr val="007F80"/>
                </a:solidFill>
                <a:latin typeface="Arial"/>
              </a:rPr>
              <a:t>Know the history</a:t>
            </a:r>
            <a:endParaRPr sz="1800"/>
          </a:p>
        </p:txBody>
      </p:sp>
      <p:sp>
        <p:nvSpPr>
          <p:cNvPr id="15" name="Text 15"/>
          <p:cNvSpPr txBox="1"/>
          <p:nvPr/>
        </p:nvSpPr>
        <p:spPr>
          <a:xfrm>
            <a:off x="8305800" y="2806700"/>
            <a:ext cx="3124200" cy="5511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500" b="0">
                <a:solidFill>
                  <a:srgbClr val="536B7D"/>
                </a:solidFill>
                <a:latin typeface="Arial"/>
              </a:rPr>
              <a:t>Connect completion to the person,</a:t>
            </a:r>
            <a:endParaRPr sz="1500"/>
          </a:p>
          <a:p>
            <a:pPr>
              <a:lnSpc>
                <a:spcPct val="118000"/>
              </a:lnSpc>
            </a:pPr>
            <a:r>
              <a:rPr lang="en-US" sz="1500" b="0">
                <a:solidFill>
                  <a:srgbClr val="536B7D"/>
                </a:solidFill>
                <a:latin typeface="Arial"/>
              </a:rPr>
              <a:t>part and cost snapshot.</a:t>
            </a:r>
            <a:endParaRPr sz="1500"/>
          </a:p>
        </p:txBody>
      </p:sp>
      <p:sp>
        <p:nvSpPr>
          <p:cNvPr id="16" name="Panel 16"/>
          <p:cNvSpPr/>
          <p:nvPr/>
        </p:nvSpPr>
        <p:spPr>
          <a:xfrm>
            <a:off x="457200" y="5562600"/>
            <a:ext cx="11277600" cy="609600"/>
          </a:xfrm>
          <a:prstGeom prst="roundRect">
            <a:avLst/>
          </a:prstGeom>
          <a:solidFill>
            <a:srgbClr val="102238"/>
          </a:solidFill>
          <a:ln>
            <a:noFill/>
          </a:ln>
        </p:spPr>
      </p:sp>
      <p:sp>
        <p:nvSpPr>
          <p:cNvPr id="17" name="Text 17"/>
          <p:cNvSpPr txBox="1"/>
          <p:nvPr/>
        </p:nvSpPr>
        <p:spPr>
          <a:xfrm>
            <a:off x="685800" y="5740400"/>
            <a:ext cx="10795000" cy="37134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800" b="1">
                <a:solidFill>
                  <a:srgbClr val="FFFFFF"/>
                </a:solidFill>
                <a:latin typeface="Arial"/>
              </a:rPr>
              <a:t>ONE WORKFLOW Request &gt; Review &gt; Reserve &gt; Complete &gt; Trace</a:t>
            </a:r>
            <a:endParaRPr sz="1800"/>
          </a:p>
        </p:txBody>
      </p:sp>
      <p:sp>
        <p:nvSpPr>
          <p:cNvPr id="18" name="Text 18"/>
          <p:cNvSpPr txBox="1"/>
          <p:nvPr/>
        </p:nvSpPr>
        <p:spPr>
          <a:xfrm>
            <a:off x="457200" y="6540500"/>
            <a:ext cx="9652000" cy="23647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900" b="0">
                <a:solidFill>
                  <a:srgbClr val="536B7D"/>
                </a:solidFill>
                <a:latin typeface="Arial"/>
              </a:rPr>
              <a:t>MACHINECARE | LOCAL PILOT | 19 OCT 2026</a:t>
            </a:r>
            <a:endParaRPr sz="900"/>
          </a:p>
        </p:txBody>
      </p:sp>
      <p:sp>
        <p:nvSpPr>
          <p:cNvPr id="19" name="Text 19"/>
          <p:cNvSpPr txBox="1"/>
          <p:nvPr/>
        </p:nvSpPr>
        <p:spPr>
          <a:xfrm>
            <a:off x="11303000" y="6451600"/>
            <a:ext cx="508000" cy="2814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200" b="1">
                <a:solidFill>
                  <a:srgbClr val="007F80"/>
                </a:solidFill>
                <a:latin typeface="Arial"/>
              </a:rPr>
              <a:t>02</a:t>
            </a:r>
            <a:endParaRPr sz="1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457200" y="279400"/>
            <a:ext cx="11176000" cy="26644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100" b="1">
                <a:solidFill>
                  <a:srgbClr val="007F80"/>
                </a:solidFill>
                <a:latin typeface="Arial"/>
              </a:rPr>
              <a:t>02 / PRODUCTION MODEL</a:t>
            </a:r>
            <a:endParaRPr sz="1100"/>
          </a:p>
        </p:txBody>
      </p:sp>
      <p:sp>
        <p:nvSpPr>
          <p:cNvPr id="3" name="Text 3"/>
          <p:cNvSpPr txBox="1"/>
          <p:nvPr/>
        </p:nvSpPr>
        <p:spPr>
          <a:xfrm>
            <a:off x="457200" y="685800"/>
            <a:ext cx="11277600" cy="53619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2900" b="1">
                <a:solidFill>
                  <a:srgbClr val="17344E"/>
                </a:solidFill>
                <a:latin typeface="Arial"/>
              </a:rPr>
              <a:t>Two DIMM presses + one AOI on every line</a:t>
            </a:r>
            <a:endParaRPr sz="2900"/>
          </a:p>
        </p:txBody>
      </p:sp>
      <p:sp>
        <p:nvSpPr>
          <p:cNvPr id="4" name="Panel 4"/>
          <p:cNvSpPr/>
          <p:nvPr/>
        </p:nvSpPr>
        <p:spPr>
          <a:xfrm>
            <a:off x="457200" y="1841500"/>
            <a:ext cx="2108200" cy="939800"/>
          </a:xfrm>
          <a:prstGeom prst="roundRect">
            <a:avLst/>
          </a:prstGeom>
          <a:solidFill>
            <a:srgbClr val="102238"/>
          </a:solidFill>
          <a:ln>
            <a:noFill/>
          </a:ln>
        </p:spPr>
      </p:sp>
      <p:sp>
        <p:nvSpPr>
          <p:cNvPr id="5" name="Text 5"/>
          <p:cNvSpPr txBox="1"/>
          <p:nvPr/>
        </p:nvSpPr>
        <p:spPr>
          <a:xfrm>
            <a:off x="685800" y="2133600"/>
            <a:ext cx="1778000" cy="401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2000" b="1">
                <a:solidFill>
                  <a:srgbClr val="FFFFFF"/>
                </a:solidFill>
                <a:latin typeface="Arial"/>
              </a:rPr>
              <a:t>B01 / L01</a:t>
            </a:r>
            <a:endParaRPr sz="2000"/>
          </a:p>
        </p:txBody>
      </p:sp>
      <p:sp>
        <p:nvSpPr>
          <p:cNvPr id="6" name="Panel 6"/>
          <p:cNvSpPr/>
          <p:nvPr/>
        </p:nvSpPr>
        <p:spPr>
          <a:xfrm>
            <a:off x="2844800" y="1841500"/>
            <a:ext cx="2705100" cy="939800"/>
          </a:xfrm>
          <a:prstGeom prst="roundRect">
            <a:avLst/>
          </a:prstGeom>
          <a:solidFill>
            <a:srgbClr val="007F80"/>
          </a:solidFill>
          <a:ln>
            <a:noFill/>
          </a:ln>
        </p:spPr>
      </p:sp>
      <p:sp>
        <p:nvSpPr>
          <p:cNvPr id="7" name="Text 7"/>
          <p:cNvSpPr txBox="1"/>
          <p:nvPr/>
        </p:nvSpPr>
        <p:spPr>
          <a:xfrm>
            <a:off x="3098800" y="2146300"/>
            <a:ext cx="2349500" cy="38633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900" b="1">
                <a:solidFill>
                  <a:srgbClr val="FFFFFF"/>
                </a:solidFill>
                <a:latin typeface="Arial"/>
              </a:rPr>
              <a:t>DIMM 1</a:t>
            </a:r>
            <a:endParaRPr sz="1900"/>
          </a:p>
        </p:txBody>
      </p:sp>
      <p:sp>
        <p:nvSpPr>
          <p:cNvPr id="8" name="Panel 8"/>
          <p:cNvSpPr/>
          <p:nvPr/>
        </p:nvSpPr>
        <p:spPr>
          <a:xfrm>
            <a:off x="5803900" y="1841500"/>
            <a:ext cx="2705100" cy="939800"/>
          </a:xfrm>
          <a:prstGeom prst="roundRect">
            <a:avLst/>
          </a:prstGeom>
          <a:solidFill>
            <a:srgbClr val="007F80"/>
          </a:solidFill>
          <a:ln>
            <a:noFill/>
          </a:ln>
        </p:spPr>
      </p:sp>
      <p:sp>
        <p:nvSpPr>
          <p:cNvPr id="9" name="Text 9"/>
          <p:cNvSpPr txBox="1"/>
          <p:nvPr/>
        </p:nvSpPr>
        <p:spPr>
          <a:xfrm>
            <a:off x="6057900" y="2146300"/>
            <a:ext cx="2349500" cy="38633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900" b="1">
                <a:solidFill>
                  <a:srgbClr val="FFFFFF"/>
                </a:solidFill>
                <a:latin typeface="Arial"/>
              </a:rPr>
              <a:t>DIMM 2</a:t>
            </a:r>
            <a:endParaRPr sz="1900"/>
          </a:p>
        </p:txBody>
      </p:sp>
      <p:sp>
        <p:nvSpPr>
          <p:cNvPr id="10" name="Panel 10"/>
          <p:cNvSpPr/>
          <p:nvPr/>
        </p:nvSpPr>
        <p:spPr>
          <a:xfrm>
            <a:off x="8763000" y="1841500"/>
            <a:ext cx="2705100" cy="939800"/>
          </a:xfrm>
          <a:prstGeom prst="roundRect">
            <a:avLst/>
          </a:prstGeom>
          <a:solidFill>
            <a:srgbClr val="355F8A"/>
          </a:solidFill>
          <a:ln>
            <a:noFill/>
          </a:ln>
        </p:spPr>
      </p:sp>
      <p:sp>
        <p:nvSpPr>
          <p:cNvPr id="11" name="Text 11"/>
          <p:cNvSpPr txBox="1"/>
          <p:nvPr/>
        </p:nvSpPr>
        <p:spPr>
          <a:xfrm>
            <a:off x="9017000" y="2146300"/>
            <a:ext cx="2349500" cy="38633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900" b="1">
                <a:solidFill>
                  <a:srgbClr val="FFFFFF"/>
                </a:solidFill>
                <a:latin typeface="Arial"/>
              </a:rPr>
              <a:t>AOI / TM robot</a:t>
            </a:r>
            <a:endParaRPr sz="1900"/>
          </a:p>
        </p:txBody>
      </p:sp>
      <p:sp>
        <p:nvSpPr>
          <p:cNvPr id="12" name="Panel 12"/>
          <p:cNvSpPr/>
          <p:nvPr/>
        </p:nvSpPr>
        <p:spPr>
          <a:xfrm>
            <a:off x="457200" y="3035300"/>
            <a:ext cx="2108200" cy="939800"/>
          </a:xfrm>
          <a:prstGeom prst="roundRect">
            <a:avLst/>
          </a:prstGeom>
          <a:solidFill>
            <a:srgbClr val="102238"/>
          </a:solidFill>
          <a:ln>
            <a:noFill/>
          </a:ln>
        </p:spPr>
      </p:sp>
      <p:sp>
        <p:nvSpPr>
          <p:cNvPr id="13" name="Text 13"/>
          <p:cNvSpPr txBox="1"/>
          <p:nvPr/>
        </p:nvSpPr>
        <p:spPr>
          <a:xfrm>
            <a:off x="685800" y="3327400"/>
            <a:ext cx="1778000" cy="401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2000" b="1">
                <a:solidFill>
                  <a:srgbClr val="FFFFFF"/>
                </a:solidFill>
                <a:latin typeface="Arial"/>
              </a:rPr>
              <a:t>B01 / L02</a:t>
            </a:r>
            <a:endParaRPr sz="2000"/>
          </a:p>
        </p:txBody>
      </p:sp>
      <p:sp>
        <p:nvSpPr>
          <p:cNvPr id="14" name="Panel 14"/>
          <p:cNvSpPr/>
          <p:nvPr/>
        </p:nvSpPr>
        <p:spPr>
          <a:xfrm>
            <a:off x="2844800" y="3035300"/>
            <a:ext cx="2705100" cy="939800"/>
          </a:xfrm>
          <a:prstGeom prst="roundRect">
            <a:avLst/>
          </a:prstGeom>
          <a:solidFill>
            <a:srgbClr val="007F80"/>
          </a:solidFill>
          <a:ln>
            <a:noFill/>
          </a:ln>
        </p:spPr>
      </p:sp>
      <p:sp>
        <p:nvSpPr>
          <p:cNvPr id="15" name="Text 15"/>
          <p:cNvSpPr txBox="1"/>
          <p:nvPr/>
        </p:nvSpPr>
        <p:spPr>
          <a:xfrm>
            <a:off x="3098800" y="3340100"/>
            <a:ext cx="2349500" cy="38633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900" b="1">
                <a:solidFill>
                  <a:srgbClr val="FFFFFF"/>
                </a:solidFill>
                <a:latin typeface="Arial"/>
              </a:rPr>
              <a:t>DIMM 1</a:t>
            </a:r>
            <a:endParaRPr sz="1900"/>
          </a:p>
        </p:txBody>
      </p:sp>
      <p:sp>
        <p:nvSpPr>
          <p:cNvPr id="16" name="Panel 16"/>
          <p:cNvSpPr/>
          <p:nvPr/>
        </p:nvSpPr>
        <p:spPr>
          <a:xfrm>
            <a:off x="5803900" y="3035300"/>
            <a:ext cx="2705100" cy="939800"/>
          </a:xfrm>
          <a:prstGeom prst="roundRect">
            <a:avLst/>
          </a:prstGeom>
          <a:solidFill>
            <a:srgbClr val="007F80"/>
          </a:solidFill>
          <a:ln>
            <a:noFill/>
          </a:ln>
        </p:spPr>
      </p:sp>
      <p:sp>
        <p:nvSpPr>
          <p:cNvPr id="17" name="Text 17"/>
          <p:cNvSpPr txBox="1"/>
          <p:nvPr/>
        </p:nvSpPr>
        <p:spPr>
          <a:xfrm>
            <a:off x="6057900" y="3340100"/>
            <a:ext cx="2349500" cy="38633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900" b="1">
                <a:solidFill>
                  <a:srgbClr val="FFFFFF"/>
                </a:solidFill>
                <a:latin typeface="Arial"/>
              </a:rPr>
              <a:t>DIMM 2</a:t>
            </a:r>
            <a:endParaRPr sz="1900"/>
          </a:p>
        </p:txBody>
      </p:sp>
      <p:sp>
        <p:nvSpPr>
          <p:cNvPr id="18" name="Panel 18"/>
          <p:cNvSpPr/>
          <p:nvPr/>
        </p:nvSpPr>
        <p:spPr>
          <a:xfrm>
            <a:off x="8763000" y="3035300"/>
            <a:ext cx="2705100" cy="939800"/>
          </a:xfrm>
          <a:prstGeom prst="roundRect">
            <a:avLst/>
          </a:prstGeom>
          <a:solidFill>
            <a:srgbClr val="355F8A"/>
          </a:solidFill>
          <a:ln>
            <a:noFill/>
          </a:ln>
        </p:spPr>
      </p:sp>
      <p:sp>
        <p:nvSpPr>
          <p:cNvPr id="19" name="Text 19"/>
          <p:cNvSpPr txBox="1"/>
          <p:nvPr/>
        </p:nvSpPr>
        <p:spPr>
          <a:xfrm>
            <a:off x="9017000" y="3340100"/>
            <a:ext cx="2349500" cy="38633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900" b="1">
                <a:solidFill>
                  <a:srgbClr val="FFFFFF"/>
                </a:solidFill>
                <a:latin typeface="Arial"/>
              </a:rPr>
              <a:t>AOI / TM robot</a:t>
            </a:r>
            <a:endParaRPr sz="1900"/>
          </a:p>
        </p:txBody>
      </p:sp>
      <p:sp>
        <p:nvSpPr>
          <p:cNvPr id="20" name="Panel 20"/>
          <p:cNvSpPr/>
          <p:nvPr/>
        </p:nvSpPr>
        <p:spPr>
          <a:xfrm>
            <a:off x="457200" y="4229100"/>
            <a:ext cx="2108200" cy="939800"/>
          </a:xfrm>
          <a:prstGeom prst="roundRect">
            <a:avLst/>
          </a:prstGeom>
          <a:solidFill>
            <a:srgbClr val="102238"/>
          </a:solidFill>
          <a:ln>
            <a:noFill/>
          </a:ln>
        </p:spPr>
      </p:sp>
      <p:sp>
        <p:nvSpPr>
          <p:cNvPr id="21" name="Text 21"/>
          <p:cNvSpPr txBox="1"/>
          <p:nvPr/>
        </p:nvSpPr>
        <p:spPr>
          <a:xfrm>
            <a:off x="685800" y="4521200"/>
            <a:ext cx="1778000" cy="401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2000" b="1">
                <a:solidFill>
                  <a:srgbClr val="FFFFFF"/>
                </a:solidFill>
                <a:latin typeface="Arial"/>
              </a:rPr>
              <a:t>B03 / L02</a:t>
            </a:r>
            <a:endParaRPr sz="2000"/>
          </a:p>
        </p:txBody>
      </p:sp>
      <p:sp>
        <p:nvSpPr>
          <p:cNvPr id="22" name="Panel 22"/>
          <p:cNvSpPr/>
          <p:nvPr/>
        </p:nvSpPr>
        <p:spPr>
          <a:xfrm>
            <a:off x="2844800" y="4229100"/>
            <a:ext cx="2705100" cy="939800"/>
          </a:xfrm>
          <a:prstGeom prst="roundRect">
            <a:avLst/>
          </a:prstGeom>
          <a:solidFill>
            <a:srgbClr val="007F80"/>
          </a:solidFill>
          <a:ln>
            <a:noFill/>
          </a:ln>
        </p:spPr>
      </p:sp>
      <p:sp>
        <p:nvSpPr>
          <p:cNvPr id="23" name="Text 23"/>
          <p:cNvSpPr txBox="1"/>
          <p:nvPr/>
        </p:nvSpPr>
        <p:spPr>
          <a:xfrm>
            <a:off x="3098800" y="4533900"/>
            <a:ext cx="2349500" cy="38633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900" b="1">
                <a:solidFill>
                  <a:srgbClr val="FFFFFF"/>
                </a:solidFill>
                <a:latin typeface="Arial"/>
              </a:rPr>
              <a:t>DIMM 1</a:t>
            </a:r>
            <a:endParaRPr sz="1900"/>
          </a:p>
        </p:txBody>
      </p:sp>
      <p:sp>
        <p:nvSpPr>
          <p:cNvPr id="24" name="Panel 24"/>
          <p:cNvSpPr/>
          <p:nvPr/>
        </p:nvSpPr>
        <p:spPr>
          <a:xfrm>
            <a:off x="5803900" y="4229100"/>
            <a:ext cx="2705100" cy="939800"/>
          </a:xfrm>
          <a:prstGeom prst="roundRect">
            <a:avLst/>
          </a:prstGeom>
          <a:solidFill>
            <a:srgbClr val="007F80"/>
          </a:solidFill>
          <a:ln>
            <a:noFill/>
          </a:ln>
        </p:spPr>
      </p:sp>
      <p:sp>
        <p:nvSpPr>
          <p:cNvPr id="25" name="Text 25"/>
          <p:cNvSpPr txBox="1"/>
          <p:nvPr/>
        </p:nvSpPr>
        <p:spPr>
          <a:xfrm>
            <a:off x="6057900" y="4533900"/>
            <a:ext cx="2349500" cy="38633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900" b="1">
                <a:solidFill>
                  <a:srgbClr val="FFFFFF"/>
                </a:solidFill>
                <a:latin typeface="Arial"/>
              </a:rPr>
              <a:t>DIMM 2</a:t>
            </a:r>
            <a:endParaRPr sz="1900"/>
          </a:p>
        </p:txBody>
      </p:sp>
      <p:sp>
        <p:nvSpPr>
          <p:cNvPr id="26" name="Panel 26"/>
          <p:cNvSpPr/>
          <p:nvPr/>
        </p:nvSpPr>
        <p:spPr>
          <a:xfrm>
            <a:off x="8763000" y="4229100"/>
            <a:ext cx="2705100" cy="939800"/>
          </a:xfrm>
          <a:prstGeom prst="roundRect">
            <a:avLst/>
          </a:prstGeom>
          <a:solidFill>
            <a:srgbClr val="355F8A"/>
          </a:solidFill>
          <a:ln>
            <a:noFill/>
          </a:ln>
        </p:spPr>
      </p:sp>
      <p:sp>
        <p:nvSpPr>
          <p:cNvPr id="27" name="Text 27"/>
          <p:cNvSpPr txBox="1"/>
          <p:nvPr/>
        </p:nvSpPr>
        <p:spPr>
          <a:xfrm>
            <a:off x="9017000" y="4533900"/>
            <a:ext cx="2349500" cy="38633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900" b="1">
                <a:solidFill>
                  <a:srgbClr val="FFFFFF"/>
                </a:solidFill>
                <a:latin typeface="Arial"/>
              </a:rPr>
              <a:t>AOI / TM robot</a:t>
            </a:r>
            <a:endParaRPr sz="1900"/>
          </a:p>
        </p:txBody>
      </p:sp>
      <p:sp>
        <p:nvSpPr>
          <p:cNvPr id="28" name="Text 28"/>
          <p:cNvSpPr txBox="1"/>
          <p:nvPr/>
        </p:nvSpPr>
        <p:spPr>
          <a:xfrm>
            <a:off x="508000" y="5753100"/>
            <a:ext cx="11176000" cy="401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2000" b="1">
                <a:solidFill>
                  <a:srgbClr val="007F80"/>
                </a:solidFill>
                <a:latin typeface="Arial"/>
              </a:rPr>
              <a:t>6 DIMMs + 3 AOIs + existing ACOS &amp; conveyor = 11 equipment records</a:t>
            </a:r>
            <a:endParaRPr sz="2000"/>
          </a:p>
        </p:txBody>
      </p:sp>
      <p:sp>
        <p:nvSpPr>
          <p:cNvPr id="29" name="Text 29"/>
          <p:cNvSpPr txBox="1"/>
          <p:nvPr/>
        </p:nvSpPr>
        <p:spPr>
          <a:xfrm>
            <a:off x="457200" y="6540500"/>
            <a:ext cx="9652000" cy="23647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900" b="0">
                <a:solidFill>
                  <a:srgbClr val="536B7D"/>
                </a:solidFill>
                <a:latin typeface="Arial"/>
              </a:rPr>
              <a:t>MACHINECARE | LOCAL PILOT | 19 OCT 2026</a:t>
            </a:r>
            <a:endParaRPr sz="900"/>
          </a:p>
        </p:txBody>
      </p:sp>
      <p:sp>
        <p:nvSpPr>
          <p:cNvPr id="30" name="Text 30"/>
          <p:cNvSpPr txBox="1"/>
          <p:nvPr/>
        </p:nvSpPr>
        <p:spPr>
          <a:xfrm>
            <a:off x="11303000" y="6451600"/>
            <a:ext cx="508000" cy="2814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200" b="1">
                <a:solidFill>
                  <a:srgbClr val="007F80"/>
                </a:solidFill>
                <a:latin typeface="Arial"/>
              </a:rPr>
              <a:t>03</a:t>
            </a:r>
            <a:endParaRPr sz="1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457200" y="279400"/>
            <a:ext cx="11176000" cy="26644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100" b="1">
                <a:solidFill>
                  <a:srgbClr val="007F80"/>
                </a:solidFill>
                <a:latin typeface="Arial"/>
              </a:rPr>
              <a:t>03 / OWNERSHIP</a:t>
            </a:r>
            <a:endParaRPr sz="1100"/>
          </a:p>
        </p:txBody>
      </p:sp>
      <p:sp>
        <p:nvSpPr>
          <p:cNvPr id="3" name="Text 3"/>
          <p:cNvSpPr txBox="1"/>
          <p:nvPr/>
        </p:nvSpPr>
        <p:spPr>
          <a:xfrm>
            <a:off x="457200" y="685800"/>
            <a:ext cx="11277600" cy="53619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2900" b="1">
                <a:solidFill>
                  <a:srgbClr val="17344E"/>
                </a:solidFill>
                <a:latin typeface="Arial"/>
              </a:rPr>
              <a:t>Three roles, clear operational boundaries</a:t>
            </a:r>
            <a:endParaRPr sz="2900"/>
          </a:p>
        </p:txBody>
      </p:sp>
      <p:sp>
        <p:nvSpPr>
          <p:cNvPr id="4" name="Panel 4"/>
          <p:cNvSpPr/>
          <p:nvPr/>
        </p:nvSpPr>
        <p:spPr>
          <a:xfrm>
            <a:off x="457200" y="1803400"/>
            <a:ext cx="3581400" cy="4165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5" name="Panel 5"/>
          <p:cNvSpPr/>
          <p:nvPr/>
        </p:nvSpPr>
        <p:spPr>
          <a:xfrm>
            <a:off x="457200" y="1803400"/>
            <a:ext cx="63500" cy="4165600"/>
          </a:xfrm>
          <a:prstGeom prst="rect">
            <a:avLst/>
          </a:prstGeom>
          <a:solidFill>
            <a:srgbClr val="007F80"/>
          </a:solidFill>
          <a:ln>
            <a:noFill/>
          </a:ln>
        </p:spPr>
      </p:sp>
      <p:sp>
        <p:nvSpPr>
          <p:cNvPr id="6" name="Text 6"/>
          <p:cNvSpPr txBox="1"/>
          <p:nvPr/>
        </p:nvSpPr>
        <p:spPr>
          <a:xfrm>
            <a:off x="685800" y="2006600"/>
            <a:ext cx="3124200" cy="37134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800" b="1">
                <a:solidFill>
                  <a:srgbClr val="007F80"/>
                </a:solidFill>
                <a:latin typeface="Arial"/>
              </a:rPr>
              <a:t>Administrator</a:t>
            </a:r>
            <a:endParaRPr sz="1800"/>
          </a:p>
        </p:txBody>
      </p:sp>
      <p:sp>
        <p:nvSpPr>
          <p:cNvPr id="7" name="Text 7"/>
          <p:cNvSpPr txBox="1"/>
          <p:nvPr/>
        </p:nvSpPr>
        <p:spPr>
          <a:xfrm>
            <a:off x="685800" y="2768600"/>
            <a:ext cx="3124200" cy="1000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500" b="0">
                <a:solidFill>
                  <a:srgbClr val="536B7D"/>
                </a:solidFill>
                <a:latin typeface="Arial"/>
              </a:rPr>
              <a:t>Accounts and access</a:t>
            </a:r>
            <a:endParaRPr sz="1500"/>
          </a:p>
          <a:p>
            <a:pPr>
              <a:lnSpc>
                <a:spcPct val="118000"/>
              </a:lnSpc>
            </a:pPr>
            <a:r>
              <a:rPr lang="en-US" sz="1500" b="0">
                <a:solidFill>
                  <a:srgbClr val="536B7D"/>
                </a:solidFill>
                <a:latin typeface="Arial"/>
              </a:rPr>
              <a:t>Buildings and lines</a:t>
            </a:r>
            <a:endParaRPr sz="1500"/>
          </a:p>
          <a:p>
            <a:pPr>
              <a:lnSpc>
                <a:spcPct val="118000"/>
              </a:lnSpc>
            </a:pPr>
            <a:r>
              <a:rPr lang="en-US" sz="1500" b="0">
                <a:solidFill>
                  <a:srgbClr val="536B7D"/>
                </a:solidFill>
                <a:latin typeface="Arial"/>
              </a:rPr>
              <a:t>System administration</a:t>
            </a:r>
            <a:endParaRPr sz="1500"/>
          </a:p>
          <a:p>
            <a:pPr>
              <a:lnSpc>
                <a:spcPct val="118000"/>
              </a:lnSpc>
            </a:pPr>
            <a:r>
              <a:rPr lang="en-US" sz="1500" b="0">
                <a:solidFill>
                  <a:srgbClr val="536B7D"/>
                </a:solidFill>
                <a:latin typeface="Arial"/>
              </a:rPr>
              <a:t>Operational work</a:t>
            </a:r>
            <a:endParaRPr sz="1500"/>
          </a:p>
        </p:txBody>
      </p:sp>
      <p:sp>
        <p:nvSpPr>
          <p:cNvPr id="8" name="Panel 8"/>
          <p:cNvSpPr/>
          <p:nvPr/>
        </p:nvSpPr>
        <p:spPr>
          <a:xfrm>
            <a:off x="4267200" y="1803400"/>
            <a:ext cx="3581400" cy="4165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9" name="Panel 9"/>
          <p:cNvSpPr/>
          <p:nvPr/>
        </p:nvSpPr>
        <p:spPr>
          <a:xfrm>
            <a:off x="4267200" y="1803400"/>
            <a:ext cx="63500" cy="4165600"/>
          </a:xfrm>
          <a:prstGeom prst="rect">
            <a:avLst/>
          </a:prstGeom>
          <a:solidFill>
            <a:srgbClr val="007F80"/>
          </a:solidFill>
          <a:ln>
            <a:noFill/>
          </a:ln>
        </p:spPr>
      </p:sp>
      <p:sp>
        <p:nvSpPr>
          <p:cNvPr id="10" name="Text 10"/>
          <p:cNvSpPr txBox="1"/>
          <p:nvPr/>
        </p:nvSpPr>
        <p:spPr>
          <a:xfrm>
            <a:off x="4495800" y="2006600"/>
            <a:ext cx="3124200" cy="37134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800" b="1">
                <a:solidFill>
                  <a:srgbClr val="007F80"/>
                </a:solidFill>
                <a:latin typeface="Arial"/>
              </a:rPr>
              <a:t>Lead</a:t>
            </a:r>
            <a:endParaRPr sz="1800"/>
          </a:p>
        </p:txBody>
      </p:sp>
      <p:sp>
        <p:nvSpPr>
          <p:cNvPr id="11" name="Text 11"/>
          <p:cNvSpPr txBox="1"/>
          <p:nvPr/>
        </p:nvSpPr>
        <p:spPr>
          <a:xfrm>
            <a:off x="4495800" y="2768600"/>
            <a:ext cx="3124200" cy="1000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500" b="0">
                <a:solidFill>
                  <a:srgbClr val="536B7D"/>
                </a:solidFill>
                <a:latin typeface="Arial"/>
              </a:rPr>
              <a:t>Assigned equipment</a:t>
            </a:r>
            <a:endParaRPr sz="1500"/>
          </a:p>
          <a:p>
            <a:pPr>
              <a:lnSpc>
                <a:spcPct val="118000"/>
              </a:lnSpc>
            </a:pPr>
            <a:r>
              <a:rPr lang="en-US" sz="1500" b="0">
                <a:solidFill>
                  <a:srgbClr val="536B7D"/>
                </a:solidFill>
                <a:latin typeface="Arial"/>
              </a:rPr>
              <a:t>Catalog and stock</a:t>
            </a:r>
            <a:endParaRPr sz="1500"/>
          </a:p>
          <a:p>
            <a:pPr>
              <a:lnSpc>
                <a:spcPct val="118000"/>
              </a:lnSpc>
            </a:pPr>
            <a:r>
              <a:rPr lang="en-US" sz="1500" b="0">
                <a:solidFill>
                  <a:srgbClr val="536B7D"/>
                </a:solidFill>
                <a:latin typeface="Arial"/>
              </a:rPr>
              <a:t>Review and completion</a:t>
            </a:r>
            <a:endParaRPr sz="1500"/>
          </a:p>
          <a:p>
            <a:pPr>
              <a:lnSpc>
                <a:spcPct val="118000"/>
              </a:lnSpc>
            </a:pPr>
            <a:r>
              <a:rPr lang="en-US" sz="1500" b="0">
                <a:solidFill>
                  <a:srgbClr val="536B7D"/>
                </a:solidFill>
                <a:latin typeface="Arial"/>
              </a:rPr>
              <a:t>Purchasing and audit</a:t>
            </a:r>
            <a:endParaRPr sz="1500"/>
          </a:p>
        </p:txBody>
      </p:sp>
      <p:sp>
        <p:nvSpPr>
          <p:cNvPr id="12" name="Panel 12"/>
          <p:cNvSpPr/>
          <p:nvPr/>
        </p:nvSpPr>
        <p:spPr>
          <a:xfrm>
            <a:off x="8077200" y="1803400"/>
            <a:ext cx="3581400" cy="4165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3" name="Panel 13"/>
          <p:cNvSpPr/>
          <p:nvPr/>
        </p:nvSpPr>
        <p:spPr>
          <a:xfrm>
            <a:off x="8077200" y="1803400"/>
            <a:ext cx="63500" cy="4165600"/>
          </a:xfrm>
          <a:prstGeom prst="rect">
            <a:avLst/>
          </a:prstGeom>
          <a:solidFill>
            <a:srgbClr val="007F80"/>
          </a:solidFill>
          <a:ln>
            <a:noFill/>
          </a:ln>
        </p:spPr>
      </p:sp>
      <p:sp>
        <p:nvSpPr>
          <p:cNvPr id="14" name="Text 14"/>
          <p:cNvSpPr txBox="1"/>
          <p:nvPr/>
        </p:nvSpPr>
        <p:spPr>
          <a:xfrm>
            <a:off x="8305800" y="2006600"/>
            <a:ext cx="3124200" cy="37134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800" b="1">
                <a:solidFill>
                  <a:srgbClr val="007F80"/>
                </a:solidFill>
                <a:latin typeface="Arial"/>
              </a:rPr>
              <a:t>Technician</a:t>
            </a:r>
            <a:endParaRPr sz="1800"/>
          </a:p>
        </p:txBody>
      </p:sp>
      <p:sp>
        <p:nvSpPr>
          <p:cNvPr id="15" name="Text 15"/>
          <p:cNvSpPr txBox="1"/>
          <p:nvPr/>
        </p:nvSpPr>
        <p:spPr>
          <a:xfrm>
            <a:off x="8305800" y="2768600"/>
            <a:ext cx="3124200" cy="1000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500" b="0">
                <a:solidFill>
                  <a:srgbClr val="536B7D"/>
                </a:solidFill>
                <a:latin typeface="Arial"/>
              </a:rPr>
              <a:t>Assigned machines</a:t>
            </a:r>
            <a:endParaRPr sz="1500"/>
          </a:p>
          <a:p>
            <a:pPr>
              <a:lnSpc>
                <a:spcPct val="118000"/>
              </a:lnSpc>
            </a:pPr>
            <a:r>
              <a:rPr lang="en-US" sz="1500" b="0">
                <a:solidFill>
                  <a:srgbClr val="536B7D"/>
                </a:solidFill>
                <a:latin typeface="Arial"/>
              </a:rPr>
              <a:t>Replacement requests</a:t>
            </a:r>
            <a:endParaRPr sz="1500"/>
          </a:p>
          <a:p>
            <a:pPr>
              <a:lnSpc>
                <a:spcPct val="118000"/>
              </a:lnSpc>
            </a:pPr>
            <a:r>
              <a:rPr lang="en-US" sz="1500" b="0">
                <a:solidFill>
                  <a:srgbClr val="536B7D"/>
                </a:solidFill>
                <a:latin typeface="Arial"/>
              </a:rPr>
              <a:t>Own approved completion</a:t>
            </a:r>
            <a:endParaRPr sz="1500"/>
          </a:p>
          <a:p>
            <a:pPr>
              <a:lnSpc>
                <a:spcPct val="118000"/>
              </a:lnSpc>
            </a:pPr>
            <a:r>
              <a:rPr lang="en-US" sz="1500" b="0">
                <a:solidFill>
                  <a:srgbClr val="536B7D"/>
                </a:solidFill>
                <a:latin typeface="Arial"/>
              </a:rPr>
              <a:t>Scoped history</a:t>
            </a:r>
            <a:endParaRPr sz="1500"/>
          </a:p>
        </p:txBody>
      </p:sp>
      <p:sp>
        <p:nvSpPr>
          <p:cNvPr id="16" name="Text 16"/>
          <p:cNvSpPr txBox="1"/>
          <p:nvPr/>
        </p:nvSpPr>
        <p:spPr>
          <a:xfrm>
            <a:off x="457200" y="6540500"/>
            <a:ext cx="9652000" cy="23647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900" b="0">
                <a:solidFill>
                  <a:srgbClr val="536B7D"/>
                </a:solidFill>
                <a:latin typeface="Arial"/>
              </a:rPr>
              <a:t>MACHINECARE | LOCAL PILOT | 19 OCT 2026</a:t>
            </a:r>
            <a:endParaRPr sz="900"/>
          </a:p>
        </p:txBody>
      </p:sp>
      <p:sp>
        <p:nvSpPr>
          <p:cNvPr id="17" name="Text 17"/>
          <p:cNvSpPr txBox="1"/>
          <p:nvPr/>
        </p:nvSpPr>
        <p:spPr>
          <a:xfrm>
            <a:off x="11303000" y="6451600"/>
            <a:ext cx="508000" cy="2814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200" b="1">
                <a:solidFill>
                  <a:srgbClr val="007F80"/>
                </a:solidFill>
                <a:latin typeface="Arial"/>
              </a:rPr>
              <a:t>04</a:t>
            </a:r>
            <a:endParaRPr sz="12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457200" y="279400"/>
            <a:ext cx="11176000" cy="26644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100" b="1">
                <a:solidFill>
                  <a:srgbClr val="007F80"/>
                </a:solidFill>
                <a:latin typeface="Arial"/>
              </a:rPr>
              <a:t>04 / APP TOUR</a:t>
            </a:r>
            <a:endParaRPr sz="1100"/>
          </a:p>
        </p:txBody>
      </p:sp>
      <p:sp>
        <p:nvSpPr>
          <p:cNvPr id="3" name="Text 3"/>
          <p:cNvSpPr txBox="1"/>
          <p:nvPr/>
        </p:nvSpPr>
        <p:spPr>
          <a:xfrm>
            <a:off x="457200" y="685800"/>
            <a:ext cx="11277600" cy="53619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2900" b="1">
                <a:solidFill>
                  <a:srgbClr val="17344E"/>
                </a:solidFill>
                <a:latin typeface="Arial"/>
              </a:rPr>
              <a:t>The overview puts priorities in one place</a:t>
            </a:r>
            <a:endParaRPr sz="2900"/>
          </a:p>
        </p:txBody>
      </p:sp>
      <p:sp>
        <p:nvSpPr>
          <p:cNvPr id="4" name="Panel 4"/>
          <p:cNvSpPr/>
          <p:nvPr/>
        </p:nvSpPr>
        <p:spPr>
          <a:xfrm>
            <a:off x="457200" y="1676400"/>
            <a:ext cx="7035800" cy="46355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5" name="Panel 5"/>
          <p:cNvSpPr/>
          <p:nvPr/>
        </p:nvSpPr>
        <p:spPr>
          <a:xfrm>
            <a:off x="558800" y="1778000"/>
            <a:ext cx="6832600" cy="4432300"/>
          </a:xfrm>
          <a:prstGeom prst="roundRect">
            <a:avLst/>
          </a:prstGeom>
          <a:solidFill>
            <a:srgbClr val="E1EAF0"/>
          </a:solidFill>
          <a:ln>
            <a:noFill/>
          </a:ln>
        </p:spPr>
      </p:sp>
      <p:sp>
        <p:nvSpPr>
          <p:cNvPr id="6" name="Text 6"/>
          <p:cNvSpPr txBox="1"/>
          <p:nvPr/>
        </p:nvSpPr>
        <p:spPr>
          <a:xfrm>
            <a:off x="749300" y="2095500"/>
            <a:ext cx="6451600" cy="35636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700" b="0">
                <a:solidFill>
                  <a:srgbClr val="17344E"/>
                </a:solidFill>
                <a:latin typeface="Arial"/>
              </a:rPr>
              <a:t>Screenshot capture pending</a:t>
            </a:r>
            <a:endParaRPr sz="1700"/>
          </a:p>
        </p:txBody>
      </p:sp>
      <p:sp>
        <p:nvSpPr>
          <p:cNvPr id="7" name="Text 7"/>
          <p:cNvSpPr txBox="1"/>
          <p:nvPr/>
        </p:nvSpPr>
        <p:spPr>
          <a:xfrm>
            <a:off x="7848600" y="1841500"/>
            <a:ext cx="3810000" cy="46126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2400" b="1">
                <a:solidFill>
                  <a:srgbClr val="007F80"/>
                </a:solidFill>
                <a:latin typeface="Arial"/>
              </a:rPr>
              <a:t>Start with the exceptions</a:t>
            </a:r>
            <a:endParaRPr sz="2400"/>
          </a:p>
        </p:txBody>
      </p:sp>
      <p:sp>
        <p:nvSpPr>
          <p:cNvPr id="8" name="Panel 8"/>
          <p:cNvSpPr/>
          <p:nvPr/>
        </p:nvSpPr>
        <p:spPr>
          <a:xfrm>
            <a:off x="7848600" y="3175000"/>
            <a:ext cx="330200" cy="330200"/>
          </a:xfrm>
          <a:prstGeom prst="roundRect">
            <a:avLst/>
          </a:prstGeom>
          <a:solidFill>
            <a:srgbClr val="007F80"/>
          </a:solidFill>
          <a:ln>
            <a:noFill/>
          </a:ln>
        </p:spPr>
      </p:sp>
      <p:sp>
        <p:nvSpPr>
          <p:cNvPr id="9" name="Text 9"/>
          <p:cNvSpPr txBox="1"/>
          <p:nvPr/>
        </p:nvSpPr>
        <p:spPr>
          <a:xfrm>
            <a:off x="7950200" y="3213100"/>
            <a:ext cx="254000" cy="3114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400" b="1">
                <a:solidFill>
                  <a:srgbClr val="FFFFFF"/>
                </a:solidFill>
                <a:latin typeface="Arial"/>
              </a:rPr>
              <a:t>1</a:t>
            </a:r>
            <a:endParaRPr sz="1400"/>
          </a:p>
        </p:txBody>
      </p:sp>
      <p:sp>
        <p:nvSpPr>
          <p:cNvPr id="10" name="Text 10"/>
          <p:cNvSpPr txBox="1"/>
          <p:nvPr/>
        </p:nvSpPr>
        <p:spPr>
          <a:xfrm>
            <a:off x="8318500" y="3175000"/>
            <a:ext cx="3302000" cy="34137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600" b="0">
                <a:solidFill>
                  <a:srgbClr val="17344E"/>
                </a:solidFill>
                <a:latin typeface="Arial"/>
              </a:rPr>
              <a:t>Equipment status and stock alerts</a:t>
            </a:r>
            <a:endParaRPr sz="1600"/>
          </a:p>
        </p:txBody>
      </p:sp>
      <p:sp>
        <p:nvSpPr>
          <p:cNvPr id="11" name="Panel 11"/>
          <p:cNvSpPr/>
          <p:nvPr/>
        </p:nvSpPr>
        <p:spPr>
          <a:xfrm>
            <a:off x="7848600" y="4152900"/>
            <a:ext cx="330200" cy="330200"/>
          </a:xfrm>
          <a:prstGeom prst="roundRect">
            <a:avLst/>
          </a:prstGeom>
          <a:solidFill>
            <a:srgbClr val="007F80"/>
          </a:solidFill>
          <a:ln>
            <a:noFill/>
          </a:ln>
        </p:spPr>
      </p:sp>
      <p:sp>
        <p:nvSpPr>
          <p:cNvPr id="12" name="Text 12"/>
          <p:cNvSpPr txBox="1"/>
          <p:nvPr/>
        </p:nvSpPr>
        <p:spPr>
          <a:xfrm>
            <a:off x="7950200" y="4191000"/>
            <a:ext cx="254000" cy="3114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400" b="1">
                <a:solidFill>
                  <a:srgbClr val="FFFFFF"/>
                </a:solidFill>
                <a:latin typeface="Arial"/>
              </a:rPr>
              <a:t>2</a:t>
            </a:r>
            <a:endParaRPr sz="1400"/>
          </a:p>
        </p:txBody>
      </p:sp>
      <p:sp>
        <p:nvSpPr>
          <p:cNvPr id="13" name="Text 13"/>
          <p:cNvSpPr txBox="1"/>
          <p:nvPr/>
        </p:nvSpPr>
        <p:spPr>
          <a:xfrm>
            <a:off x="8318500" y="4152900"/>
            <a:ext cx="3302000" cy="5811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600" b="0">
                <a:solidFill>
                  <a:srgbClr val="17344E"/>
                </a:solidFill>
                <a:latin typeface="Arial"/>
              </a:rPr>
              <a:t>Pending work and purchasing</a:t>
            </a:r>
            <a:endParaRPr sz="1600"/>
          </a:p>
          <a:p>
            <a:pPr>
              <a:lnSpc>
                <a:spcPct val="118000"/>
              </a:lnSpc>
            </a:pPr>
            <a:r>
              <a:rPr lang="en-US" sz="1600" b="0">
                <a:solidFill>
                  <a:srgbClr val="17344E"/>
                </a:solidFill>
                <a:latin typeface="Arial"/>
              </a:rPr>
              <a:t>visibility</a:t>
            </a:r>
            <a:endParaRPr sz="1600"/>
          </a:p>
        </p:txBody>
      </p:sp>
      <p:sp>
        <p:nvSpPr>
          <p:cNvPr id="14" name="Panel 14"/>
          <p:cNvSpPr/>
          <p:nvPr/>
        </p:nvSpPr>
        <p:spPr>
          <a:xfrm>
            <a:off x="7848600" y="5130800"/>
            <a:ext cx="330200" cy="330200"/>
          </a:xfrm>
          <a:prstGeom prst="roundRect">
            <a:avLst/>
          </a:prstGeom>
          <a:solidFill>
            <a:srgbClr val="007F80"/>
          </a:solidFill>
          <a:ln>
            <a:noFill/>
          </a:ln>
        </p:spPr>
      </p:sp>
      <p:sp>
        <p:nvSpPr>
          <p:cNvPr id="15" name="Text 15"/>
          <p:cNvSpPr txBox="1"/>
          <p:nvPr/>
        </p:nvSpPr>
        <p:spPr>
          <a:xfrm>
            <a:off x="7950200" y="5168900"/>
            <a:ext cx="254000" cy="3114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400" b="1">
                <a:solidFill>
                  <a:srgbClr val="FFFFFF"/>
                </a:solidFill>
                <a:latin typeface="Arial"/>
              </a:rPr>
              <a:t>3</a:t>
            </a:r>
            <a:endParaRPr sz="1400"/>
          </a:p>
        </p:txBody>
      </p:sp>
      <p:sp>
        <p:nvSpPr>
          <p:cNvPr id="16" name="Text 16"/>
          <p:cNvSpPr txBox="1"/>
          <p:nvPr/>
        </p:nvSpPr>
        <p:spPr>
          <a:xfrm>
            <a:off x="8318500" y="5130800"/>
            <a:ext cx="3302000" cy="5811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600" b="0">
                <a:solidFill>
                  <a:srgbClr val="17344E"/>
                </a:solidFill>
                <a:latin typeface="Arial"/>
              </a:rPr>
              <a:t>Recent replacements with</a:t>
            </a:r>
            <a:endParaRPr sz="1600"/>
          </a:p>
          <a:p>
            <a:pPr>
              <a:lnSpc>
                <a:spcPct val="118000"/>
              </a:lnSpc>
            </a:pPr>
            <a:r>
              <a:rPr lang="en-US" sz="1600" b="0">
                <a:solidFill>
                  <a:srgbClr val="17344E"/>
                </a:solidFill>
                <a:latin typeface="Arial"/>
              </a:rPr>
              <a:t>traceability</a:t>
            </a:r>
            <a:endParaRPr sz="1600"/>
          </a:p>
        </p:txBody>
      </p:sp>
      <p:sp>
        <p:nvSpPr>
          <p:cNvPr id="17" name="Text 17"/>
          <p:cNvSpPr txBox="1"/>
          <p:nvPr/>
        </p:nvSpPr>
        <p:spPr>
          <a:xfrm>
            <a:off x="457200" y="6540500"/>
            <a:ext cx="9652000" cy="23647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900" b="0">
                <a:solidFill>
                  <a:srgbClr val="536B7D"/>
                </a:solidFill>
                <a:latin typeface="Arial"/>
              </a:rPr>
              <a:t>MACHINECARE | LOCAL PILOT | 19 OCT 2026</a:t>
            </a:r>
            <a:endParaRPr sz="900"/>
          </a:p>
        </p:txBody>
      </p:sp>
      <p:sp>
        <p:nvSpPr>
          <p:cNvPr id="18" name="Text 18"/>
          <p:cNvSpPr txBox="1"/>
          <p:nvPr/>
        </p:nvSpPr>
        <p:spPr>
          <a:xfrm>
            <a:off x="11303000" y="6451600"/>
            <a:ext cx="508000" cy="2814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200" b="1">
                <a:solidFill>
                  <a:srgbClr val="007F80"/>
                </a:solidFill>
                <a:latin typeface="Arial"/>
              </a:rPr>
              <a:t>05</a:t>
            </a:r>
            <a:endParaRPr sz="12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457200" y="279400"/>
            <a:ext cx="11176000" cy="26644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100" b="1">
                <a:solidFill>
                  <a:srgbClr val="007F80"/>
                </a:solidFill>
                <a:latin typeface="Arial"/>
              </a:rPr>
              <a:t>05 / EQUIPMENT</a:t>
            </a:r>
            <a:endParaRPr sz="1100"/>
          </a:p>
        </p:txBody>
      </p:sp>
      <p:sp>
        <p:nvSpPr>
          <p:cNvPr id="3" name="Text 3"/>
          <p:cNvSpPr txBox="1"/>
          <p:nvPr/>
        </p:nvSpPr>
        <p:spPr>
          <a:xfrm>
            <a:off x="457200" y="685800"/>
            <a:ext cx="11277600" cy="53619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2900" b="1">
                <a:solidFill>
                  <a:srgbClr val="17344E"/>
                </a:solidFill>
                <a:latin typeface="Arial"/>
              </a:rPr>
              <a:t>Find the line, then the machine</a:t>
            </a:r>
            <a:endParaRPr sz="2900"/>
          </a:p>
        </p:txBody>
      </p:sp>
      <p:sp>
        <p:nvSpPr>
          <p:cNvPr id="4" name="Panel 4"/>
          <p:cNvSpPr/>
          <p:nvPr/>
        </p:nvSpPr>
        <p:spPr>
          <a:xfrm>
            <a:off x="457200" y="1676400"/>
            <a:ext cx="7035800" cy="46355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5" name="Panel 5"/>
          <p:cNvSpPr/>
          <p:nvPr/>
        </p:nvSpPr>
        <p:spPr>
          <a:xfrm>
            <a:off x="558800" y="1778000"/>
            <a:ext cx="6832600" cy="4432300"/>
          </a:xfrm>
          <a:prstGeom prst="roundRect">
            <a:avLst/>
          </a:prstGeom>
          <a:solidFill>
            <a:srgbClr val="E1EAF0"/>
          </a:solidFill>
          <a:ln>
            <a:noFill/>
          </a:ln>
        </p:spPr>
      </p:sp>
      <p:sp>
        <p:nvSpPr>
          <p:cNvPr id="6" name="Text 6"/>
          <p:cNvSpPr txBox="1"/>
          <p:nvPr/>
        </p:nvSpPr>
        <p:spPr>
          <a:xfrm>
            <a:off x="749300" y="2095500"/>
            <a:ext cx="6451600" cy="35636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700" b="0">
                <a:solidFill>
                  <a:srgbClr val="17344E"/>
                </a:solidFill>
                <a:latin typeface="Arial"/>
              </a:rPr>
              <a:t>Screenshot capture pending</a:t>
            </a:r>
            <a:endParaRPr sz="1700"/>
          </a:p>
        </p:txBody>
      </p:sp>
      <p:sp>
        <p:nvSpPr>
          <p:cNvPr id="7" name="Text 7"/>
          <p:cNvSpPr txBox="1"/>
          <p:nvPr/>
        </p:nvSpPr>
        <p:spPr>
          <a:xfrm>
            <a:off x="7848600" y="1841500"/>
            <a:ext cx="3810000" cy="8209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2400" b="1">
                <a:solidFill>
                  <a:srgbClr val="007F80"/>
                </a:solidFill>
                <a:latin typeface="Arial"/>
              </a:rPr>
              <a:t>Navigate the plant</a:t>
            </a:r>
            <a:endParaRPr sz="2400"/>
          </a:p>
          <a:p>
            <a:pPr>
              <a:lnSpc>
                <a:spcPct val="118000"/>
              </a:lnSpc>
            </a:pPr>
            <a:r>
              <a:rPr lang="en-US" sz="2400" b="1">
                <a:solidFill>
                  <a:srgbClr val="007F80"/>
                </a:solidFill>
                <a:latin typeface="Arial"/>
              </a:rPr>
              <a:t>structure</a:t>
            </a:r>
            <a:endParaRPr sz="2400"/>
          </a:p>
        </p:txBody>
      </p:sp>
      <p:sp>
        <p:nvSpPr>
          <p:cNvPr id="8" name="Panel 8"/>
          <p:cNvSpPr/>
          <p:nvPr/>
        </p:nvSpPr>
        <p:spPr>
          <a:xfrm>
            <a:off x="7848600" y="3175000"/>
            <a:ext cx="330200" cy="330200"/>
          </a:xfrm>
          <a:prstGeom prst="roundRect">
            <a:avLst/>
          </a:prstGeom>
          <a:solidFill>
            <a:srgbClr val="007F80"/>
          </a:solidFill>
          <a:ln>
            <a:noFill/>
          </a:ln>
        </p:spPr>
      </p:sp>
      <p:sp>
        <p:nvSpPr>
          <p:cNvPr id="9" name="Text 9"/>
          <p:cNvSpPr txBox="1"/>
          <p:nvPr/>
        </p:nvSpPr>
        <p:spPr>
          <a:xfrm>
            <a:off x="7950200" y="3213100"/>
            <a:ext cx="254000" cy="3114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400" b="1">
                <a:solidFill>
                  <a:srgbClr val="FFFFFF"/>
                </a:solidFill>
                <a:latin typeface="Arial"/>
              </a:rPr>
              <a:t>1</a:t>
            </a:r>
            <a:endParaRPr sz="1400"/>
          </a:p>
        </p:txBody>
      </p:sp>
      <p:sp>
        <p:nvSpPr>
          <p:cNvPr id="10" name="Text 10"/>
          <p:cNvSpPr txBox="1"/>
          <p:nvPr/>
        </p:nvSpPr>
        <p:spPr>
          <a:xfrm>
            <a:off x="8318500" y="3175000"/>
            <a:ext cx="3302000" cy="34137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600" b="0">
                <a:solidFill>
                  <a:srgbClr val="17344E"/>
                </a:solidFill>
                <a:latin typeface="Arial"/>
              </a:rPr>
              <a:t>Building &gt; line &gt; station &gt; machine</a:t>
            </a:r>
            <a:endParaRPr sz="1600"/>
          </a:p>
        </p:txBody>
      </p:sp>
      <p:sp>
        <p:nvSpPr>
          <p:cNvPr id="11" name="Panel 11"/>
          <p:cNvSpPr/>
          <p:nvPr/>
        </p:nvSpPr>
        <p:spPr>
          <a:xfrm>
            <a:off x="7848600" y="4152900"/>
            <a:ext cx="330200" cy="330200"/>
          </a:xfrm>
          <a:prstGeom prst="roundRect">
            <a:avLst/>
          </a:prstGeom>
          <a:solidFill>
            <a:srgbClr val="007F80"/>
          </a:solidFill>
          <a:ln>
            <a:noFill/>
          </a:ln>
        </p:spPr>
      </p:sp>
      <p:sp>
        <p:nvSpPr>
          <p:cNvPr id="12" name="Text 12"/>
          <p:cNvSpPr txBox="1"/>
          <p:nvPr/>
        </p:nvSpPr>
        <p:spPr>
          <a:xfrm>
            <a:off x="7950200" y="4191000"/>
            <a:ext cx="254000" cy="3114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400" b="1">
                <a:solidFill>
                  <a:srgbClr val="FFFFFF"/>
                </a:solidFill>
                <a:latin typeface="Arial"/>
              </a:rPr>
              <a:t>2</a:t>
            </a:r>
            <a:endParaRPr sz="1400"/>
          </a:p>
        </p:txBody>
      </p:sp>
      <p:sp>
        <p:nvSpPr>
          <p:cNvPr id="13" name="Text 13"/>
          <p:cNvSpPr txBox="1"/>
          <p:nvPr/>
        </p:nvSpPr>
        <p:spPr>
          <a:xfrm>
            <a:off x="8318500" y="4152900"/>
            <a:ext cx="3302000" cy="34137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600" b="0">
                <a:solidFill>
                  <a:srgbClr val="17344E"/>
                </a:solidFill>
                <a:latin typeface="Arial"/>
              </a:rPr>
              <a:t>DIMM and AOI compatibility</a:t>
            </a:r>
            <a:endParaRPr sz="1600"/>
          </a:p>
        </p:txBody>
      </p:sp>
      <p:sp>
        <p:nvSpPr>
          <p:cNvPr id="14" name="Panel 14"/>
          <p:cNvSpPr/>
          <p:nvPr/>
        </p:nvSpPr>
        <p:spPr>
          <a:xfrm>
            <a:off x="7848600" y="5130800"/>
            <a:ext cx="330200" cy="330200"/>
          </a:xfrm>
          <a:prstGeom prst="roundRect">
            <a:avLst/>
          </a:prstGeom>
          <a:solidFill>
            <a:srgbClr val="007F80"/>
          </a:solidFill>
          <a:ln>
            <a:noFill/>
          </a:ln>
        </p:spPr>
      </p:sp>
      <p:sp>
        <p:nvSpPr>
          <p:cNvPr id="15" name="Text 15"/>
          <p:cNvSpPr txBox="1"/>
          <p:nvPr/>
        </p:nvSpPr>
        <p:spPr>
          <a:xfrm>
            <a:off x="7950200" y="5168900"/>
            <a:ext cx="254000" cy="3114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400" b="1">
                <a:solidFill>
                  <a:srgbClr val="FFFFFF"/>
                </a:solidFill>
                <a:latin typeface="Arial"/>
              </a:rPr>
              <a:t>3</a:t>
            </a:r>
            <a:endParaRPr sz="1400"/>
          </a:p>
        </p:txBody>
      </p:sp>
      <p:sp>
        <p:nvSpPr>
          <p:cNvPr id="16" name="Text 16"/>
          <p:cNvSpPr txBox="1"/>
          <p:nvPr/>
        </p:nvSpPr>
        <p:spPr>
          <a:xfrm>
            <a:off x="8318500" y="5130800"/>
            <a:ext cx="3302000" cy="34137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600" b="0">
                <a:solidFill>
                  <a:srgbClr val="17344E"/>
                </a:solidFill>
                <a:latin typeface="Arial"/>
              </a:rPr>
              <a:t>Search and scope-aware access</a:t>
            </a:r>
            <a:endParaRPr sz="1600"/>
          </a:p>
        </p:txBody>
      </p:sp>
      <p:sp>
        <p:nvSpPr>
          <p:cNvPr id="17" name="Text 17"/>
          <p:cNvSpPr txBox="1"/>
          <p:nvPr/>
        </p:nvSpPr>
        <p:spPr>
          <a:xfrm>
            <a:off x="457200" y="6540500"/>
            <a:ext cx="9652000" cy="23647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900" b="0">
                <a:solidFill>
                  <a:srgbClr val="536B7D"/>
                </a:solidFill>
                <a:latin typeface="Arial"/>
              </a:rPr>
              <a:t>MACHINECARE | LOCAL PILOT | 19 OCT 2026</a:t>
            </a:r>
            <a:endParaRPr sz="900"/>
          </a:p>
        </p:txBody>
      </p:sp>
      <p:sp>
        <p:nvSpPr>
          <p:cNvPr id="18" name="Text 18"/>
          <p:cNvSpPr txBox="1"/>
          <p:nvPr/>
        </p:nvSpPr>
        <p:spPr>
          <a:xfrm>
            <a:off x="11303000" y="6451600"/>
            <a:ext cx="508000" cy="2814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200" b="1">
                <a:solidFill>
                  <a:srgbClr val="007F80"/>
                </a:solidFill>
                <a:latin typeface="Arial"/>
              </a:rPr>
              <a:t>06</a:t>
            </a:r>
            <a:endParaRPr sz="12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457200" y="279400"/>
            <a:ext cx="11176000" cy="26644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100" b="1">
                <a:solidFill>
                  <a:srgbClr val="007F80"/>
                </a:solidFill>
                <a:latin typeface="Arial"/>
              </a:rPr>
              <a:t>06 / INVENTORY</a:t>
            </a:r>
            <a:endParaRPr sz="1100"/>
          </a:p>
        </p:txBody>
      </p:sp>
      <p:sp>
        <p:nvSpPr>
          <p:cNvPr id="3" name="Text 3"/>
          <p:cNvSpPr txBox="1"/>
          <p:nvPr/>
        </p:nvSpPr>
        <p:spPr>
          <a:xfrm>
            <a:off x="457200" y="685800"/>
            <a:ext cx="11277600" cy="53619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2900" b="1">
                <a:solidFill>
                  <a:srgbClr val="17344E"/>
                </a:solidFill>
                <a:latin typeface="Arial"/>
              </a:rPr>
              <a:t>A real DIMM component in shared inventory</a:t>
            </a:r>
            <a:endParaRPr sz="2900"/>
          </a:p>
        </p:txBody>
      </p:sp>
      <p:sp>
        <p:nvSpPr>
          <p:cNvPr id="4" name="Panel 4"/>
          <p:cNvSpPr/>
          <p:nvPr/>
        </p:nvSpPr>
        <p:spPr>
          <a:xfrm>
            <a:off x="457200" y="1676400"/>
            <a:ext cx="7035800" cy="46355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5" name="Panel 5"/>
          <p:cNvSpPr/>
          <p:nvPr/>
        </p:nvSpPr>
        <p:spPr>
          <a:xfrm>
            <a:off x="558800" y="1778000"/>
            <a:ext cx="6832600" cy="4432300"/>
          </a:xfrm>
          <a:prstGeom prst="roundRect">
            <a:avLst/>
          </a:prstGeom>
          <a:solidFill>
            <a:srgbClr val="E1EAF0"/>
          </a:solidFill>
          <a:ln>
            <a:noFill/>
          </a:ln>
        </p:spPr>
      </p:sp>
      <p:sp>
        <p:nvSpPr>
          <p:cNvPr id="6" name="Text 6"/>
          <p:cNvSpPr txBox="1"/>
          <p:nvPr/>
        </p:nvSpPr>
        <p:spPr>
          <a:xfrm>
            <a:off x="749300" y="2095500"/>
            <a:ext cx="6451600" cy="35636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700" b="0">
                <a:solidFill>
                  <a:srgbClr val="17344E"/>
                </a:solidFill>
                <a:latin typeface="Arial"/>
              </a:rPr>
              <a:t>Screenshot capture pending</a:t>
            </a:r>
            <a:endParaRPr sz="1700"/>
          </a:p>
        </p:txBody>
      </p:sp>
      <p:sp>
        <p:nvSpPr>
          <p:cNvPr id="7" name="Text 7"/>
          <p:cNvSpPr txBox="1"/>
          <p:nvPr/>
        </p:nvSpPr>
        <p:spPr>
          <a:xfrm>
            <a:off x="7848600" y="1841500"/>
            <a:ext cx="3810000" cy="8209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2400" b="1">
                <a:solidFill>
                  <a:srgbClr val="007F80"/>
                </a:solidFill>
                <a:latin typeface="Arial"/>
              </a:rPr>
              <a:t>Finger cylinder /</a:t>
            </a:r>
            <a:endParaRPr sz="2400"/>
          </a:p>
          <a:p>
            <a:pPr>
              <a:lnSpc>
                <a:spcPct val="118000"/>
              </a:lnSpc>
            </a:pPr>
            <a:r>
              <a:rPr lang="en-US" sz="2400" b="1">
                <a:solidFill>
                  <a:srgbClr val="007F80"/>
                </a:solidFill>
                <a:latin typeface="Arial"/>
              </a:rPr>
              <a:t>HFD12X50</a:t>
            </a:r>
            <a:endParaRPr sz="2400"/>
          </a:p>
        </p:txBody>
      </p:sp>
      <p:sp>
        <p:nvSpPr>
          <p:cNvPr id="8" name="Panel 8"/>
          <p:cNvSpPr/>
          <p:nvPr/>
        </p:nvSpPr>
        <p:spPr>
          <a:xfrm>
            <a:off x="7848600" y="3175000"/>
            <a:ext cx="330200" cy="330200"/>
          </a:xfrm>
          <a:prstGeom prst="roundRect">
            <a:avLst/>
          </a:prstGeom>
          <a:solidFill>
            <a:srgbClr val="007F80"/>
          </a:solidFill>
          <a:ln>
            <a:noFill/>
          </a:ln>
        </p:spPr>
      </p:sp>
      <p:sp>
        <p:nvSpPr>
          <p:cNvPr id="9" name="Text 9"/>
          <p:cNvSpPr txBox="1"/>
          <p:nvPr/>
        </p:nvSpPr>
        <p:spPr>
          <a:xfrm>
            <a:off x="7950200" y="3213100"/>
            <a:ext cx="254000" cy="3114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400" b="1">
                <a:solidFill>
                  <a:srgbClr val="FFFFFF"/>
                </a:solidFill>
                <a:latin typeface="Arial"/>
              </a:rPr>
              <a:t>1</a:t>
            </a:r>
            <a:endParaRPr sz="1400"/>
          </a:p>
        </p:txBody>
      </p:sp>
      <p:sp>
        <p:nvSpPr>
          <p:cNvPr id="10" name="Text 10"/>
          <p:cNvSpPr txBox="1"/>
          <p:nvPr/>
        </p:nvSpPr>
        <p:spPr>
          <a:xfrm>
            <a:off x="8318500" y="3175000"/>
            <a:ext cx="3302000" cy="5811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600" b="0">
                <a:solidFill>
                  <a:srgbClr val="17344E"/>
                </a:solidFill>
                <a:latin typeface="Arial"/>
              </a:rPr>
              <a:t>Airtac model supplied by</a:t>
            </a:r>
            <a:endParaRPr sz="1600"/>
          </a:p>
          <a:p>
            <a:pPr>
              <a:lnSpc>
                <a:spcPct val="118000"/>
              </a:lnSpc>
            </a:pPr>
            <a:r>
              <a:rPr lang="en-US" sz="1600" b="0">
                <a:solidFill>
                  <a:srgbClr val="17344E"/>
                </a:solidFill>
                <a:latin typeface="Arial"/>
              </a:rPr>
              <a:t>maintenance</a:t>
            </a:r>
            <a:endParaRPr sz="1600"/>
          </a:p>
        </p:txBody>
      </p:sp>
      <p:sp>
        <p:nvSpPr>
          <p:cNvPr id="11" name="Panel 11"/>
          <p:cNvSpPr/>
          <p:nvPr/>
        </p:nvSpPr>
        <p:spPr>
          <a:xfrm>
            <a:off x="7848600" y="4152900"/>
            <a:ext cx="330200" cy="330200"/>
          </a:xfrm>
          <a:prstGeom prst="roundRect">
            <a:avLst/>
          </a:prstGeom>
          <a:solidFill>
            <a:srgbClr val="007F80"/>
          </a:solidFill>
          <a:ln>
            <a:noFill/>
          </a:ln>
        </p:spPr>
      </p:sp>
      <p:sp>
        <p:nvSpPr>
          <p:cNvPr id="12" name="Text 12"/>
          <p:cNvSpPr txBox="1"/>
          <p:nvPr/>
        </p:nvSpPr>
        <p:spPr>
          <a:xfrm>
            <a:off x="7950200" y="4191000"/>
            <a:ext cx="254000" cy="3114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400" b="1">
                <a:solidFill>
                  <a:srgbClr val="FFFFFF"/>
                </a:solidFill>
                <a:latin typeface="Arial"/>
              </a:rPr>
              <a:t>2</a:t>
            </a:r>
            <a:endParaRPr sz="1400"/>
          </a:p>
        </p:txBody>
      </p:sp>
      <p:sp>
        <p:nvSpPr>
          <p:cNvPr id="13" name="Text 13"/>
          <p:cNvSpPr txBox="1"/>
          <p:nvPr/>
        </p:nvSpPr>
        <p:spPr>
          <a:xfrm>
            <a:off x="8318500" y="4152900"/>
            <a:ext cx="3302000" cy="34137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600" b="0">
                <a:solidFill>
                  <a:srgbClr val="17344E"/>
                </a:solidFill>
                <a:latin typeface="Arial"/>
              </a:rPr>
              <a:t>4 installed per DIMM press</a:t>
            </a:r>
            <a:endParaRPr sz="1600"/>
          </a:p>
        </p:txBody>
      </p:sp>
      <p:sp>
        <p:nvSpPr>
          <p:cNvPr id="14" name="Panel 14"/>
          <p:cNvSpPr/>
          <p:nvPr/>
        </p:nvSpPr>
        <p:spPr>
          <a:xfrm>
            <a:off x="7848600" y="5130800"/>
            <a:ext cx="330200" cy="330200"/>
          </a:xfrm>
          <a:prstGeom prst="roundRect">
            <a:avLst/>
          </a:prstGeom>
          <a:solidFill>
            <a:srgbClr val="007F80"/>
          </a:solidFill>
          <a:ln>
            <a:noFill/>
          </a:ln>
        </p:spPr>
      </p:sp>
      <p:sp>
        <p:nvSpPr>
          <p:cNvPr id="15" name="Text 15"/>
          <p:cNvSpPr txBox="1"/>
          <p:nvPr/>
        </p:nvSpPr>
        <p:spPr>
          <a:xfrm>
            <a:off x="7950200" y="5168900"/>
            <a:ext cx="254000" cy="3114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400" b="1">
                <a:solidFill>
                  <a:srgbClr val="FFFFFF"/>
                </a:solidFill>
                <a:latin typeface="Arial"/>
              </a:rPr>
              <a:t>3</a:t>
            </a:r>
            <a:endParaRPr sz="1400"/>
          </a:p>
        </p:txBody>
      </p:sp>
      <p:sp>
        <p:nvSpPr>
          <p:cNvPr id="16" name="Text 16"/>
          <p:cNvSpPr txBox="1"/>
          <p:nvPr/>
        </p:nvSpPr>
        <p:spPr>
          <a:xfrm>
            <a:off x="8318500" y="5130800"/>
            <a:ext cx="3302000" cy="5811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600" b="0">
                <a:solidFill>
                  <a:srgbClr val="17344E"/>
                </a:solidFill>
                <a:latin typeface="Arial"/>
              </a:rPr>
              <a:t>Demo stock is separate from</a:t>
            </a:r>
            <a:endParaRPr sz="1600"/>
          </a:p>
          <a:p>
            <a:pPr>
              <a:lnSpc>
                <a:spcPct val="118000"/>
              </a:lnSpc>
            </a:pPr>
            <a:r>
              <a:rPr lang="en-US" sz="1600" b="0">
                <a:solidFill>
                  <a:srgbClr val="17344E"/>
                </a:solidFill>
                <a:latin typeface="Arial"/>
              </a:rPr>
              <a:t>installed quantity</a:t>
            </a:r>
            <a:endParaRPr sz="1600"/>
          </a:p>
        </p:txBody>
      </p:sp>
      <p:sp>
        <p:nvSpPr>
          <p:cNvPr id="17" name="Text 17"/>
          <p:cNvSpPr txBox="1"/>
          <p:nvPr/>
        </p:nvSpPr>
        <p:spPr>
          <a:xfrm>
            <a:off x="457200" y="6540500"/>
            <a:ext cx="9652000" cy="23647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900" b="0">
                <a:solidFill>
                  <a:srgbClr val="536B7D"/>
                </a:solidFill>
                <a:latin typeface="Arial"/>
              </a:rPr>
              <a:t>MACHINECARE | LOCAL PILOT | 19 OCT 2026</a:t>
            </a:r>
            <a:endParaRPr sz="900"/>
          </a:p>
        </p:txBody>
      </p:sp>
      <p:sp>
        <p:nvSpPr>
          <p:cNvPr id="18" name="Text 18"/>
          <p:cNvSpPr txBox="1"/>
          <p:nvPr/>
        </p:nvSpPr>
        <p:spPr>
          <a:xfrm>
            <a:off x="11303000" y="6451600"/>
            <a:ext cx="508000" cy="2814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200" b="1">
                <a:solidFill>
                  <a:srgbClr val="007F80"/>
                </a:solidFill>
                <a:latin typeface="Arial"/>
              </a:rPr>
              <a:t>07</a:t>
            </a:r>
            <a:endParaRPr sz="12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457200" y="279400"/>
            <a:ext cx="11176000" cy="26644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100" b="1">
                <a:solidFill>
                  <a:srgbClr val="007F80"/>
                </a:solidFill>
                <a:latin typeface="Arial"/>
              </a:rPr>
              <a:t>07 / AOI</a:t>
            </a:r>
            <a:endParaRPr sz="1100"/>
          </a:p>
        </p:txBody>
      </p:sp>
      <p:sp>
        <p:nvSpPr>
          <p:cNvPr id="3" name="Text 3"/>
          <p:cNvSpPr txBox="1"/>
          <p:nvPr/>
        </p:nvSpPr>
        <p:spPr>
          <a:xfrm>
            <a:off x="457200" y="685800"/>
            <a:ext cx="11277600" cy="53619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2900" b="1">
                <a:solidFill>
                  <a:srgbClr val="17344E"/>
                </a:solidFill>
                <a:latin typeface="Arial"/>
              </a:rPr>
              <a:t>AOI references are now part of the catalog</a:t>
            </a:r>
            <a:endParaRPr sz="2900"/>
          </a:p>
        </p:txBody>
      </p:sp>
      <p:sp>
        <p:nvSpPr>
          <p:cNvPr id="4" name="Panel 4"/>
          <p:cNvSpPr/>
          <p:nvPr/>
        </p:nvSpPr>
        <p:spPr>
          <a:xfrm>
            <a:off x="457200" y="1676400"/>
            <a:ext cx="7035800" cy="46355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5" name="Panel 5"/>
          <p:cNvSpPr/>
          <p:nvPr/>
        </p:nvSpPr>
        <p:spPr>
          <a:xfrm>
            <a:off x="558800" y="1778000"/>
            <a:ext cx="6832600" cy="4432300"/>
          </a:xfrm>
          <a:prstGeom prst="roundRect">
            <a:avLst/>
          </a:prstGeom>
          <a:solidFill>
            <a:srgbClr val="E1EAF0"/>
          </a:solidFill>
          <a:ln>
            <a:noFill/>
          </a:ln>
        </p:spPr>
      </p:sp>
      <p:sp>
        <p:nvSpPr>
          <p:cNvPr id="6" name="Text 6"/>
          <p:cNvSpPr txBox="1"/>
          <p:nvPr/>
        </p:nvSpPr>
        <p:spPr>
          <a:xfrm>
            <a:off x="749300" y="2095500"/>
            <a:ext cx="6451600" cy="35636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700" b="0">
                <a:solidFill>
                  <a:srgbClr val="17344E"/>
                </a:solidFill>
                <a:latin typeface="Arial"/>
              </a:rPr>
              <a:t>Screenshot capture pending</a:t>
            </a:r>
            <a:endParaRPr sz="1700"/>
          </a:p>
        </p:txBody>
      </p:sp>
      <p:sp>
        <p:nvSpPr>
          <p:cNvPr id="7" name="Text 7"/>
          <p:cNvSpPr txBox="1"/>
          <p:nvPr/>
        </p:nvSpPr>
        <p:spPr>
          <a:xfrm>
            <a:off x="7848600" y="1841500"/>
            <a:ext cx="3810000" cy="8209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2400" b="1">
                <a:solidFill>
                  <a:srgbClr val="007F80"/>
                </a:solidFill>
                <a:latin typeface="Arial"/>
              </a:rPr>
              <a:t>PILZ / robot-cell</a:t>
            </a:r>
            <a:endParaRPr sz="2400"/>
          </a:p>
          <a:p>
            <a:pPr>
              <a:lnSpc>
                <a:spcPct val="118000"/>
              </a:lnSpc>
            </a:pPr>
            <a:r>
              <a:rPr lang="en-US" sz="2400" b="1">
                <a:solidFill>
                  <a:srgbClr val="007F80"/>
                </a:solidFill>
                <a:latin typeface="Arial"/>
              </a:rPr>
              <a:t>components</a:t>
            </a:r>
            <a:endParaRPr sz="2400"/>
          </a:p>
        </p:txBody>
      </p:sp>
      <p:sp>
        <p:nvSpPr>
          <p:cNvPr id="8" name="Panel 8"/>
          <p:cNvSpPr/>
          <p:nvPr/>
        </p:nvSpPr>
        <p:spPr>
          <a:xfrm>
            <a:off x="7848600" y="3175000"/>
            <a:ext cx="330200" cy="330200"/>
          </a:xfrm>
          <a:prstGeom prst="roundRect">
            <a:avLst/>
          </a:prstGeom>
          <a:solidFill>
            <a:srgbClr val="007F80"/>
          </a:solidFill>
          <a:ln>
            <a:noFill/>
          </a:ln>
        </p:spPr>
      </p:sp>
      <p:sp>
        <p:nvSpPr>
          <p:cNvPr id="9" name="Text 9"/>
          <p:cNvSpPr txBox="1"/>
          <p:nvPr/>
        </p:nvSpPr>
        <p:spPr>
          <a:xfrm>
            <a:off x="7950200" y="3213100"/>
            <a:ext cx="254000" cy="3114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400" b="1">
                <a:solidFill>
                  <a:srgbClr val="FFFFFF"/>
                </a:solidFill>
                <a:latin typeface="Arial"/>
              </a:rPr>
              <a:t>1</a:t>
            </a:r>
            <a:endParaRPr sz="1400"/>
          </a:p>
        </p:txBody>
      </p:sp>
      <p:sp>
        <p:nvSpPr>
          <p:cNvPr id="10" name="Text 10"/>
          <p:cNvSpPr txBox="1"/>
          <p:nvPr/>
        </p:nvSpPr>
        <p:spPr>
          <a:xfrm>
            <a:off x="8318500" y="3175000"/>
            <a:ext cx="3302000" cy="34137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600" b="0">
                <a:solidFill>
                  <a:srgbClr val="17344E"/>
                </a:solidFill>
                <a:latin typeface="Arial"/>
              </a:rPr>
              <a:t>7 AOI component entries</a:t>
            </a:r>
            <a:endParaRPr sz="1600"/>
          </a:p>
        </p:txBody>
      </p:sp>
      <p:sp>
        <p:nvSpPr>
          <p:cNvPr id="11" name="Panel 11"/>
          <p:cNvSpPr/>
          <p:nvPr/>
        </p:nvSpPr>
        <p:spPr>
          <a:xfrm>
            <a:off x="7848600" y="4152900"/>
            <a:ext cx="330200" cy="330200"/>
          </a:xfrm>
          <a:prstGeom prst="roundRect">
            <a:avLst/>
          </a:prstGeom>
          <a:solidFill>
            <a:srgbClr val="007F80"/>
          </a:solidFill>
          <a:ln>
            <a:noFill/>
          </a:ln>
        </p:spPr>
      </p:sp>
      <p:sp>
        <p:nvSpPr>
          <p:cNvPr id="12" name="Text 12"/>
          <p:cNvSpPr txBox="1"/>
          <p:nvPr/>
        </p:nvSpPr>
        <p:spPr>
          <a:xfrm>
            <a:off x="7950200" y="4191000"/>
            <a:ext cx="254000" cy="3114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400" b="1">
                <a:solidFill>
                  <a:srgbClr val="FFFFFF"/>
                </a:solidFill>
                <a:latin typeface="Arial"/>
              </a:rPr>
              <a:t>2</a:t>
            </a:r>
            <a:endParaRPr sz="1400"/>
          </a:p>
        </p:txBody>
      </p:sp>
      <p:sp>
        <p:nvSpPr>
          <p:cNvPr id="13" name="Text 13"/>
          <p:cNvSpPr txBox="1"/>
          <p:nvPr/>
        </p:nvSpPr>
        <p:spPr>
          <a:xfrm>
            <a:off x="8318500" y="4152900"/>
            <a:ext cx="3302000" cy="5811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600" b="0">
                <a:solidFill>
                  <a:srgbClr val="17344E"/>
                </a:solidFill>
                <a:latin typeface="Arial"/>
              </a:rPr>
              <a:t>Exact supplied models and serial</a:t>
            </a:r>
            <a:endParaRPr sz="1600"/>
          </a:p>
          <a:p>
            <a:pPr>
              <a:lnSpc>
                <a:spcPct val="118000"/>
              </a:lnSpc>
            </a:pPr>
            <a:r>
              <a:rPr lang="en-US" sz="1600" b="0">
                <a:solidFill>
                  <a:srgbClr val="17344E"/>
                </a:solidFill>
                <a:latin typeface="Arial"/>
              </a:rPr>
              <a:t>references</a:t>
            </a:r>
            <a:endParaRPr sz="1600"/>
          </a:p>
        </p:txBody>
      </p:sp>
      <p:sp>
        <p:nvSpPr>
          <p:cNvPr id="14" name="Panel 14"/>
          <p:cNvSpPr/>
          <p:nvPr/>
        </p:nvSpPr>
        <p:spPr>
          <a:xfrm>
            <a:off x="7848600" y="5130800"/>
            <a:ext cx="330200" cy="330200"/>
          </a:xfrm>
          <a:prstGeom prst="roundRect">
            <a:avLst/>
          </a:prstGeom>
          <a:solidFill>
            <a:srgbClr val="007F80"/>
          </a:solidFill>
          <a:ln>
            <a:noFill/>
          </a:ln>
        </p:spPr>
      </p:sp>
      <p:sp>
        <p:nvSpPr>
          <p:cNvPr id="15" name="Text 15"/>
          <p:cNvSpPr txBox="1"/>
          <p:nvPr/>
        </p:nvSpPr>
        <p:spPr>
          <a:xfrm>
            <a:off x="7950200" y="5168900"/>
            <a:ext cx="254000" cy="3114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400" b="1">
                <a:solidFill>
                  <a:srgbClr val="FFFFFF"/>
                </a:solidFill>
                <a:latin typeface="Arial"/>
              </a:rPr>
              <a:t>3</a:t>
            </a:r>
            <a:endParaRPr sz="1400"/>
          </a:p>
        </p:txBody>
      </p:sp>
      <p:sp>
        <p:nvSpPr>
          <p:cNvPr id="16" name="Text 16"/>
          <p:cNvSpPr txBox="1"/>
          <p:nvPr/>
        </p:nvSpPr>
        <p:spPr>
          <a:xfrm>
            <a:off x="8318500" y="5130800"/>
            <a:ext cx="3302000" cy="34137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600" b="0">
                <a:solidFill>
                  <a:srgbClr val="17344E"/>
                </a:solidFill>
                <a:latin typeface="Arial"/>
              </a:rPr>
              <a:t>Two illustrative spare units per entry</a:t>
            </a:r>
            <a:endParaRPr sz="1600"/>
          </a:p>
        </p:txBody>
      </p:sp>
      <p:sp>
        <p:nvSpPr>
          <p:cNvPr id="17" name="Text 17"/>
          <p:cNvSpPr txBox="1"/>
          <p:nvPr/>
        </p:nvSpPr>
        <p:spPr>
          <a:xfrm>
            <a:off x="457200" y="6540500"/>
            <a:ext cx="9652000" cy="23647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900" b="0">
                <a:solidFill>
                  <a:srgbClr val="536B7D"/>
                </a:solidFill>
                <a:latin typeface="Arial"/>
              </a:rPr>
              <a:t>MACHINECARE | LOCAL PILOT | 19 OCT 2026</a:t>
            </a:r>
            <a:endParaRPr sz="900"/>
          </a:p>
        </p:txBody>
      </p:sp>
      <p:sp>
        <p:nvSpPr>
          <p:cNvPr id="18" name="Text 18"/>
          <p:cNvSpPr txBox="1"/>
          <p:nvPr/>
        </p:nvSpPr>
        <p:spPr>
          <a:xfrm>
            <a:off x="11303000" y="6451600"/>
            <a:ext cx="508000" cy="2814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200" b="1">
                <a:solidFill>
                  <a:srgbClr val="007F80"/>
                </a:solidFill>
                <a:latin typeface="Arial"/>
              </a:rPr>
              <a:t>08</a:t>
            </a:r>
            <a:endParaRPr sz="12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457200" y="279400"/>
            <a:ext cx="11176000" cy="26644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100" b="1">
                <a:solidFill>
                  <a:srgbClr val="007F80"/>
                </a:solidFill>
                <a:latin typeface="Arial"/>
              </a:rPr>
              <a:t>08 / DATA MEANING</a:t>
            </a:r>
            <a:endParaRPr sz="1100"/>
          </a:p>
        </p:txBody>
      </p:sp>
      <p:sp>
        <p:nvSpPr>
          <p:cNvPr id="3" name="Text 3"/>
          <p:cNvSpPr txBox="1"/>
          <p:nvPr/>
        </p:nvSpPr>
        <p:spPr>
          <a:xfrm>
            <a:off x="457200" y="685800"/>
            <a:ext cx="11277600" cy="53619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2900" b="1">
                <a:solidFill>
                  <a:srgbClr val="17344E"/>
                </a:solidFill>
                <a:latin typeface="Arial"/>
              </a:rPr>
              <a:t>Installed quantities are not spare inventory</a:t>
            </a:r>
            <a:endParaRPr sz="2900"/>
          </a:p>
        </p:txBody>
      </p:sp>
      <p:sp>
        <p:nvSpPr>
          <p:cNvPr id="4" name="Panel 4"/>
          <p:cNvSpPr/>
          <p:nvPr/>
        </p:nvSpPr>
        <p:spPr>
          <a:xfrm>
            <a:off x="457200" y="1841500"/>
            <a:ext cx="5334000" cy="3683000"/>
          </a:xfrm>
          <a:prstGeom prst="roundRect">
            <a:avLst/>
          </a:prstGeom>
          <a:solidFill>
            <a:srgbClr val="102238"/>
          </a:solidFill>
          <a:ln>
            <a:noFill/>
          </a:ln>
        </p:spPr>
      </p:sp>
      <p:sp>
        <p:nvSpPr>
          <p:cNvPr id="5" name="Text 5"/>
          <p:cNvSpPr txBox="1"/>
          <p:nvPr/>
        </p:nvSpPr>
        <p:spPr>
          <a:xfrm>
            <a:off x="736600" y="2146300"/>
            <a:ext cx="4699000" cy="29641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300" b="1">
                <a:solidFill>
                  <a:srgbClr val="33D2BB"/>
                </a:solidFill>
                <a:latin typeface="Arial"/>
              </a:rPr>
              <a:t>ON ONE LINE</a:t>
            </a:r>
            <a:endParaRPr sz="1300"/>
          </a:p>
        </p:txBody>
      </p:sp>
      <p:sp>
        <p:nvSpPr>
          <p:cNvPr id="6" name="Text 6"/>
          <p:cNvSpPr txBox="1"/>
          <p:nvPr/>
        </p:nvSpPr>
        <p:spPr>
          <a:xfrm>
            <a:off x="736600" y="2819400"/>
            <a:ext cx="4699000" cy="731011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4200" b="1">
                <a:solidFill>
                  <a:srgbClr val="FFFFFF"/>
                </a:solidFill>
                <a:latin typeface="Arial"/>
              </a:rPr>
              <a:t>4 x 2 = 8</a:t>
            </a:r>
            <a:endParaRPr sz="4200"/>
          </a:p>
        </p:txBody>
      </p:sp>
      <p:sp>
        <p:nvSpPr>
          <p:cNvPr id="7" name="Text 7"/>
          <p:cNvSpPr txBox="1"/>
          <p:nvPr/>
        </p:nvSpPr>
        <p:spPr>
          <a:xfrm>
            <a:off x="736600" y="4038600"/>
            <a:ext cx="4699000" cy="731011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2100" b="0">
                <a:solidFill>
                  <a:srgbClr val="FFFFFF"/>
                </a:solidFill>
                <a:latin typeface="Arial"/>
              </a:rPr>
              <a:t>Finger cylinders installed</a:t>
            </a:r>
            <a:endParaRPr sz="2100"/>
          </a:p>
          <a:p>
            <a:pPr>
              <a:lnSpc>
                <a:spcPct val="118000"/>
              </a:lnSpc>
            </a:pPr>
            <a:r>
              <a:rPr lang="en-US" sz="2100" b="0">
                <a:solidFill>
                  <a:srgbClr val="FFFFFF"/>
                </a:solidFill>
                <a:latin typeface="Arial"/>
              </a:rPr>
              <a:t>4 per DIMM / 2 DIMMs</a:t>
            </a:r>
            <a:endParaRPr sz="2100"/>
          </a:p>
        </p:txBody>
      </p:sp>
      <p:sp>
        <p:nvSpPr>
          <p:cNvPr id="8" name="Panel 8"/>
          <p:cNvSpPr/>
          <p:nvPr/>
        </p:nvSpPr>
        <p:spPr>
          <a:xfrm>
            <a:off x="6096000" y="1841500"/>
            <a:ext cx="5638800" cy="3683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9" name="Text 9"/>
          <p:cNvSpPr txBox="1"/>
          <p:nvPr/>
        </p:nvSpPr>
        <p:spPr>
          <a:xfrm>
            <a:off x="6400800" y="2146300"/>
            <a:ext cx="4953000" cy="29641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300" b="1">
                <a:solidFill>
                  <a:srgbClr val="007F80"/>
                </a:solidFill>
                <a:latin typeface="Arial"/>
              </a:rPr>
              <a:t>IN SHARED STORES</a:t>
            </a:r>
            <a:endParaRPr sz="1300"/>
          </a:p>
        </p:txBody>
      </p:sp>
      <p:sp>
        <p:nvSpPr>
          <p:cNvPr id="10" name="Text 10"/>
          <p:cNvSpPr txBox="1"/>
          <p:nvPr/>
        </p:nvSpPr>
        <p:spPr>
          <a:xfrm>
            <a:off x="6400800" y="2819400"/>
            <a:ext cx="4953000" cy="62611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3500" b="1">
                <a:solidFill>
                  <a:srgbClr val="007F80"/>
                </a:solidFill>
                <a:latin typeface="Arial"/>
              </a:rPr>
              <a:t>8 demo spares</a:t>
            </a:r>
            <a:endParaRPr sz="3500"/>
          </a:p>
        </p:txBody>
      </p:sp>
      <p:sp>
        <p:nvSpPr>
          <p:cNvPr id="11" name="Text 11"/>
          <p:cNvSpPr txBox="1"/>
          <p:nvPr/>
        </p:nvSpPr>
        <p:spPr>
          <a:xfrm>
            <a:off x="6400800" y="4038600"/>
            <a:ext cx="4953000" cy="731011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2100" b="0">
                <a:solidFill>
                  <a:srgbClr val="536B7D"/>
                </a:solidFill>
                <a:latin typeface="Arial"/>
              </a:rPr>
              <a:t>Illustrative opening balance</a:t>
            </a:r>
            <a:endParaRPr sz="2100"/>
          </a:p>
          <a:p>
            <a:pPr>
              <a:lnSpc>
                <a:spcPct val="118000"/>
              </a:lnSpc>
            </a:pPr>
            <a:r>
              <a:rPr lang="en-US" sz="2100" b="0">
                <a:solidFill>
                  <a:srgbClr val="536B7D"/>
                </a:solidFill>
                <a:latin typeface="Arial"/>
              </a:rPr>
              <a:t>Verify with a physical count</a:t>
            </a:r>
            <a:endParaRPr sz="2100"/>
          </a:p>
        </p:txBody>
      </p:sp>
      <p:sp>
        <p:nvSpPr>
          <p:cNvPr id="12" name="Text 12"/>
          <p:cNvSpPr txBox="1"/>
          <p:nvPr/>
        </p:nvSpPr>
        <p:spPr>
          <a:xfrm>
            <a:off x="457200" y="6540500"/>
            <a:ext cx="9652000" cy="23647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900" b="0">
                <a:solidFill>
                  <a:srgbClr val="536B7D"/>
                </a:solidFill>
                <a:latin typeface="Arial"/>
              </a:rPr>
              <a:t>MACHINECARE | LOCAL PILOT | 19 OCT 2026</a:t>
            </a:r>
            <a:endParaRPr sz="900"/>
          </a:p>
        </p:txBody>
      </p:sp>
      <p:sp>
        <p:nvSpPr>
          <p:cNvPr id="13" name="Text 13"/>
          <p:cNvSpPr txBox="1"/>
          <p:nvPr/>
        </p:nvSpPr>
        <p:spPr>
          <a:xfrm>
            <a:off x="11303000" y="6451600"/>
            <a:ext cx="508000" cy="2814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200" b="1">
                <a:solidFill>
                  <a:srgbClr val="007F80"/>
                </a:solidFill>
                <a:latin typeface="Arial"/>
              </a:rPr>
              <a:t>09</a:t>
            </a:r>
            <a:endParaRPr sz="12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457200" y="279400"/>
            <a:ext cx="11176000" cy="26644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100" b="1">
                <a:solidFill>
                  <a:srgbClr val="007F80"/>
                </a:solidFill>
                <a:latin typeface="Arial"/>
              </a:rPr>
              <a:t>09 / MAINTENANCE FLOW</a:t>
            </a:r>
            <a:endParaRPr sz="1100"/>
          </a:p>
        </p:txBody>
      </p:sp>
      <p:sp>
        <p:nvSpPr>
          <p:cNvPr id="3" name="Text 3"/>
          <p:cNvSpPr txBox="1"/>
          <p:nvPr/>
        </p:nvSpPr>
        <p:spPr>
          <a:xfrm>
            <a:off x="457200" y="685800"/>
            <a:ext cx="11277600" cy="53619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2900" b="1">
                <a:solidFill>
                  <a:srgbClr val="17344E"/>
                </a:solidFill>
                <a:latin typeface="Arial"/>
              </a:rPr>
              <a:t>From request to an auditable replacement</a:t>
            </a:r>
            <a:endParaRPr sz="2900"/>
          </a:p>
        </p:txBody>
      </p:sp>
      <p:sp>
        <p:nvSpPr>
          <p:cNvPr id="4" name="Panel 4"/>
          <p:cNvSpPr/>
          <p:nvPr/>
        </p:nvSpPr>
        <p:spPr>
          <a:xfrm>
            <a:off x="457200" y="2082800"/>
            <a:ext cx="2120900" cy="29845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5" name="Text 5"/>
          <p:cNvSpPr txBox="1"/>
          <p:nvPr/>
        </p:nvSpPr>
        <p:spPr>
          <a:xfrm>
            <a:off x="647700" y="2298700"/>
            <a:ext cx="1778000" cy="6410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3600" b="1">
                <a:solidFill>
                  <a:srgbClr val="007F80"/>
                </a:solidFill>
                <a:latin typeface="Arial"/>
              </a:rPr>
              <a:t>01</a:t>
            </a:r>
            <a:endParaRPr sz="3600"/>
          </a:p>
        </p:txBody>
      </p:sp>
      <p:sp>
        <p:nvSpPr>
          <p:cNvPr id="6" name="Text 6"/>
          <p:cNvSpPr txBox="1"/>
          <p:nvPr/>
        </p:nvSpPr>
        <p:spPr>
          <a:xfrm>
            <a:off x="647700" y="3060700"/>
            <a:ext cx="1778000" cy="401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2000" b="1">
                <a:solidFill>
                  <a:srgbClr val="17344E"/>
                </a:solidFill>
                <a:latin typeface="Arial"/>
              </a:rPr>
              <a:t>Request</a:t>
            </a:r>
            <a:endParaRPr sz="2000"/>
          </a:p>
        </p:txBody>
      </p:sp>
      <p:sp>
        <p:nvSpPr>
          <p:cNvPr id="7" name="Text 7"/>
          <p:cNvSpPr txBox="1"/>
          <p:nvPr/>
        </p:nvSpPr>
        <p:spPr>
          <a:xfrm>
            <a:off x="647700" y="3733800"/>
            <a:ext cx="1752600" cy="5511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500" b="0">
                <a:solidFill>
                  <a:srgbClr val="536B7D"/>
                </a:solidFill>
                <a:latin typeface="Arial"/>
              </a:rPr>
              <a:t>Machine +</a:t>
            </a:r>
            <a:endParaRPr sz="1500"/>
          </a:p>
          <a:p>
            <a:pPr>
              <a:lnSpc>
                <a:spcPct val="118000"/>
              </a:lnSpc>
            </a:pPr>
            <a:r>
              <a:rPr lang="en-US" sz="1500" b="0">
                <a:solidFill>
                  <a:srgbClr val="536B7D"/>
                </a:solidFill>
                <a:latin typeface="Arial"/>
              </a:rPr>
              <a:t>compatible part</a:t>
            </a:r>
            <a:endParaRPr sz="1500"/>
          </a:p>
        </p:txBody>
      </p:sp>
      <p:sp>
        <p:nvSpPr>
          <p:cNvPr id="8" name="Panel 8"/>
          <p:cNvSpPr/>
          <p:nvPr/>
        </p:nvSpPr>
        <p:spPr>
          <a:xfrm>
            <a:off x="2743200" y="2082800"/>
            <a:ext cx="2120900" cy="29845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9" name="Text 9"/>
          <p:cNvSpPr txBox="1"/>
          <p:nvPr/>
        </p:nvSpPr>
        <p:spPr>
          <a:xfrm>
            <a:off x="2933700" y="2298700"/>
            <a:ext cx="1778000" cy="6410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3600" b="1">
                <a:solidFill>
                  <a:srgbClr val="007F80"/>
                </a:solidFill>
                <a:latin typeface="Arial"/>
              </a:rPr>
              <a:t>02</a:t>
            </a:r>
            <a:endParaRPr sz="3600"/>
          </a:p>
        </p:txBody>
      </p:sp>
      <p:sp>
        <p:nvSpPr>
          <p:cNvPr id="10" name="Text 10"/>
          <p:cNvSpPr txBox="1"/>
          <p:nvPr/>
        </p:nvSpPr>
        <p:spPr>
          <a:xfrm>
            <a:off x="2933700" y="3060700"/>
            <a:ext cx="1778000" cy="401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2000" b="1">
                <a:solidFill>
                  <a:srgbClr val="17344E"/>
                </a:solidFill>
                <a:latin typeface="Arial"/>
              </a:rPr>
              <a:t>Review</a:t>
            </a:r>
            <a:endParaRPr sz="2000"/>
          </a:p>
        </p:txBody>
      </p:sp>
      <p:sp>
        <p:nvSpPr>
          <p:cNvPr id="11" name="Text 11"/>
          <p:cNvSpPr txBox="1"/>
          <p:nvPr/>
        </p:nvSpPr>
        <p:spPr>
          <a:xfrm>
            <a:off x="2933700" y="3733800"/>
            <a:ext cx="1752600" cy="5511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500" b="0">
                <a:solidFill>
                  <a:srgbClr val="536B7D"/>
                </a:solidFill>
                <a:latin typeface="Arial"/>
              </a:rPr>
              <a:t>Early work needs</a:t>
            </a:r>
            <a:endParaRPr sz="1500"/>
          </a:p>
          <a:p>
            <a:pPr>
              <a:lnSpc>
                <a:spcPct val="118000"/>
              </a:lnSpc>
            </a:pPr>
            <a:r>
              <a:rPr lang="en-US" sz="1500" b="0">
                <a:solidFill>
                  <a:srgbClr val="536B7D"/>
                </a:solidFill>
                <a:latin typeface="Arial"/>
              </a:rPr>
              <a:t>explanation</a:t>
            </a:r>
            <a:endParaRPr sz="1500"/>
          </a:p>
        </p:txBody>
      </p:sp>
      <p:sp>
        <p:nvSpPr>
          <p:cNvPr id="12" name="Panel 12"/>
          <p:cNvSpPr/>
          <p:nvPr/>
        </p:nvSpPr>
        <p:spPr>
          <a:xfrm>
            <a:off x="5029200" y="2082800"/>
            <a:ext cx="2120900" cy="29845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3" name="Text 13"/>
          <p:cNvSpPr txBox="1"/>
          <p:nvPr/>
        </p:nvSpPr>
        <p:spPr>
          <a:xfrm>
            <a:off x="5219700" y="2298700"/>
            <a:ext cx="1778000" cy="6410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3600" b="1">
                <a:solidFill>
                  <a:srgbClr val="007F80"/>
                </a:solidFill>
                <a:latin typeface="Arial"/>
              </a:rPr>
              <a:t>03</a:t>
            </a:r>
            <a:endParaRPr sz="3600"/>
          </a:p>
        </p:txBody>
      </p:sp>
      <p:sp>
        <p:nvSpPr>
          <p:cNvPr id="14" name="Text 14"/>
          <p:cNvSpPr txBox="1"/>
          <p:nvPr/>
        </p:nvSpPr>
        <p:spPr>
          <a:xfrm>
            <a:off x="5219700" y="3060700"/>
            <a:ext cx="1778000" cy="401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2000" b="1">
                <a:solidFill>
                  <a:srgbClr val="17344E"/>
                </a:solidFill>
                <a:latin typeface="Arial"/>
              </a:rPr>
              <a:t>Reserve</a:t>
            </a:r>
            <a:endParaRPr sz="2000"/>
          </a:p>
        </p:txBody>
      </p:sp>
      <p:sp>
        <p:nvSpPr>
          <p:cNvPr id="15" name="Text 15"/>
          <p:cNvSpPr txBox="1"/>
          <p:nvPr/>
        </p:nvSpPr>
        <p:spPr>
          <a:xfrm>
            <a:off x="5219700" y="3733800"/>
            <a:ext cx="1752600" cy="5511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500" b="0">
                <a:solidFill>
                  <a:srgbClr val="536B7D"/>
                </a:solidFill>
                <a:latin typeface="Arial"/>
              </a:rPr>
              <a:t>Approval holds</a:t>
            </a:r>
            <a:endParaRPr sz="1500"/>
          </a:p>
          <a:p>
            <a:pPr>
              <a:lnSpc>
                <a:spcPct val="118000"/>
              </a:lnSpc>
            </a:pPr>
            <a:r>
              <a:rPr lang="en-US" sz="1500" b="0">
                <a:solidFill>
                  <a:srgbClr val="536B7D"/>
                </a:solidFill>
                <a:latin typeface="Arial"/>
              </a:rPr>
              <a:t>availability</a:t>
            </a:r>
            <a:endParaRPr sz="1500"/>
          </a:p>
        </p:txBody>
      </p:sp>
      <p:sp>
        <p:nvSpPr>
          <p:cNvPr id="16" name="Panel 16"/>
          <p:cNvSpPr/>
          <p:nvPr/>
        </p:nvSpPr>
        <p:spPr>
          <a:xfrm>
            <a:off x="7315200" y="2082800"/>
            <a:ext cx="2120900" cy="29845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7" name="Text 17"/>
          <p:cNvSpPr txBox="1"/>
          <p:nvPr/>
        </p:nvSpPr>
        <p:spPr>
          <a:xfrm>
            <a:off x="7505700" y="2298700"/>
            <a:ext cx="1778000" cy="6410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3600" b="1">
                <a:solidFill>
                  <a:srgbClr val="007F80"/>
                </a:solidFill>
                <a:latin typeface="Arial"/>
              </a:rPr>
              <a:t>04</a:t>
            </a:r>
            <a:endParaRPr sz="3600"/>
          </a:p>
        </p:txBody>
      </p:sp>
      <p:sp>
        <p:nvSpPr>
          <p:cNvPr id="18" name="Text 18"/>
          <p:cNvSpPr txBox="1"/>
          <p:nvPr/>
        </p:nvSpPr>
        <p:spPr>
          <a:xfrm>
            <a:off x="7505700" y="3060700"/>
            <a:ext cx="1778000" cy="401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2000" b="1">
                <a:solidFill>
                  <a:srgbClr val="17344E"/>
                </a:solidFill>
                <a:latin typeface="Arial"/>
              </a:rPr>
              <a:t>Complete</a:t>
            </a:r>
            <a:endParaRPr sz="2000"/>
          </a:p>
        </p:txBody>
      </p:sp>
      <p:sp>
        <p:nvSpPr>
          <p:cNvPr id="19" name="Text 19"/>
          <p:cNvSpPr txBox="1"/>
          <p:nvPr/>
        </p:nvSpPr>
        <p:spPr>
          <a:xfrm>
            <a:off x="7505700" y="3733800"/>
            <a:ext cx="1752600" cy="5511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500" b="0">
                <a:solidFill>
                  <a:srgbClr val="536B7D"/>
                </a:solidFill>
                <a:latin typeface="Arial"/>
              </a:rPr>
              <a:t>Confirm physical</a:t>
            </a:r>
            <a:endParaRPr sz="1500"/>
          </a:p>
          <a:p>
            <a:pPr>
              <a:lnSpc>
                <a:spcPct val="118000"/>
              </a:lnSpc>
            </a:pPr>
            <a:r>
              <a:rPr lang="en-US" sz="1500" b="0">
                <a:solidFill>
                  <a:srgbClr val="536B7D"/>
                </a:solidFill>
                <a:latin typeface="Arial"/>
              </a:rPr>
              <a:t>work</a:t>
            </a:r>
            <a:endParaRPr sz="1500"/>
          </a:p>
        </p:txBody>
      </p:sp>
      <p:sp>
        <p:nvSpPr>
          <p:cNvPr id="20" name="Panel 20"/>
          <p:cNvSpPr/>
          <p:nvPr/>
        </p:nvSpPr>
        <p:spPr>
          <a:xfrm>
            <a:off x="9601200" y="2082800"/>
            <a:ext cx="2120900" cy="29845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1" name="Text 21"/>
          <p:cNvSpPr txBox="1"/>
          <p:nvPr/>
        </p:nvSpPr>
        <p:spPr>
          <a:xfrm>
            <a:off x="9791700" y="2298700"/>
            <a:ext cx="1778000" cy="64109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3600" b="1">
                <a:solidFill>
                  <a:srgbClr val="007F80"/>
                </a:solidFill>
                <a:latin typeface="Arial"/>
              </a:rPr>
              <a:t>05</a:t>
            </a:r>
            <a:endParaRPr sz="3600"/>
          </a:p>
        </p:txBody>
      </p:sp>
      <p:sp>
        <p:nvSpPr>
          <p:cNvPr id="22" name="Text 22"/>
          <p:cNvSpPr txBox="1"/>
          <p:nvPr/>
        </p:nvSpPr>
        <p:spPr>
          <a:xfrm>
            <a:off x="9791700" y="3060700"/>
            <a:ext cx="1778000" cy="401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2000" b="1">
                <a:solidFill>
                  <a:srgbClr val="17344E"/>
                </a:solidFill>
                <a:latin typeface="Arial"/>
              </a:rPr>
              <a:t>Record</a:t>
            </a:r>
            <a:endParaRPr sz="2000"/>
          </a:p>
        </p:txBody>
      </p:sp>
      <p:sp>
        <p:nvSpPr>
          <p:cNvPr id="23" name="Text 23"/>
          <p:cNvSpPr txBox="1"/>
          <p:nvPr/>
        </p:nvSpPr>
        <p:spPr>
          <a:xfrm>
            <a:off x="9791700" y="3733800"/>
            <a:ext cx="1752600" cy="5511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500" b="0">
                <a:solidFill>
                  <a:srgbClr val="536B7D"/>
                </a:solidFill>
                <a:latin typeface="Arial"/>
              </a:rPr>
              <a:t>Ledger + history</a:t>
            </a:r>
            <a:endParaRPr sz="1500"/>
          </a:p>
          <a:p>
            <a:pPr>
              <a:lnSpc>
                <a:spcPct val="118000"/>
              </a:lnSpc>
            </a:pPr>
            <a:r>
              <a:rPr lang="en-US" sz="1500" b="0">
                <a:solidFill>
                  <a:srgbClr val="536B7D"/>
                </a:solidFill>
                <a:latin typeface="Arial"/>
              </a:rPr>
              <a:t>snapshots</a:t>
            </a:r>
            <a:endParaRPr sz="1500"/>
          </a:p>
        </p:txBody>
      </p:sp>
      <p:sp>
        <p:nvSpPr>
          <p:cNvPr id="24" name="Panel 24"/>
          <p:cNvSpPr/>
          <p:nvPr/>
        </p:nvSpPr>
        <p:spPr>
          <a:xfrm>
            <a:off x="457200" y="5499100"/>
            <a:ext cx="11277600" cy="660400"/>
          </a:xfrm>
          <a:prstGeom prst="roundRect">
            <a:avLst/>
          </a:prstGeom>
          <a:solidFill>
            <a:srgbClr val="102238"/>
          </a:solidFill>
          <a:ln>
            <a:noFill/>
          </a:ln>
        </p:spPr>
      </p:sp>
      <p:sp>
        <p:nvSpPr>
          <p:cNvPr id="25" name="Text 25"/>
          <p:cNvSpPr txBox="1"/>
          <p:nvPr/>
        </p:nvSpPr>
        <p:spPr>
          <a:xfrm>
            <a:off x="673100" y="5715000"/>
            <a:ext cx="10795000" cy="37134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800" b="1">
                <a:solidFill>
                  <a:srgbClr val="FFFFFF"/>
                </a:solidFill>
                <a:latin typeface="Arial"/>
              </a:rPr>
              <a:t>APPROVAL reserves stock. Only COMPLETION deducts physical inventory.</a:t>
            </a:r>
            <a:endParaRPr sz="1800"/>
          </a:p>
        </p:txBody>
      </p:sp>
      <p:sp>
        <p:nvSpPr>
          <p:cNvPr id="26" name="Text 26"/>
          <p:cNvSpPr txBox="1"/>
          <p:nvPr/>
        </p:nvSpPr>
        <p:spPr>
          <a:xfrm>
            <a:off x="457200" y="6540500"/>
            <a:ext cx="9652000" cy="23647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900" b="0">
                <a:solidFill>
                  <a:srgbClr val="536B7D"/>
                </a:solidFill>
                <a:latin typeface="Arial"/>
              </a:rPr>
              <a:t>MACHINECARE | LOCAL PILOT | 19 OCT 2026</a:t>
            </a:r>
            <a:endParaRPr sz="900"/>
          </a:p>
        </p:txBody>
      </p:sp>
      <p:sp>
        <p:nvSpPr>
          <p:cNvPr id="27" name="Text 27"/>
          <p:cNvSpPr txBox="1"/>
          <p:nvPr/>
        </p:nvSpPr>
        <p:spPr>
          <a:xfrm>
            <a:off x="11303000" y="6451600"/>
            <a:ext cx="508000" cy="2814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200" b="1">
                <a:solidFill>
                  <a:srgbClr val="007F80"/>
                </a:solidFill>
                <a:latin typeface="Arial"/>
              </a:rPr>
              <a:t>10</a:t>
            </a:r>
            <a:endParaRPr sz="12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457200" y="279400"/>
            <a:ext cx="11176000" cy="26644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100" b="1">
                <a:solidFill>
                  <a:srgbClr val="007F80"/>
                </a:solidFill>
                <a:latin typeface="Arial"/>
              </a:rPr>
              <a:t>10 / APPROVALS</a:t>
            </a:r>
            <a:endParaRPr sz="1100"/>
          </a:p>
        </p:txBody>
      </p:sp>
      <p:sp>
        <p:nvSpPr>
          <p:cNvPr id="3" name="Text 3"/>
          <p:cNvSpPr txBox="1"/>
          <p:nvPr/>
        </p:nvSpPr>
        <p:spPr>
          <a:xfrm>
            <a:off x="457200" y="685800"/>
            <a:ext cx="11277600" cy="53619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2900" b="1">
                <a:solidFill>
                  <a:srgbClr val="17344E"/>
                </a:solidFill>
                <a:latin typeface="Arial"/>
              </a:rPr>
              <a:t>Review work before recording completion</a:t>
            </a:r>
            <a:endParaRPr sz="2900"/>
          </a:p>
        </p:txBody>
      </p:sp>
      <p:sp>
        <p:nvSpPr>
          <p:cNvPr id="4" name="Panel 4"/>
          <p:cNvSpPr/>
          <p:nvPr/>
        </p:nvSpPr>
        <p:spPr>
          <a:xfrm>
            <a:off x="457200" y="1676400"/>
            <a:ext cx="7035800" cy="46355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5" name="Panel 5"/>
          <p:cNvSpPr/>
          <p:nvPr/>
        </p:nvSpPr>
        <p:spPr>
          <a:xfrm>
            <a:off x="558800" y="1778000"/>
            <a:ext cx="6832600" cy="4432300"/>
          </a:xfrm>
          <a:prstGeom prst="roundRect">
            <a:avLst/>
          </a:prstGeom>
          <a:solidFill>
            <a:srgbClr val="E1EAF0"/>
          </a:solidFill>
          <a:ln>
            <a:noFill/>
          </a:ln>
        </p:spPr>
      </p:sp>
      <p:sp>
        <p:nvSpPr>
          <p:cNvPr id="6" name="Text 6"/>
          <p:cNvSpPr txBox="1"/>
          <p:nvPr/>
        </p:nvSpPr>
        <p:spPr>
          <a:xfrm>
            <a:off x="749300" y="2095500"/>
            <a:ext cx="6451600" cy="35636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700" b="0">
                <a:solidFill>
                  <a:srgbClr val="17344E"/>
                </a:solidFill>
                <a:latin typeface="Arial"/>
              </a:rPr>
              <a:t>Screenshot capture pending</a:t>
            </a:r>
            <a:endParaRPr sz="1700"/>
          </a:p>
        </p:txBody>
      </p:sp>
      <p:sp>
        <p:nvSpPr>
          <p:cNvPr id="7" name="Text 7"/>
          <p:cNvSpPr txBox="1"/>
          <p:nvPr/>
        </p:nvSpPr>
        <p:spPr>
          <a:xfrm>
            <a:off x="7848600" y="1841500"/>
            <a:ext cx="3810000" cy="46126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2400" b="1">
                <a:solidFill>
                  <a:srgbClr val="007F80"/>
                </a:solidFill>
                <a:latin typeface="Arial"/>
              </a:rPr>
              <a:t>Visibility before deduction</a:t>
            </a:r>
            <a:endParaRPr sz="2400"/>
          </a:p>
        </p:txBody>
      </p:sp>
      <p:sp>
        <p:nvSpPr>
          <p:cNvPr id="8" name="Panel 8"/>
          <p:cNvSpPr/>
          <p:nvPr/>
        </p:nvSpPr>
        <p:spPr>
          <a:xfrm>
            <a:off x="7848600" y="3175000"/>
            <a:ext cx="330200" cy="330200"/>
          </a:xfrm>
          <a:prstGeom prst="roundRect">
            <a:avLst/>
          </a:prstGeom>
          <a:solidFill>
            <a:srgbClr val="007F80"/>
          </a:solidFill>
          <a:ln>
            <a:noFill/>
          </a:ln>
        </p:spPr>
      </p:sp>
      <p:sp>
        <p:nvSpPr>
          <p:cNvPr id="9" name="Text 9"/>
          <p:cNvSpPr txBox="1"/>
          <p:nvPr/>
        </p:nvSpPr>
        <p:spPr>
          <a:xfrm>
            <a:off x="7950200" y="3213100"/>
            <a:ext cx="254000" cy="3114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400" b="1">
                <a:solidFill>
                  <a:srgbClr val="FFFFFF"/>
                </a:solidFill>
                <a:latin typeface="Arial"/>
              </a:rPr>
              <a:t>1</a:t>
            </a:r>
            <a:endParaRPr sz="1400"/>
          </a:p>
        </p:txBody>
      </p:sp>
      <p:sp>
        <p:nvSpPr>
          <p:cNvPr id="10" name="Text 10"/>
          <p:cNvSpPr txBox="1"/>
          <p:nvPr/>
        </p:nvSpPr>
        <p:spPr>
          <a:xfrm>
            <a:off x="8318500" y="3175000"/>
            <a:ext cx="3302000" cy="34137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600" b="0">
                <a:solidFill>
                  <a:srgbClr val="17344E"/>
                </a:solidFill>
                <a:latin typeface="Arial"/>
              </a:rPr>
              <a:t>Pending versus approved work</a:t>
            </a:r>
            <a:endParaRPr sz="1600"/>
          </a:p>
        </p:txBody>
      </p:sp>
      <p:sp>
        <p:nvSpPr>
          <p:cNvPr id="11" name="Panel 11"/>
          <p:cNvSpPr/>
          <p:nvPr/>
        </p:nvSpPr>
        <p:spPr>
          <a:xfrm>
            <a:off x="7848600" y="4152900"/>
            <a:ext cx="330200" cy="330200"/>
          </a:xfrm>
          <a:prstGeom prst="roundRect">
            <a:avLst/>
          </a:prstGeom>
          <a:solidFill>
            <a:srgbClr val="007F80"/>
          </a:solidFill>
          <a:ln>
            <a:noFill/>
          </a:ln>
        </p:spPr>
      </p:sp>
      <p:sp>
        <p:nvSpPr>
          <p:cNvPr id="12" name="Text 12"/>
          <p:cNvSpPr txBox="1"/>
          <p:nvPr/>
        </p:nvSpPr>
        <p:spPr>
          <a:xfrm>
            <a:off x="7950200" y="4191000"/>
            <a:ext cx="254000" cy="3114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400" b="1">
                <a:solidFill>
                  <a:srgbClr val="FFFFFF"/>
                </a:solidFill>
                <a:latin typeface="Arial"/>
              </a:rPr>
              <a:t>2</a:t>
            </a:r>
            <a:endParaRPr sz="1400"/>
          </a:p>
        </p:txBody>
      </p:sp>
      <p:sp>
        <p:nvSpPr>
          <p:cNvPr id="13" name="Text 13"/>
          <p:cNvSpPr txBox="1"/>
          <p:nvPr/>
        </p:nvSpPr>
        <p:spPr>
          <a:xfrm>
            <a:off x="8318500" y="4152900"/>
            <a:ext cx="3302000" cy="34137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600" b="0">
                <a:solidFill>
                  <a:srgbClr val="17344E"/>
                </a:solidFill>
                <a:latin typeface="Arial"/>
              </a:rPr>
              <a:t>Early-work explanations and review</a:t>
            </a:r>
            <a:endParaRPr sz="1600"/>
          </a:p>
        </p:txBody>
      </p:sp>
      <p:sp>
        <p:nvSpPr>
          <p:cNvPr id="14" name="Panel 14"/>
          <p:cNvSpPr/>
          <p:nvPr/>
        </p:nvSpPr>
        <p:spPr>
          <a:xfrm>
            <a:off x="7848600" y="5130800"/>
            <a:ext cx="330200" cy="330200"/>
          </a:xfrm>
          <a:prstGeom prst="roundRect">
            <a:avLst/>
          </a:prstGeom>
          <a:solidFill>
            <a:srgbClr val="007F80"/>
          </a:solidFill>
          <a:ln>
            <a:noFill/>
          </a:ln>
        </p:spPr>
      </p:sp>
      <p:sp>
        <p:nvSpPr>
          <p:cNvPr id="15" name="Text 15"/>
          <p:cNvSpPr txBox="1"/>
          <p:nvPr/>
        </p:nvSpPr>
        <p:spPr>
          <a:xfrm>
            <a:off x="7950200" y="5168900"/>
            <a:ext cx="254000" cy="3114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400" b="1">
                <a:solidFill>
                  <a:srgbClr val="FFFFFF"/>
                </a:solidFill>
                <a:latin typeface="Arial"/>
              </a:rPr>
              <a:t>3</a:t>
            </a:r>
            <a:endParaRPr sz="1400"/>
          </a:p>
        </p:txBody>
      </p:sp>
      <p:sp>
        <p:nvSpPr>
          <p:cNvPr id="16" name="Text 16"/>
          <p:cNvSpPr txBox="1"/>
          <p:nvPr/>
        </p:nvSpPr>
        <p:spPr>
          <a:xfrm>
            <a:off x="8318500" y="5130800"/>
            <a:ext cx="3302000" cy="5811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600" b="0">
                <a:solidFill>
                  <a:srgbClr val="17344E"/>
                </a:solidFill>
                <a:latin typeface="Arial"/>
              </a:rPr>
              <a:t>Completion and cancellation</a:t>
            </a:r>
            <a:endParaRPr sz="1600"/>
          </a:p>
          <a:p>
            <a:pPr>
              <a:lnSpc>
                <a:spcPct val="118000"/>
              </a:lnSpc>
            </a:pPr>
            <a:r>
              <a:rPr lang="en-US" sz="1600" b="0">
                <a:solidFill>
                  <a:srgbClr val="17344E"/>
                </a:solidFill>
                <a:latin typeface="Arial"/>
              </a:rPr>
              <a:t>controls</a:t>
            </a:r>
            <a:endParaRPr sz="1600"/>
          </a:p>
        </p:txBody>
      </p:sp>
      <p:sp>
        <p:nvSpPr>
          <p:cNvPr id="17" name="Text 17"/>
          <p:cNvSpPr txBox="1"/>
          <p:nvPr/>
        </p:nvSpPr>
        <p:spPr>
          <a:xfrm>
            <a:off x="457200" y="6540500"/>
            <a:ext cx="9652000" cy="23647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900" b="0">
                <a:solidFill>
                  <a:srgbClr val="536B7D"/>
                </a:solidFill>
                <a:latin typeface="Arial"/>
              </a:rPr>
              <a:t>MACHINECARE | LOCAL PILOT | 19 OCT 2026</a:t>
            </a:r>
            <a:endParaRPr sz="900"/>
          </a:p>
        </p:txBody>
      </p:sp>
      <p:sp>
        <p:nvSpPr>
          <p:cNvPr id="18" name="Text 18"/>
          <p:cNvSpPr txBox="1"/>
          <p:nvPr/>
        </p:nvSpPr>
        <p:spPr>
          <a:xfrm>
            <a:off x="11303000" y="6451600"/>
            <a:ext cx="508000" cy="2814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200" b="1">
                <a:solidFill>
                  <a:srgbClr val="007F80"/>
                </a:solidFill>
                <a:latin typeface="Arial"/>
              </a:rPr>
              <a:t>11</a:t>
            </a:r>
            <a:endParaRPr sz="12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457200" y="279400"/>
            <a:ext cx="11176000" cy="26644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100" b="1">
                <a:solidFill>
                  <a:srgbClr val="007F80"/>
                </a:solidFill>
                <a:latin typeface="Arial"/>
              </a:rPr>
              <a:t>11 / TRACEABILITY</a:t>
            </a:r>
            <a:endParaRPr sz="1100"/>
          </a:p>
        </p:txBody>
      </p:sp>
      <p:sp>
        <p:nvSpPr>
          <p:cNvPr id="3" name="Text 3"/>
          <p:cNvSpPr txBox="1"/>
          <p:nvPr/>
        </p:nvSpPr>
        <p:spPr>
          <a:xfrm>
            <a:off x="457200" y="685800"/>
            <a:ext cx="11277600" cy="53619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2900" b="1">
                <a:solidFill>
                  <a:srgbClr val="17344E"/>
                </a:solidFill>
                <a:latin typeface="Arial"/>
              </a:rPr>
              <a:t>History keeps the replacement context</a:t>
            </a:r>
            <a:endParaRPr sz="2900"/>
          </a:p>
        </p:txBody>
      </p:sp>
      <p:sp>
        <p:nvSpPr>
          <p:cNvPr id="4" name="Panel 4"/>
          <p:cNvSpPr/>
          <p:nvPr/>
        </p:nvSpPr>
        <p:spPr>
          <a:xfrm>
            <a:off x="457200" y="1676400"/>
            <a:ext cx="7035800" cy="46355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5" name="Panel 5"/>
          <p:cNvSpPr/>
          <p:nvPr/>
        </p:nvSpPr>
        <p:spPr>
          <a:xfrm>
            <a:off x="558800" y="1778000"/>
            <a:ext cx="6832600" cy="4432300"/>
          </a:xfrm>
          <a:prstGeom prst="roundRect">
            <a:avLst/>
          </a:prstGeom>
          <a:solidFill>
            <a:srgbClr val="E1EAF0"/>
          </a:solidFill>
          <a:ln>
            <a:noFill/>
          </a:ln>
        </p:spPr>
      </p:sp>
      <p:sp>
        <p:nvSpPr>
          <p:cNvPr id="6" name="Text 6"/>
          <p:cNvSpPr txBox="1"/>
          <p:nvPr/>
        </p:nvSpPr>
        <p:spPr>
          <a:xfrm>
            <a:off x="749300" y="2095500"/>
            <a:ext cx="6451600" cy="35636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700" b="0">
                <a:solidFill>
                  <a:srgbClr val="17344E"/>
                </a:solidFill>
                <a:latin typeface="Arial"/>
              </a:rPr>
              <a:t>Screenshot capture pending</a:t>
            </a:r>
            <a:endParaRPr sz="1700"/>
          </a:p>
        </p:txBody>
      </p:sp>
      <p:sp>
        <p:nvSpPr>
          <p:cNvPr id="7" name="Text 7"/>
          <p:cNvSpPr txBox="1"/>
          <p:nvPr/>
        </p:nvSpPr>
        <p:spPr>
          <a:xfrm>
            <a:off x="7848600" y="1841500"/>
            <a:ext cx="3810000" cy="46126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2400" b="1">
                <a:solidFill>
                  <a:srgbClr val="007F80"/>
                </a:solidFill>
                <a:latin typeface="Arial"/>
              </a:rPr>
              <a:t>A record you can explain</a:t>
            </a:r>
            <a:endParaRPr sz="2400"/>
          </a:p>
        </p:txBody>
      </p:sp>
      <p:sp>
        <p:nvSpPr>
          <p:cNvPr id="8" name="Panel 8"/>
          <p:cNvSpPr/>
          <p:nvPr/>
        </p:nvSpPr>
        <p:spPr>
          <a:xfrm>
            <a:off x="7848600" y="3175000"/>
            <a:ext cx="330200" cy="330200"/>
          </a:xfrm>
          <a:prstGeom prst="roundRect">
            <a:avLst/>
          </a:prstGeom>
          <a:solidFill>
            <a:srgbClr val="007F80"/>
          </a:solidFill>
          <a:ln>
            <a:noFill/>
          </a:ln>
        </p:spPr>
      </p:sp>
      <p:sp>
        <p:nvSpPr>
          <p:cNvPr id="9" name="Text 9"/>
          <p:cNvSpPr txBox="1"/>
          <p:nvPr/>
        </p:nvSpPr>
        <p:spPr>
          <a:xfrm>
            <a:off x="7950200" y="3213100"/>
            <a:ext cx="254000" cy="3114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400" b="1">
                <a:solidFill>
                  <a:srgbClr val="FFFFFF"/>
                </a:solidFill>
                <a:latin typeface="Arial"/>
              </a:rPr>
              <a:t>1</a:t>
            </a:r>
            <a:endParaRPr sz="1400"/>
          </a:p>
        </p:txBody>
      </p:sp>
      <p:sp>
        <p:nvSpPr>
          <p:cNvPr id="10" name="Text 10"/>
          <p:cNvSpPr txBox="1"/>
          <p:nvPr/>
        </p:nvSpPr>
        <p:spPr>
          <a:xfrm>
            <a:off x="8318500" y="3175000"/>
            <a:ext cx="3302000" cy="34137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600" b="0">
                <a:solidFill>
                  <a:srgbClr val="17344E"/>
                </a:solidFill>
                <a:latin typeface="Arial"/>
              </a:rPr>
              <a:t>Who completed the work and when</a:t>
            </a:r>
            <a:endParaRPr sz="1600"/>
          </a:p>
        </p:txBody>
      </p:sp>
      <p:sp>
        <p:nvSpPr>
          <p:cNvPr id="11" name="Panel 11"/>
          <p:cNvSpPr/>
          <p:nvPr/>
        </p:nvSpPr>
        <p:spPr>
          <a:xfrm>
            <a:off x="7848600" y="4152900"/>
            <a:ext cx="330200" cy="330200"/>
          </a:xfrm>
          <a:prstGeom prst="roundRect">
            <a:avLst/>
          </a:prstGeom>
          <a:solidFill>
            <a:srgbClr val="007F80"/>
          </a:solidFill>
          <a:ln>
            <a:noFill/>
          </a:ln>
        </p:spPr>
      </p:sp>
      <p:sp>
        <p:nvSpPr>
          <p:cNvPr id="12" name="Text 12"/>
          <p:cNvSpPr txBox="1"/>
          <p:nvPr/>
        </p:nvSpPr>
        <p:spPr>
          <a:xfrm>
            <a:off x="7950200" y="4191000"/>
            <a:ext cx="254000" cy="3114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400" b="1">
                <a:solidFill>
                  <a:srgbClr val="FFFFFF"/>
                </a:solidFill>
                <a:latin typeface="Arial"/>
              </a:rPr>
              <a:t>2</a:t>
            </a:r>
            <a:endParaRPr sz="1400"/>
          </a:p>
        </p:txBody>
      </p:sp>
      <p:sp>
        <p:nvSpPr>
          <p:cNvPr id="13" name="Text 13"/>
          <p:cNvSpPr txBox="1"/>
          <p:nvPr/>
        </p:nvSpPr>
        <p:spPr>
          <a:xfrm>
            <a:off x="8318500" y="4152900"/>
            <a:ext cx="3302000" cy="34137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600" b="0">
                <a:solidFill>
                  <a:srgbClr val="17344E"/>
                </a:solidFill>
                <a:latin typeface="Arial"/>
              </a:rPr>
              <a:t>Part, quantity and captured location</a:t>
            </a:r>
            <a:endParaRPr sz="1600"/>
          </a:p>
        </p:txBody>
      </p:sp>
      <p:sp>
        <p:nvSpPr>
          <p:cNvPr id="14" name="Panel 14"/>
          <p:cNvSpPr/>
          <p:nvPr/>
        </p:nvSpPr>
        <p:spPr>
          <a:xfrm>
            <a:off x="7848600" y="5130800"/>
            <a:ext cx="330200" cy="330200"/>
          </a:xfrm>
          <a:prstGeom prst="roundRect">
            <a:avLst/>
          </a:prstGeom>
          <a:solidFill>
            <a:srgbClr val="007F80"/>
          </a:solidFill>
          <a:ln>
            <a:noFill/>
          </a:ln>
        </p:spPr>
      </p:sp>
      <p:sp>
        <p:nvSpPr>
          <p:cNvPr id="15" name="Text 15"/>
          <p:cNvSpPr txBox="1"/>
          <p:nvPr/>
        </p:nvSpPr>
        <p:spPr>
          <a:xfrm>
            <a:off x="7950200" y="5168900"/>
            <a:ext cx="254000" cy="3114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400" b="1">
                <a:solidFill>
                  <a:srgbClr val="FFFFFF"/>
                </a:solidFill>
                <a:latin typeface="Arial"/>
              </a:rPr>
              <a:t>3</a:t>
            </a:r>
            <a:endParaRPr sz="1400"/>
          </a:p>
        </p:txBody>
      </p:sp>
      <p:sp>
        <p:nvSpPr>
          <p:cNvPr id="16" name="Text 16"/>
          <p:cNvSpPr txBox="1"/>
          <p:nvPr/>
        </p:nvSpPr>
        <p:spPr>
          <a:xfrm>
            <a:off x="8318500" y="5130800"/>
            <a:ext cx="3302000" cy="34137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600" b="0">
                <a:solidFill>
                  <a:srgbClr val="17344E"/>
                </a:solidFill>
                <a:latin typeface="Arial"/>
              </a:rPr>
              <a:t>Historical cost snapshot retained</a:t>
            </a:r>
            <a:endParaRPr sz="1600"/>
          </a:p>
        </p:txBody>
      </p:sp>
      <p:sp>
        <p:nvSpPr>
          <p:cNvPr id="17" name="Text 17"/>
          <p:cNvSpPr txBox="1"/>
          <p:nvPr/>
        </p:nvSpPr>
        <p:spPr>
          <a:xfrm>
            <a:off x="457200" y="6540500"/>
            <a:ext cx="9652000" cy="23647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900" b="0">
                <a:solidFill>
                  <a:srgbClr val="536B7D"/>
                </a:solidFill>
                <a:latin typeface="Arial"/>
              </a:rPr>
              <a:t>MACHINECARE | LOCAL PILOT | 19 OCT 2026</a:t>
            </a:r>
            <a:endParaRPr sz="900"/>
          </a:p>
        </p:txBody>
      </p:sp>
      <p:sp>
        <p:nvSpPr>
          <p:cNvPr id="18" name="Text 18"/>
          <p:cNvSpPr txBox="1"/>
          <p:nvPr/>
        </p:nvSpPr>
        <p:spPr>
          <a:xfrm>
            <a:off x="11303000" y="6451600"/>
            <a:ext cx="508000" cy="2814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200" b="1">
                <a:solidFill>
                  <a:srgbClr val="007F80"/>
                </a:solidFill>
                <a:latin typeface="Arial"/>
              </a:rPr>
              <a:t>12</a:t>
            </a:r>
            <a:endParaRPr sz="12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457200" y="279400"/>
            <a:ext cx="11176000" cy="26644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100" b="1">
                <a:solidFill>
                  <a:srgbClr val="007F80"/>
                </a:solidFill>
                <a:latin typeface="Arial"/>
              </a:rPr>
              <a:t>12 / PURCHASING</a:t>
            </a:r>
            <a:endParaRPr sz="1100"/>
          </a:p>
        </p:txBody>
      </p:sp>
      <p:sp>
        <p:nvSpPr>
          <p:cNvPr id="3" name="Text 3"/>
          <p:cNvSpPr txBox="1"/>
          <p:nvPr/>
        </p:nvSpPr>
        <p:spPr>
          <a:xfrm>
            <a:off x="457200" y="685800"/>
            <a:ext cx="11277600" cy="53619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2900" b="1">
                <a:solidFill>
                  <a:srgbClr val="17344E"/>
                </a:solidFill>
                <a:latin typeface="Arial"/>
              </a:rPr>
              <a:t>Purchasing connects shortages to receipts</a:t>
            </a:r>
            <a:endParaRPr sz="2900"/>
          </a:p>
        </p:txBody>
      </p:sp>
      <p:sp>
        <p:nvSpPr>
          <p:cNvPr id="4" name="Panel 4"/>
          <p:cNvSpPr/>
          <p:nvPr/>
        </p:nvSpPr>
        <p:spPr>
          <a:xfrm>
            <a:off x="457200" y="1676400"/>
            <a:ext cx="7035800" cy="46355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5" name="Panel 5"/>
          <p:cNvSpPr/>
          <p:nvPr/>
        </p:nvSpPr>
        <p:spPr>
          <a:xfrm>
            <a:off x="558800" y="1778000"/>
            <a:ext cx="6832600" cy="4432300"/>
          </a:xfrm>
          <a:prstGeom prst="roundRect">
            <a:avLst/>
          </a:prstGeom>
          <a:solidFill>
            <a:srgbClr val="E1EAF0"/>
          </a:solidFill>
          <a:ln>
            <a:noFill/>
          </a:ln>
        </p:spPr>
      </p:sp>
      <p:sp>
        <p:nvSpPr>
          <p:cNvPr id="6" name="Text 6"/>
          <p:cNvSpPr txBox="1"/>
          <p:nvPr/>
        </p:nvSpPr>
        <p:spPr>
          <a:xfrm>
            <a:off x="749300" y="2095500"/>
            <a:ext cx="6451600" cy="35636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700" b="0">
                <a:solidFill>
                  <a:srgbClr val="17344E"/>
                </a:solidFill>
                <a:latin typeface="Arial"/>
              </a:rPr>
              <a:t>Screenshot capture pending</a:t>
            </a:r>
            <a:endParaRPr sz="1700"/>
          </a:p>
        </p:txBody>
      </p:sp>
      <p:sp>
        <p:nvSpPr>
          <p:cNvPr id="7" name="Text 7"/>
          <p:cNvSpPr txBox="1"/>
          <p:nvPr/>
        </p:nvSpPr>
        <p:spPr>
          <a:xfrm>
            <a:off x="7848600" y="1841500"/>
            <a:ext cx="3810000" cy="46126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2400" b="1">
                <a:solidFill>
                  <a:srgbClr val="007F80"/>
                </a:solidFill>
                <a:latin typeface="Arial"/>
              </a:rPr>
              <a:t>Ordering is not receiving</a:t>
            </a:r>
            <a:endParaRPr sz="2400"/>
          </a:p>
        </p:txBody>
      </p:sp>
      <p:sp>
        <p:nvSpPr>
          <p:cNvPr id="8" name="Panel 8"/>
          <p:cNvSpPr/>
          <p:nvPr/>
        </p:nvSpPr>
        <p:spPr>
          <a:xfrm>
            <a:off x="7848600" y="3175000"/>
            <a:ext cx="330200" cy="330200"/>
          </a:xfrm>
          <a:prstGeom prst="roundRect">
            <a:avLst/>
          </a:prstGeom>
          <a:solidFill>
            <a:srgbClr val="007F80"/>
          </a:solidFill>
          <a:ln>
            <a:noFill/>
          </a:ln>
        </p:spPr>
      </p:sp>
      <p:sp>
        <p:nvSpPr>
          <p:cNvPr id="9" name="Text 9"/>
          <p:cNvSpPr txBox="1"/>
          <p:nvPr/>
        </p:nvSpPr>
        <p:spPr>
          <a:xfrm>
            <a:off x="7950200" y="3213100"/>
            <a:ext cx="254000" cy="3114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400" b="1">
                <a:solidFill>
                  <a:srgbClr val="FFFFFF"/>
                </a:solidFill>
                <a:latin typeface="Arial"/>
              </a:rPr>
              <a:t>1</a:t>
            </a:r>
            <a:endParaRPr sz="1400"/>
          </a:p>
        </p:txBody>
      </p:sp>
      <p:sp>
        <p:nvSpPr>
          <p:cNvPr id="10" name="Text 10"/>
          <p:cNvSpPr txBox="1"/>
          <p:nvPr/>
        </p:nvSpPr>
        <p:spPr>
          <a:xfrm>
            <a:off x="8318500" y="3175000"/>
            <a:ext cx="3302000" cy="34137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600" b="0">
                <a:solidFill>
                  <a:srgbClr val="17344E"/>
                </a:solidFill>
                <a:latin typeface="Arial"/>
              </a:rPr>
              <a:t>Lead requests start approved</a:t>
            </a:r>
            <a:endParaRPr sz="1600"/>
          </a:p>
        </p:txBody>
      </p:sp>
      <p:sp>
        <p:nvSpPr>
          <p:cNvPr id="11" name="Panel 11"/>
          <p:cNvSpPr/>
          <p:nvPr/>
        </p:nvSpPr>
        <p:spPr>
          <a:xfrm>
            <a:off x="7848600" y="4152900"/>
            <a:ext cx="330200" cy="330200"/>
          </a:xfrm>
          <a:prstGeom prst="roundRect">
            <a:avLst/>
          </a:prstGeom>
          <a:solidFill>
            <a:srgbClr val="007F80"/>
          </a:solidFill>
          <a:ln>
            <a:noFill/>
          </a:ln>
        </p:spPr>
      </p:sp>
      <p:sp>
        <p:nvSpPr>
          <p:cNvPr id="12" name="Text 12"/>
          <p:cNvSpPr txBox="1"/>
          <p:nvPr/>
        </p:nvSpPr>
        <p:spPr>
          <a:xfrm>
            <a:off x="7950200" y="4191000"/>
            <a:ext cx="254000" cy="3114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400" b="1">
                <a:solidFill>
                  <a:srgbClr val="FFFFFF"/>
                </a:solidFill>
                <a:latin typeface="Arial"/>
              </a:rPr>
              <a:t>2</a:t>
            </a:r>
            <a:endParaRPr sz="1400"/>
          </a:p>
        </p:txBody>
      </p:sp>
      <p:sp>
        <p:nvSpPr>
          <p:cNvPr id="13" name="Text 13"/>
          <p:cNvSpPr txBox="1"/>
          <p:nvPr/>
        </p:nvSpPr>
        <p:spPr>
          <a:xfrm>
            <a:off x="8318500" y="4152900"/>
            <a:ext cx="3302000" cy="34137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600" b="0">
                <a:solidFill>
                  <a:srgbClr val="17344E"/>
                </a:solidFill>
                <a:latin typeface="Arial"/>
              </a:rPr>
              <a:t>Track orders and partial deliveries</a:t>
            </a:r>
            <a:endParaRPr sz="1600"/>
          </a:p>
        </p:txBody>
      </p:sp>
      <p:sp>
        <p:nvSpPr>
          <p:cNvPr id="14" name="Panel 14"/>
          <p:cNvSpPr/>
          <p:nvPr/>
        </p:nvSpPr>
        <p:spPr>
          <a:xfrm>
            <a:off x="7848600" y="5130800"/>
            <a:ext cx="330200" cy="330200"/>
          </a:xfrm>
          <a:prstGeom prst="roundRect">
            <a:avLst/>
          </a:prstGeom>
          <a:solidFill>
            <a:srgbClr val="007F80"/>
          </a:solidFill>
          <a:ln>
            <a:noFill/>
          </a:ln>
        </p:spPr>
      </p:sp>
      <p:sp>
        <p:nvSpPr>
          <p:cNvPr id="15" name="Text 15"/>
          <p:cNvSpPr txBox="1"/>
          <p:nvPr/>
        </p:nvSpPr>
        <p:spPr>
          <a:xfrm>
            <a:off x="7950200" y="5168900"/>
            <a:ext cx="254000" cy="3114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400" b="1">
                <a:solidFill>
                  <a:srgbClr val="FFFFFF"/>
                </a:solidFill>
                <a:latin typeface="Arial"/>
              </a:rPr>
              <a:t>3</a:t>
            </a:r>
            <a:endParaRPr sz="1400"/>
          </a:p>
        </p:txBody>
      </p:sp>
      <p:sp>
        <p:nvSpPr>
          <p:cNvPr id="16" name="Text 16"/>
          <p:cNvSpPr txBox="1"/>
          <p:nvPr/>
        </p:nvSpPr>
        <p:spPr>
          <a:xfrm>
            <a:off x="8318500" y="5130800"/>
            <a:ext cx="3302000" cy="34137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600" b="0">
                <a:solidFill>
                  <a:srgbClr val="17344E"/>
                </a:solidFill>
                <a:latin typeface="Arial"/>
              </a:rPr>
              <a:t>Only receipts add physical stock</a:t>
            </a:r>
            <a:endParaRPr sz="1600"/>
          </a:p>
        </p:txBody>
      </p:sp>
      <p:sp>
        <p:nvSpPr>
          <p:cNvPr id="17" name="Text 17"/>
          <p:cNvSpPr txBox="1"/>
          <p:nvPr/>
        </p:nvSpPr>
        <p:spPr>
          <a:xfrm>
            <a:off x="457200" y="6540500"/>
            <a:ext cx="9652000" cy="23647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900" b="0">
                <a:solidFill>
                  <a:srgbClr val="536B7D"/>
                </a:solidFill>
                <a:latin typeface="Arial"/>
              </a:rPr>
              <a:t>MACHINECARE | LOCAL PILOT | 19 OCT 2026</a:t>
            </a:r>
            <a:endParaRPr sz="900"/>
          </a:p>
        </p:txBody>
      </p:sp>
      <p:sp>
        <p:nvSpPr>
          <p:cNvPr id="18" name="Text 18"/>
          <p:cNvSpPr txBox="1"/>
          <p:nvPr/>
        </p:nvSpPr>
        <p:spPr>
          <a:xfrm>
            <a:off x="11303000" y="6451600"/>
            <a:ext cx="508000" cy="2814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200" b="1">
                <a:solidFill>
                  <a:srgbClr val="007F80"/>
                </a:solidFill>
                <a:latin typeface="Arial"/>
              </a:rPr>
              <a:t>13</a:t>
            </a:r>
            <a:endParaRPr sz="12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457200" y="279400"/>
            <a:ext cx="11176000" cy="26644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100" b="1">
                <a:solidFill>
                  <a:srgbClr val="007F80"/>
                </a:solidFill>
                <a:latin typeface="Arial"/>
              </a:rPr>
              <a:t>13 / REPORTING</a:t>
            </a:r>
            <a:endParaRPr sz="1100"/>
          </a:p>
        </p:txBody>
      </p:sp>
      <p:sp>
        <p:nvSpPr>
          <p:cNvPr id="3" name="Text 3"/>
          <p:cNvSpPr txBox="1"/>
          <p:nvPr/>
        </p:nvSpPr>
        <p:spPr>
          <a:xfrm>
            <a:off x="457200" y="685800"/>
            <a:ext cx="11277600" cy="53619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2900" b="1">
                <a:solidFill>
                  <a:srgbClr val="17344E"/>
                </a:solidFill>
                <a:latin typeface="Arial"/>
              </a:rPr>
              <a:t>Reports make the records usable</a:t>
            </a:r>
            <a:endParaRPr sz="2900"/>
          </a:p>
        </p:txBody>
      </p:sp>
      <p:sp>
        <p:nvSpPr>
          <p:cNvPr id="4" name="Panel 4"/>
          <p:cNvSpPr/>
          <p:nvPr/>
        </p:nvSpPr>
        <p:spPr>
          <a:xfrm>
            <a:off x="457200" y="1676400"/>
            <a:ext cx="7035800" cy="46355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5" name="Panel 5"/>
          <p:cNvSpPr/>
          <p:nvPr/>
        </p:nvSpPr>
        <p:spPr>
          <a:xfrm>
            <a:off x="558800" y="1778000"/>
            <a:ext cx="6832600" cy="4432300"/>
          </a:xfrm>
          <a:prstGeom prst="roundRect">
            <a:avLst/>
          </a:prstGeom>
          <a:solidFill>
            <a:srgbClr val="E1EAF0"/>
          </a:solidFill>
          <a:ln>
            <a:noFill/>
          </a:ln>
        </p:spPr>
      </p:sp>
      <p:sp>
        <p:nvSpPr>
          <p:cNvPr id="6" name="Text 6"/>
          <p:cNvSpPr txBox="1"/>
          <p:nvPr/>
        </p:nvSpPr>
        <p:spPr>
          <a:xfrm>
            <a:off x="749300" y="2095500"/>
            <a:ext cx="6451600" cy="35636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700" b="0">
                <a:solidFill>
                  <a:srgbClr val="17344E"/>
                </a:solidFill>
                <a:latin typeface="Arial"/>
              </a:rPr>
              <a:t>Screenshot capture pending</a:t>
            </a:r>
            <a:endParaRPr sz="1700"/>
          </a:p>
        </p:txBody>
      </p:sp>
      <p:sp>
        <p:nvSpPr>
          <p:cNvPr id="7" name="Text 7"/>
          <p:cNvSpPr txBox="1"/>
          <p:nvPr/>
        </p:nvSpPr>
        <p:spPr>
          <a:xfrm>
            <a:off x="7848600" y="1841500"/>
            <a:ext cx="3810000" cy="8209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2400" b="1">
                <a:solidFill>
                  <a:srgbClr val="007F80"/>
                </a:solidFill>
                <a:latin typeface="Arial"/>
              </a:rPr>
              <a:t>From operational view to</a:t>
            </a:r>
            <a:endParaRPr sz="2400"/>
          </a:p>
          <a:p>
            <a:pPr>
              <a:lnSpc>
                <a:spcPct val="118000"/>
              </a:lnSpc>
            </a:pPr>
            <a:r>
              <a:rPr lang="en-US" sz="2400" b="1">
                <a:solidFill>
                  <a:srgbClr val="007F80"/>
                </a:solidFill>
                <a:latin typeface="Arial"/>
              </a:rPr>
              <a:t>CSV</a:t>
            </a:r>
            <a:endParaRPr sz="2400"/>
          </a:p>
        </p:txBody>
      </p:sp>
      <p:sp>
        <p:nvSpPr>
          <p:cNvPr id="8" name="Panel 8"/>
          <p:cNvSpPr/>
          <p:nvPr/>
        </p:nvSpPr>
        <p:spPr>
          <a:xfrm>
            <a:off x="7848600" y="3175000"/>
            <a:ext cx="330200" cy="330200"/>
          </a:xfrm>
          <a:prstGeom prst="roundRect">
            <a:avLst/>
          </a:prstGeom>
          <a:solidFill>
            <a:srgbClr val="007F80"/>
          </a:solidFill>
          <a:ln>
            <a:noFill/>
          </a:ln>
        </p:spPr>
      </p:sp>
      <p:sp>
        <p:nvSpPr>
          <p:cNvPr id="9" name="Text 9"/>
          <p:cNvSpPr txBox="1"/>
          <p:nvPr/>
        </p:nvSpPr>
        <p:spPr>
          <a:xfrm>
            <a:off x="7950200" y="3213100"/>
            <a:ext cx="254000" cy="3114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400" b="1">
                <a:solidFill>
                  <a:srgbClr val="FFFFFF"/>
                </a:solidFill>
                <a:latin typeface="Arial"/>
              </a:rPr>
              <a:t>1</a:t>
            </a:r>
            <a:endParaRPr sz="1400"/>
          </a:p>
        </p:txBody>
      </p:sp>
      <p:sp>
        <p:nvSpPr>
          <p:cNvPr id="10" name="Text 10"/>
          <p:cNvSpPr txBox="1"/>
          <p:nvPr/>
        </p:nvSpPr>
        <p:spPr>
          <a:xfrm>
            <a:off x="8318500" y="3175000"/>
            <a:ext cx="3302000" cy="5811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600" b="0">
                <a:solidFill>
                  <a:srgbClr val="17344E"/>
                </a:solidFill>
                <a:latin typeface="Arial"/>
              </a:rPr>
              <a:t>Maintenance outlook and repeated</a:t>
            </a:r>
            <a:endParaRPr sz="1600"/>
          </a:p>
          <a:p>
            <a:pPr>
              <a:lnSpc>
                <a:spcPct val="118000"/>
              </a:lnSpc>
            </a:pPr>
            <a:r>
              <a:rPr lang="en-US" sz="1600" b="0">
                <a:solidFill>
                  <a:srgbClr val="17344E"/>
                </a:solidFill>
                <a:latin typeface="Arial"/>
              </a:rPr>
              <a:t>early work</a:t>
            </a:r>
            <a:endParaRPr sz="1600"/>
          </a:p>
        </p:txBody>
      </p:sp>
      <p:sp>
        <p:nvSpPr>
          <p:cNvPr id="11" name="Panel 11"/>
          <p:cNvSpPr/>
          <p:nvPr/>
        </p:nvSpPr>
        <p:spPr>
          <a:xfrm>
            <a:off x="7848600" y="4152900"/>
            <a:ext cx="330200" cy="330200"/>
          </a:xfrm>
          <a:prstGeom prst="roundRect">
            <a:avLst/>
          </a:prstGeom>
          <a:solidFill>
            <a:srgbClr val="007F80"/>
          </a:solidFill>
          <a:ln>
            <a:noFill/>
          </a:ln>
        </p:spPr>
      </p:sp>
      <p:sp>
        <p:nvSpPr>
          <p:cNvPr id="12" name="Text 12"/>
          <p:cNvSpPr txBox="1"/>
          <p:nvPr/>
        </p:nvSpPr>
        <p:spPr>
          <a:xfrm>
            <a:off x="7950200" y="4191000"/>
            <a:ext cx="254000" cy="3114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400" b="1">
                <a:solidFill>
                  <a:srgbClr val="FFFFFF"/>
                </a:solidFill>
                <a:latin typeface="Arial"/>
              </a:rPr>
              <a:t>2</a:t>
            </a:r>
            <a:endParaRPr sz="1400"/>
          </a:p>
        </p:txBody>
      </p:sp>
      <p:sp>
        <p:nvSpPr>
          <p:cNvPr id="13" name="Text 13"/>
          <p:cNvSpPr txBox="1"/>
          <p:nvPr/>
        </p:nvSpPr>
        <p:spPr>
          <a:xfrm>
            <a:off x="8318500" y="4152900"/>
            <a:ext cx="3302000" cy="5811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600" b="0">
                <a:solidFill>
                  <a:srgbClr val="17344E"/>
                </a:solidFill>
                <a:latin typeface="Arial"/>
              </a:rPr>
              <a:t>Inventory, purchasing and history</a:t>
            </a:r>
            <a:endParaRPr sz="1600"/>
          </a:p>
          <a:p>
            <a:pPr>
              <a:lnSpc>
                <a:spcPct val="118000"/>
              </a:lnSpc>
            </a:pPr>
            <a:r>
              <a:rPr lang="en-US" sz="1600" b="0">
                <a:solidFill>
                  <a:srgbClr val="17344E"/>
                </a:solidFill>
                <a:latin typeface="Arial"/>
              </a:rPr>
              <a:t>exports</a:t>
            </a:r>
            <a:endParaRPr sz="1600"/>
          </a:p>
        </p:txBody>
      </p:sp>
      <p:sp>
        <p:nvSpPr>
          <p:cNvPr id="14" name="Panel 14"/>
          <p:cNvSpPr/>
          <p:nvPr/>
        </p:nvSpPr>
        <p:spPr>
          <a:xfrm>
            <a:off x="7848600" y="5130800"/>
            <a:ext cx="330200" cy="330200"/>
          </a:xfrm>
          <a:prstGeom prst="roundRect">
            <a:avLst/>
          </a:prstGeom>
          <a:solidFill>
            <a:srgbClr val="007F80"/>
          </a:solidFill>
          <a:ln>
            <a:noFill/>
          </a:ln>
        </p:spPr>
      </p:sp>
      <p:sp>
        <p:nvSpPr>
          <p:cNvPr id="15" name="Text 15"/>
          <p:cNvSpPr txBox="1"/>
          <p:nvPr/>
        </p:nvSpPr>
        <p:spPr>
          <a:xfrm>
            <a:off x="7950200" y="5168900"/>
            <a:ext cx="254000" cy="3114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400" b="1">
                <a:solidFill>
                  <a:srgbClr val="FFFFFF"/>
                </a:solidFill>
                <a:latin typeface="Arial"/>
              </a:rPr>
              <a:t>3</a:t>
            </a:r>
            <a:endParaRPr sz="1400"/>
          </a:p>
        </p:txBody>
      </p:sp>
      <p:sp>
        <p:nvSpPr>
          <p:cNvPr id="16" name="Text 16"/>
          <p:cNvSpPr txBox="1"/>
          <p:nvPr/>
        </p:nvSpPr>
        <p:spPr>
          <a:xfrm>
            <a:off x="8318500" y="5130800"/>
            <a:ext cx="3302000" cy="34137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600" b="0">
                <a:solidFill>
                  <a:srgbClr val="17344E"/>
                </a:solidFill>
                <a:latin typeface="Arial"/>
              </a:rPr>
              <a:t>Role-based visibility and filters</a:t>
            </a:r>
            <a:endParaRPr sz="1600"/>
          </a:p>
        </p:txBody>
      </p:sp>
      <p:sp>
        <p:nvSpPr>
          <p:cNvPr id="17" name="Text 17"/>
          <p:cNvSpPr txBox="1"/>
          <p:nvPr/>
        </p:nvSpPr>
        <p:spPr>
          <a:xfrm>
            <a:off x="457200" y="6540500"/>
            <a:ext cx="9652000" cy="23647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900" b="0">
                <a:solidFill>
                  <a:srgbClr val="536B7D"/>
                </a:solidFill>
                <a:latin typeface="Arial"/>
              </a:rPr>
              <a:t>MACHINECARE | LOCAL PILOT | 19 OCT 2026</a:t>
            </a:r>
            <a:endParaRPr sz="900"/>
          </a:p>
        </p:txBody>
      </p:sp>
      <p:sp>
        <p:nvSpPr>
          <p:cNvPr id="18" name="Text 18"/>
          <p:cNvSpPr txBox="1"/>
          <p:nvPr/>
        </p:nvSpPr>
        <p:spPr>
          <a:xfrm>
            <a:off x="11303000" y="6451600"/>
            <a:ext cx="508000" cy="2814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200" b="1">
                <a:solidFill>
                  <a:srgbClr val="007F80"/>
                </a:solidFill>
                <a:latin typeface="Arial"/>
              </a:rPr>
              <a:t>14</a:t>
            </a:r>
            <a:endParaRPr sz="12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457200" y="279400"/>
            <a:ext cx="11176000" cy="26644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100" b="1">
                <a:solidFill>
                  <a:srgbClr val="007F80"/>
                </a:solidFill>
                <a:latin typeface="Arial"/>
              </a:rPr>
              <a:t>14 / STOCK LEDGER</a:t>
            </a:r>
            <a:endParaRPr sz="1100"/>
          </a:p>
        </p:txBody>
      </p:sp>
      <p:sp>
        <p:nvSpPr>
          <p:cNvPr id="3" name="Text 3"/>
          <p:cNvSpPr txBox="1"/>
          <p:nvPr/>
        </p:nvSpPr>
        <p:spPr>
          <a:xfrm>
            <a:off x="457200" y="685800"/>
            <a:ext cx="11277600" cy="53619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2900" b="1">
                <a:solidFill>
                  <a:srgbClr val="17344E"/>
                </a:solidFill>
                <a:latin typeface="Arial"/>
              </a:rPr>
              <a:t>Stock movements remain explainable</a:t>
            </a:r>
            <a:endParaRPr sz="2900"/>
          </a:p>
        </p:txBody>
      </p:sp>
      <p:sp>
        <p:nvSpPr>
          <p:cNvPr id="4" name="Panel 4"/>
          <p:cNvSpPr/>
          <p:nvPr/>
        </p:nvSpPr>
        <p:spPr>
          <a:xfrm>
            <a:off x="457200" y="1676400"/>
            <a:ext cx="7035800" cy="46355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5" name="Panel 5"/>
          <p:cNvSpPr/>
          <p:nvPr/>
        </p:nvSpPr>
        <p:spPr>
          <a:xfrm>
            <a:off x="558800" y="1778000"/>
            <a:ext cx="6832600" cy="4432300"/>
          </a:xfrm>
          <a:prstGeom prst="roundRect">
            <a:avLst/>
          </a:prstGeom>
          <a:solidFill>
            <a:srgbClr val="E1EAF0"/>
          </a:solidFill>
          <a:ln>
            <a:noFill/>
          </a:ln>
        </p:spPr>
      </p:sp>
      <p:sp>
        <p:nvSpPr>
          <p:cNvPr id="6" name="Text 6"/>
          <p:cNvSpPr txBox="1"/>
          <p:nvPr/>
        </p:nvSpPr>
        <p:spPr>
          <a:xfrm>
            <a:off x="749300" y="2095500"/>
            <a:ext cx="6451600" cy="35636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700" b="0">
                <a:solidFill>
                  <a:srgbClr val="17344E"/>
                </a:solidFill>
                <a:latin typeface="Arial"/>
              </a:rPr>
              <a:t>Screenshot capture pending</a:t>
            </a:r>
            <a:endParaRPr sz="1700"/>
          </a:p>
        </p:txBody>
      </p:sp>
      <p:sp>
        <p:nvSpPr>
          <p:cNvPr id="7" name="Text 7"/>
          <p:cNvSpPr txBox="1"/>
          <p:nvPr/>
        </p:nvSpPr>
        <p:spPr>
          <a:xfrm>
            <a:off x="7848600" y="1841500"/>
            <a:ext cx="3810000" cy="8209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2400" b="1">
                <a:solidFill>
                  <a:srgbClr val="007F80"/>
                </a:solidFill>
                <a:latin typeface="Arial"/>
              </a:rPr>
              <a:t>Every movement has</a:t>
            </a:r>
            <a:endParaRPr sz="2400"/>
          </a:p>
          <a:p>
            <a:pPr>
              <a:lnSpc>
                <a:spcPct val="118000"/>
              </a:lnSpc>
            </a:pPr>
            <a:r>
              <a:rPr lang="en-US" sz="2400" b="1">
                <a:solidFill>
                  <a:srgbClr val="007F80"/>
                </a:solidFill>
                <a:latin typeface="Arial"/>
              </a:rPr>
              <a:t>context</a:t>
            </a:r>
            <a:endParaRPr sz="2400"/>
          </a:p>
        </p:txBody>
      </p:sp>
      <p:sp>
        <p:nvSpPr>
          <p:cNvPr id="8" name="Panel 8"/>
          <p:cNvSpPr/>
          <p:nvPr/>
        </p:nvSpPr>
        <p:spPr>
          <a:xfrm>
            <a:off x="7848600" y="3175000"/>
            <a:ext cx="330200" cy="330200"/>
          </a:xfrm>
          <a:prstGeom prst="roundRect">
            <a:avLst/>
          </a:prstGeom>
          <a:solidFill>
            <a:srgbClr val="007F80"/>
          </a:solidFill>
          <a:ln>
            <a:noFill/>
          </a:ln>
        </p:spPr>
      </p:sp>
      <p:sp>
        <p:nvSpPr>
          <p:cNvPr id="9" name="Text 9"/>
          <p:cNvSpPr txBox="1"/>
          <p:nvPr/>
        </p:nvSpPr>
        <p:spPr>
          <a:xfrm>
            <a:off x="7950200" y="3213100"/>
            <a:ext cx="254000" cy="3114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400" b="1">
                <a:solidFill>
                  <a:srgbClr val="FFFFFF"/>
                </a:solidFill>
                <a:latin typeface="Arial"/>
              </a:rPr>
              <a:t>1</a:t>
            </a:r>
            <a:endParaRPr sz="1400"/>
          </a:p>
        </p:txBody>
      </p:sp>
      <p:sp>
        <p:nvSpPr>
          <p:cNvPr id="10" name="Text 10"/>
          <p:cNvSpPr txBox="1"/>
          <p:nvPr/>
        </p:nvSpPr>
        <p:spPr>
          <a:xfrm>
            <a:off x="8318500" y="3175000"/>
            <a:ext cx="3302000" cy="5811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600" b="0">
                <a:solidFill>
                  <a:srgbClr val="17344E"/>
                </a:solidFill>
                <a:latin typeface="Arial"/>
              </a:rPr>
              <a:t>Opening balances, receipts and</a:t>
            </a:r>
            <a:endParaRPr sz="1600"/>
          </a:p>
          <a:p>
            <a:pPr>
              <a:lnSpc>
                <a:spcPct val="118000"/>
              </a:lnSpc>
            </a:pPr>
            <a:r>
              <a:rPr lang="en-US" sz="1600" b="0">
                <a:solidFill>
                  <a:srgbClr val="17344E"/>
                </a:solidFill>
                <a:latin typeface="Arial"/>
              </a:rPr>
              <a:t>adjustments</a:t>
            </a:r>
            <a:endParaRPr sz="1600"/>
          </a:p>
        </p:txBody>
      </p:sp>
      <p:sp>
        <p:nvSpPr>
          <p:cNvPr id="11" name="Panel 11"/>
          <p:cNvSpPr/>
          <p:nvPr/>
        </p:nvSpPr>
        <p:spPr>
          <a:xfrm>
            <a:off x="7848600" y="4152900"/>
            <a:ext cx="330200" cy="330200"/>
          </a:xfrm>
          <a:prstGeom prst="roundRect">
            <a:avLst/>
          </a:prstGeom>
          <a:solidFill>
            <a:srgbClr val="007F80"/>
          </a:solidFill>
          <a:ln>
            <a:noFill/>
          </a:ln>
        </p:spPr>
      </p:sp>
      <p:sp>
        <p:nvSpPr>
          <p:cNvPr id="12" name="Text 12"/>
          <p:cNvSpPr txBox="1"/>
          <p:nvPr/>
        </p:nvSpPr>
        <p:spPr>
          <a:xfrm>
            <a:off x="7950200" y="4191000"/>
            <a:ext cx="254000" cy="3114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400" b="1">
                <a:solidFill>
                  <a:srgbClr val="FFFFFF"/>
                </a:solidFill>
                <a:latin typeface="Arial"/>
              </a:rPr>
              <a:t>2</a:t>
            </a:r>
            <a:endParaRPr sz="1400"/>
          </a:p>
        </p:txBody>
      </p:sp>
      <p:sp>
        <p:nvSpPr>
          <p:cNvPr id="13" name="Text 13"/>
          <p:cNvSpPr txBox="1"/>
          <p:nvPr/>
        </p:nvSpPr>
        <p:spPr>
          <a:xfrm>
            <a:off x="8318500" y="4152900"/>
            <a:ext cx="3302000" cy="34137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600" b="0">
                <a:solidFill>
                  <a:srgbClr val="17344E"/>
                </a:solidFill>
                <a:latin typeface="Arial"/>
              </a:rPr>
              <a:t>Completion deductions</a:t>
            </a:r>
            <a:endParaRPr sz="1600"/>
          </a:p>
        </p:txBody>
      </p:sp>
      <p:sp>
        <p:nvSpPr>
          <p:cNvPr id="14" name="Panel 14"/>
          <p:cNvSpPr/>
          <p:nvPr/>
        </p:nvSpPr>
        <p:spPr>
          <a:xfrm>
            <a:off x="7848600" y="5130800"/>
            <a:ext cx="330200" cy="330200"/>
          </a:xfrm>
          <a:prstGeom prst="roundRect">
            <a:avLst/>
          </a:prstGeom>
          <a:solidFill>
            <a:srgbClr val="007F80"/>
          </a:solidFill>
          <a:ln>
            <a:noFill/>
          </a:ln>
        </p:spPr>
      </p:sp>
      <p:sp>
        <p:nvSpPr>
          <p:cNvPr id="15" name="Text 15"/>
          <p:cNvSpPr txBox="1"/>
          <p:nvPr/>
        </p:nvSpPr>
        <p:spPr>
          <a:xfrm>
            <a:off x="7950200" y="5168900"/>
            <a:ext cx="254000" cy="31140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400" b="1">
                <a:solidFill>
                  <a:srgbClr val="FFFFFF"/>
                </a:solidFill>
                <a:latin typeface="Arial"/>
              </a:rPr>
              <a:t>3</a:t>
            </a:r>
            <a:endParaRPr sz="1400"/>
          </a:p>
        </p:txBody>
      </p:sp>
      <p:sp>
        <p:nvSpPr>
          <p:cNvPr id="16" name="Text 16"/>
          <p:cNvSpPr txBox="1"/>
          <p:nvPr/>
        </p:nvSpPr>
        <p:spPr>
          <a:xfrm>
            <a:off x="8318500" y="5130800"/>
            <a:ext cx="3302000" cy="34137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600" b="0">
                <a:solidFill>
                  <a:srgbClr val="17344E"/>
                </a:solidFill>
                <a:latin typeface="Arial"/>
              </a:rPr>
              <a:t>Actor, reason and running balance</a:t>
            </a:r>
            <a:endParaRPr sz="1600"/>
          </a:p>
        </p:txBody>
      </p:sp>
      <p:sp>
        <p:nvSpPr>
          <p:cNvPr id="17" name="Text 17"/>
          <p:cNvSpPr txBox="1"/>
          <p:nvPr/>
        </p:nvSpPr>
        <p:spPr>
          <a:xfrm>
            <a:off x="457200" y="6540500"/>
            <a:ext cx="9652000" cy="23647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900" b="0">
                <a:solidFill>
                  <a:srgbClr val="536B7D"/>
                </a:solidFill>
                <a:latin typeface="Arial"/>
              </a:rPr>
              <a:t>MACHINECARE | LOCAL PILOT | 19 OCT 2026</a:t>
            </a:r>
            <a:endParaRPr sz="900"/>
          </a:p>
        </p:txBody>
      </p:sp>
      <p:sp>
        <p:nvSpPr>
          <p:cNvPr id="18" name="Text 18"/>
          <p:cNvSpPr txBox="1"/>
          <p:nvPr/>
        </p:nvSpPr>
        <p:spPr>
          <a:xfrm>
            <a:off x="11303000" y="6451600"/>
            <a:ext cx="508000" cy="2814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200" b="1">
                <a:solidFill>
                  <a:srgbClr val="007F80"/>
                </a:solidFill>
                <a:latin typeface="Arial"/>
              </a:rPr>
              <a:t>15</a:t>
            </a:r>
            <a:endParaRPr sz="12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457200" y="279400"/>
            <a:ext cx="11176000" cy="26644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100" b="1">
                <a:solidFill>
                  <a:srgbClr val="007F80"/>
                </a:solidFill>
                <a:latin typeface="Arial"/>
              </a:rPr>
              <a:t>15 / CONFIDENCE</a:t>
            </a:r>
            <a:endParaRPr sz="1100"/>
          </a:p>
        </p:txBody>
      </p:sp>
      <p:sp>
        <p:nvSpPr>
          <p:cNvPr id="3" name="Text 3"/>
          <p:cNvSpPr txBox="1"/>
          <p:nvPr/>
        </p:nvSpPr>
        <p:spPr>
          <a:xfrm>
            <a:off x="457200" y="685800"/>
            <a:ext cx="11277600" cy="53619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2900" b="1">
                <a:solidFill>
                  <a:srgbClr val="17344E"/>
                </a:solidFill>
                <a:latin typeface="Arial"/>
              </a:rPr>
              <a:t>Be precise about what the data tells us</a:t>
            </a:r>
            <a:endParaRPr sz="2900"/>
          </a:p>
        </p:txBody>
      </p:sp>
      <p:sp>
        <p:nvSpPr>
          <p:cNvPr id="4" name="Panel 4"/>
          <p:cNvSpPr/>
          <p:nvPr/>
        </p:nvSpPr>
        <p:spPr>
          <a:xfrm>
            <a:off x="457200" y="1841500"/>
            <a:ext cx="3581400" cy="4064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5" name="Panel 5"/>
          <p:cNvSpPr/>
          <p:nvPr/>
        </p:nvSpPr>
        <p:spPr>
          <a:xfrm>
            <a:off x="457200" y="1841500"/>
            <a:ext cx="63500" cy="4064000"/>
          </a:xfrm>
          <a:prstGeom prst="rect">
            <a:avLst/>
          </a:prstGeom>
          <a:solidFill>
            <a:srgbClr val="007F80"/>
          </a:solidFill>
          <a:ln>
            <a:noFill/>
          </a:ln>
        </p:spPr>
      </p:sp>
      <p:sp>
        <p:nvSpPr>
          <p:cNvPr id="6" name="Text 6"/>
          <p:cNvSpPr txBox="1"/>
          <p:nvPr/>
        </p:nvSpPr>
        <p:spPr>
          <a:xfrm>
            <a:off x="685800" y="2044700"/>
            <a:ext cx="3124200" cy="37134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800" b="1">
                <a:solidFill>
                  <a:srgbClr val="007F80"/>
                </a:solidFill>
                <a:latin typeface="Arial"/>
              </a:rPr>
              <a:t>SUPPLIED / CONFIRMED</a:t>
            </a:r>
            <a:endParaRPr sz="1800"/>
          </a:p>
        </p:txBody>
      </p:sp>
      <p:sp>
        <p:nvSpPr>
          <p:cNvPr id="7" name="Text 7"/>
          <p:cNvSpPr txBox="1"/>
          <p:nvPr/>
        </p:nvSpPr>
        <p:spPr>
          <a:xfrm>
            <a:off x="685800" y="2806700"/>
            <a:ext cx="3124200" cy="1000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500" b="0">
                <a:solidFill>
                  <a:srgbClr val="536B7D"/>
                </a:solidFill>
                <a:latin typeface="Arial"/>
              </a:rPr>
              <a:t>Names and stated makers</a:t>
            </a:r>
            <a:endParaRPr sz="1500"/>
          </a:p>
          <a:p>
            <a:pPr>
              <a:lnSpc>
                <a:spcPct val="118000"/>
              </a:lnSpc>
            </a:pPr>
            <a:r>
              <a:rPr lang="en-US" sz="1500" b="0">
                <a:solidFill>
                  <a:srgbClr val="536B7D"/>
                </a:solidFill>
                <a:latin typeface="Arial"/>
              </a:rPr>
              <a:t>Model / serial references</a:t>
            </a:r>
            <a:endParaRPr sz="1500"/>
          </a:p>
          <a:p>
            <a:pPr>
              <a:lnSpc>
                <a:spcPct val="118000"/>
              </a:lnSpc>
            </a:pPr>
            <a:r>
              <a:rPr lang="en-US" sz="1500" b="0">
                <a:solidFill>
                  <a:srgbClr val="536B7D"/>
                </a:solidFill>
                <a:latin typeface="Arial"/>
              </a:rPr>
              <a:t>Installed component counts</a:t>
            </a:r>
            <a:endParaRPr sz="1500"/>
          </a:p>
          <a:p>
            <a:pPr>
              <a:lnSpc>
                <a:spcPct val="118000"/>
              </a:lnSpc>
            </a:pPr>
            <a:r>
              <a:rPr lang="en-US" sz="1500" b="0">
                <a:solidFill>
                  <a:srgbClr val="536B7D"/>
                </a:solidFill>
                <a:latin typeface="Arial"/>
              </a:rPr>
              <a:t>2 DIMMs + 1 AOI per line</a:t>
            </a:r>
            <a:endParaRPr sz="1500"/>
          </a:p>
        </p:txBody>
      </p:sp>
      <p:sp>
        <p:nvSpPr>
          <p:cNvPr id="8" name="Panel 8"/>
          <p:cNvSpPr/>
          <p:nvPr/>
        </p:nvSpPr>
        <p:spPr>
          <a:xfrm>
            <a:off x="4305300" y="1841500"/>
            <a:ext cx="3581400" cy="4064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9" name="Panel 9"/>
          <p:cNvSpPr/>
          <p:nvPr/>
        </p:nvSpPr>
        <p:spPr>
          <a:xfrm>
            <a:off x="4305300" y="1841500"/>
            <a:ext cx="63500" cy="4064000"/>
          </a:xfrm>
          <a:prstGeom prst="rect">
            <a:avLst/>
          </a:prstGeom>
          <a:solidFill>
            <a:srgbClr val="355F8A"/>
          </a:solidFill>
          <a:ln>
            <a:noFill/>
          </a:ln>
        </p:spPr>
      </p:sp>
      <p:sp>
        <p:nvSpPr>
          <p:cNvPr id="10" name="Text 10"/>
          <p:cNvSpPr txBox="1"/>
          <p:nvPr/>
        </p:nvSpPr>
        <p:spPr>
          <a:xfrm>
            <a:off x="4533900" y="2044700"/>
            <a:ext cx="3124200" cy="37134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800" b="1">
                <a:solidFill>
                  <a:srgbClr val="355F8A"/>
                </a:solidFill>
                <a:latin typeface="Arial"/>
              </a:rPr>
              <a:t>ILLUSTRATIVE</a:t>
            </a:r>
            <a:endParaRPr sz="1800"/>
          </a:p>
        </p:txBody>
      </p:sp>
      <p:sp>
        <p:nvSpPr>
          <p:cNvPr id="11" name="Text 11"/>
          <p:cNvSpPr txBox="1"/>
          <p:nvPr/>
        </p:nvSpPr>
        <p:spPr>
          <a:xfrm>
            <a:off x="4533900" y="2806700"/>
            <a:ext cx="3124200" cy="1000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500" b="0">
                <a:solidFill>
                  <a:srgbClr val="536B7D"/>
                </a:solidFill>
                <a:latin typeface="Arial"/>
              </a:rPr>
              <a:t>Spare stock and targets</a:t>
            </a:r>
            <a:endParaRPr sz="1500"/>
          </a:p>
          <a:p>
            <a:pPr>
              <a:lnSpc>
                <a:spcPct val="118000"/>
              </a:lnSpc>
            </a:pPr>
            <a:r>
              <a:rPr lang="en-US" sz="1500" b="0">
                <a:solidFill>
                  <a:srgbClr val="536B7D"/>
                </a:solidFill>
                <a:latin typeface="Arial"/>
              </a:rPr>
              <a:t>New tags and stations</a:t>
            </a:r>
            <a:endParaRPr sz="1500"/>
          </a:p>
          <a:p>
            <a:pPr>
              <a:lnSpc>
                <a:spcPct val="118000"/>
              </a:lnSpc>
            </a:pPr>
            <a:r>
              <a:rPr lang="en-US" sz="1500" b="0">
                <a:solidFill>
                  <a:srgbClr val="536B7D"/>
                </a:solidFill>
                <a:latin typeface="Arial"/>
              </a:rPr>
              <a:t>New operating statuses</a:t>
            </a:r>
            <a:endParaRPr sz="1500"/>
          </a:p>
          <a:p>
            <a:pPr>
              <a:lnSpc>
                <a:spcPct val="118000"/>
              </a:lnSpc>
            </a:pPr>
            <a:r>
              <a:rPr lang="en-US" sz="1500" b="0">
                <a:solidFill>
                  <a:srgbClr val="536B7D"/>
                </a:solidFill>
                <a:latin typeface="Arial"/>
              </a:rPr>
              <a:t>Demo replacement intervals</a:t>
            </a:r>
            <a:endParaRPr sz="1500"/>
          </a:p>
        </p:txBody>
      </p:sp>
      <p:sp>
        <p:nvSpPr>
          <p:cNvPr id="12" name="Panel 12"/>
          <p:cNvSpPr/>
          <p:nvPr/>
        </p:nvSpPr>
        <p:spPr>
          <a:xfrm>
            <a:off x="8153400" y="1841500"/>
            <a:ext cx="3581400" cy="4064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3" name="Panel 13"/>
          <p:cNvSpPr/>
          <p:nvPr/>
        </p:nvSpPr>
        <p:spPr>
          <a:xfrm>
            <a:off x="8153400" y="1841500"/>
            <a:ext cx="63500" cy="4064000"/>
          </a:xfrm>
          <a:prstGeom prst="rect">
            <a:avLst/>
          </a:prstGeom>
          <a:solidFill>
            <a:srgbClr val="B06A09"/>
          </a:solidFill>
          <a:ln>
            <a:noFill/>
          </a:ln>
        </p:spPr>
      </p:sp>
      <p:sp>
        <p:nvSpPr>
          <p:cNvPr id="14" name="Text 14"/>
          <p:cNvSpPr txBox="1"/>
          <p:nvPr/>
        </p:nvSpPr>
        <p:spPr>
          <a:xfrm>
            <a:off x="8382000" y="2044700"/>
            <a:ext cx="3124200" cy="37134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800" b="1">
                <a:solidFill>
                  <a:srgbClr val="B06A09"/>
                </a:solidFill>
                <a:latin typeface="Arial"/>
              </a:rPr>
              <a:t>STILL TO VERIFY</a:t>
            </a:r>
            <a:endParaRPr sz="1800"/>
          </a:p>
        </p:txBody>
      </p:sp>
      <p:sp>
        <p:nvSpPr>
          <p:cNvPr id="15" name="Text 15"/>
          <p:cNvSpPr txBox="1"/>
          <p:nvPr/>
        </p:nvSpPr>
        <p:spPr>
          <a:xfrm>
            <a:off x="8382000" y="2806700"/>
            <a:ext cx="3124200" cy="1000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500" b="0">
                <a:solidFill>
                  <a:srgbClr val="536B7D"/>
                </a:solidFill>
                <a:latin typeface="Arial"/>
              </a:rPr>
              <a:t>Actual bins and prices</a:t>
            </a:r>
            <a:endParaRPr sz="1500"/>
          </a:p>
          <a:p>
            <a:pPr>
              <a:lnSpc>
                <a:spcPct val="118000"/>
              </a:lnSpc>
            </a:pPr>
            <a:r>
              <a:rPr lang="en-US" sz="1500" b="0">
                <a:solidFill>
                  <a:srgbClr val="536B7D"/>
                </a:solidFill>
                <a:latin typeface="Arial"/>
              </a:rPr>
              <a:t>Suppliers and lead times</a:t>
            </a:r>
            <a:endParaRPr sz="1500"/>
          </a:p>
          <a:p>
            <a:pPr>
              <a:lnSpc>
                <a:spcPct val="118000"/>
              </a:lnSpc>
            </a:pPr>
            <a:r>
              <a:rPr lang="en-US" sz="1500" b="0">
                <a:solidFill>
                  <a:srgbClr val="536B7D"/>
                </a:solidFill>
                <a:latin typeface="Arial"/>
              </a:rPr>
              <a:t>Nameplate spellings</a:t>
            </a:r>
            <a:endParaRPr sz="1500"/>
          </a:p>
          <a:p>
            <a:pPr>
              <a:lnSpc>
                <a:spcPct val="118000"/>
              </a:lnSpc>
            </a:pPr>
            <a:r>
              <a:rPr lang="en-US" sz="1500" b="0">
                <a:solidFill>
                  <a:srgbClr val="536B7D"/>
                </a:solidFill>
                <a:latin typeface="Arial"/>
              </a:rPr>
              <a:t>Physical inventory</a:t>
            </a:r>
            <a:endParaRPr sz="1500"/>
          </a:p>
        </p:txBody>
      </p:sp>
      <p:sp>
        <p:nvSpPr>
          <p:cNvPr id="16" name="Text 16"/>
          <p:cNvSpPr txBox="1"/>
          <p:nvPr/>
        </p:nvSpPr>
        <p:spPr>
          <a:xfrm>
            <a:off x="457200" y="6540500"/>
            <a:ext cx="9652000" cy="23647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900" b="0">
                <a:solidFill>
                  <a:srgbClr val="536B7D"/>
                </a:solidFill>
                <a:latin typeface="Arial"/>
              </a:rPr>
              <a:t>MACHINECARE | LOCAL PILOT | 19 OCT 2026</a:t>
            </a:r>
            <a:endParaRPr sz="900"/>
          </a:p>
        </p:txBody>
      </p:sp>
      <p:sp>
        <p:nvSpPr>
          <p:cNvPr id="17" name="Text 17"/>
          <p:cNvSpPr txBox="1"/>
          <p:nvPr/>
        </p:nvSpPr>
        <p:spPr>
          <a:xfrm>
            <a:off x="11303000" y="6451600"/>
            <a:ext cx="508000" cy="2814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200" b="1">
                <a:solidFill>
                  <a:srgbClr val="007F80"/>
                </a:solidFill>
                <a:latin typeface="Arial"/>
              </a:rPr>
              <a:t>16</a:t>
            </a:r>
            <a:endParaRPr sz="12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457200" y="279400"/>
            <a:ext cx="11176000" cy="26644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100" b="1">
                <a:solidFill>
                  <a:srgbClr val="007F80"/>
                </a:solidFill>
                <a:latin typeface="Arial"/>
              </a:rPr>
              <a:t>16 / ARCHITECTURE</a:t>
            </a:r>
            <a:endParaRPr sz="1100"/>
          </a:p>
        </p:txBody>
      </p:sp>
      <p:sp>
        <p:nvSpPr>
          <p:cNvPr id="3" name="Text 3"/>
          <p:cNvSpPr txBox="1"/>
          <p:nvPr/>
        </p:nvSpPr>
        <p:spPr>
          <a:xfrm>
            <a:off x="457200" y="685800"/>
            <a:ext cx="11277600" cy="53619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2900" b="1">
                <a:solidFill>
                  <a:srgbClr val="17344E"/>
                </a:solidFill>
                <a:latin typeface="Arial"/>
              </a:rPr>
              <a:t>Working pilot; integrations need activation</a:t>
            </a:r>
            <a:endParaRPr sz="2900"/>
          </a:p>
        </p:txBody>
      </p:sp>
      <p:sp>
        <p:nvSpPr>
          <p:cNvPr id="4" name="Panel 4"/>
          <p:cNvSpPr/>
          <p:nvPr/>
        </p:nvSpPr>
        <p:spPr>
          <a:xfrm>
            <a:off x="457200" y="1803400"/>
            <a:ext cx="3581400" cy="264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5" name="Panel 5"/>
          <p:cNvSpPr/>
          <p:nvPr/>
        </p:nvSpPr>
        <p:spPr>
          <a:xfrm>
            <a:off x="457200" y="1803400"/>
            <a:ext cx="63500" cy="2641600"/>
          </a:xfrm>
          <a:prstGeom prst="rect">
            <a:avLst/>
          </a:prstGeom>
          <a:solidFill>
            <a:srgbClr val="007F80"/>
          </a:solidFill>
          <a:ln>
            <a:noFill/>
          </a:ln>
        </p:spPr>
      </p:sp>
      <p:sp>
        <p:nvSpPr>
          <p:cNvPr id="6" name="Text 6"/>
          <p:cNvSpPr txBox="1"/>
          <p:nvPr/>
        </p:nvSpPr>
        <p:spPr>
          <a:xfrm>
            <a:off x="685800" y="2006600"/>
            <a:ext cx="3124200" cy="37134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800" b="1">
                <a:solidFill>
                  <a:srgbClr val="007F80"/>
                </a:solidFill>
                <a:latin typeface="Arial"/>
              </a:rPr>
              <a:t>Flutter web</a:t>
            </a:r>
            <a:endParaRPr sz="1800"/>
          </a:p>
        </p:txBody>
      </p:sp>
      <p:sp>
        <p:nvSpPr>
          <p:cNvPr id="7" name="Text 7"/>
          <p:cNvSpPr txBox="1"/>
          <p:nvPr/>
        </p:nvSpPr>
        <p:spPr>
          <a:xfrm>
            <a:off x="685800" y="2768600"/>
            <a:ext cx="3124200" cy="32639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500" b="0">
                <a:solidFill>
                  <a:srgbClr val="536B7D"/>
                </a:solidFill>
                <a:latin typeface="Arial"/>
              </a:rPr>
              <a:t>Operator / Lead / Admin</a:t>
            </a:r>
            <a:endParaRPr sz="1500"/>
          </a:p>
        </p:txBody>
      </p:sp>
      <p:sp>
        <p:nvSpPr>
          <p:cNvPr id="8" name="Panel 8"/>
          <p:cNvSpPr/>
          <p:nvPr/>
        </p:nvSpPr>
        <p:spPr>
          <a:xfrm>
            <a:off x="4305300" y="1803400"/>
            <a:ext cx="3581400" cy="264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9" name="Panel 9"/>
          <p:cNvSpPr/>
          <p:nvPr/>
        </p:nvSpPr>
        <p:spPr>
          <a:xfrm>
            <a:off x="4305300" y="1803400"/>
            <a:ext cx="63500" cy="2641600"/>
          </a:xfrm>
          <a:prstGeom prst="rect">
            <a:avLst/>
          </a:prstGeom>
          <a:solidFill>
            <a:srgbClr val="007F80"/>
          </a:solidFill>
          <a:ln>
            <a:noFill/>
          </a:ln>
        </p:spPr>
      </p:sp>
      <p:sp>
        <p:nvSpPr>
          <p:cNvPr id="10" name="Text 10"/>
          <p:cNvSpPr txBox="1"/>
          <p:nvPr/>
        </p:nvSpPr>
        <p:spPr>
          <a:xfrm>
            <a:off x="4533900" y="2006600"/>
            <a:ext cx="3124200" cy="37134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800" b="1">
                <a:solidFill>
                  <a:srgbClr val="007F80"/>
                </a:solidFill>
                <a:latin typeface="Arial"/>
              </a:rPr>
              <a:t>Local API</a:t>
            </a:r>
            <a:endParaRPr sz="1800"/>
          </a:p>
        </p:txBody>
      </p:sp>
      <p:sp>
        <p:nvSpPr>
          <p:cNvPr id="11" name="Text 11"/>
          <p:cNvSpPr txBox="1"/>
          <p:nvPr/>
        </p:nvSpPr>
        <p:spPr>
          <a:xfrm>
            <a:off x="4533900" y="2768600"/>
            <a:ext cx="3124200" cy="32639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500" b="0">
                <a:solidFill>
                  <a:srgbClr val="536B7D"/>
                </a:solidFill>
                <a:latin typeface="Arial"/>
              </a:rPr>
              <a:t>Permissions + transactions</a:t>
            </a:r>
            <a:endParaRPr sz="1500"/>
          </a:p>
        </p:txBody>
      </p:sp>
      <p:sp>
        <p:nvSpPr>
          <p:cNvPr id="12" name="Panel 12"/>
          <p:cNvSpPr/>
          <p:nvPr/>
        </p:nvSpPr>
        <p:spPr>
          <a:xfrm>
            <a:off x="8153400" y="1803400"/>
            <a:ext cx="3581400" cy="264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3" name="Panel 13"/>
          <p:cNvSpPr/>
          <p:nvPr/>
        </p:nvSpPr>
        <p:spPr>
          <a:xfrm>
            <a:off x="8153400" y="1803400"/>
            <a:ext cx="63500" cy="2641600"/>
          </a:xfrm>
          <a:prstGeom prst="rect">
            <a:avLst/>
          </a:prstGeom>
          <a:solidFill>
            <a:srgbClr val="007F80"/>
          </a:solidFill>
          <a:ln>
            <a:noFill/>
          </a:ln>
        </p:spPr>
      </p:sp>
      <p:sp>
        <p:nvSpPr>
          <p:cNvPr id="14" name="Text 14"/>
          <p:cNvSpPr txBox="1"/>
          <p:nvPr/>
        </p:nvSpPr>
        <p:spPr>
          <a:xfrm>
            <a:off x="8382000" y="2006600"/>
            <a:ext cx="3124200" cy="37134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800" b="1">
                <a:solidFill>
                  <a:srgbClr val="007F80"/>
                </a:solidFill>
                <a:latin typeface="Arial"/>
              </a:rPr>
              <a:t>SQLite</a:t>
            </a:r>
            <a:endParaRPr sz="1800"/>
          </a:p>
        </p:txBody>
      </p:sp>
      <p:sp>
        <p:nvSpPr>
          <p:cNvPr id="15" name="Text 15"/>
          <p:cNvSpPr txBox="1"/>
          <p:nvPr/>
        </p:nvSpPr>
        <p:spPr>
          <a:xfrm>
            <a:off x="8382000" y="2768600"/>
            <a:ext cx="3124200" cy="32639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500" b="0">
                <a:solidFill>
                  <a:srgbClr val="536B7D"/>
                </a:solidFill>
                <a:latin typeface="Arial"/>
              </a:rPr>
              <a:t>Inventory + history + audit</a:t>
            </a:r>
            <a:endParaRPr sz="1500"/>
          </a:p>
        </p:txBody>
      </p:sp>
      <p:sp>
        <p:nvSpPr>
          <p:cNvPr id="16" name="Panel 16"/>
          <p:cNvSpPr/>
          <p:nvPr/>
        </p:nvSpPr>
        <p:spPr>
          <a:xfrm>
            <a:off x="457200" y="4851400"/>
            <a:ext cx="5486400" cy="1270000"/>
          </a:xfrm>
          <a:prstGeom prst="roundRect">
            <a:avLst/>
          </a:prstGeom>
          <a:solidFill>
            <a:srgbClr val="102238"/>
          </a:solidFill>
          <a:ln>
            <a:noFill/>
          </a:ln>
        </p:spPr>
      </p:sp>
      <p:sp>
        <p:nvSpPr>
          <p:cNvPr id="17" name="Text 17"/>
          <p:cNvSpPr txBox="1"/>
          <p:nvPr/>
        </p:nvSpPr>
        <p:spPr>
          <a:xfrm>
            <a:off x="685800" y="5067300"/>
            <a:ext cx="4953000" cy="29641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300" b="1">
                <a:solidFill>
                  <a:srgbClr val="33D2BB"/>
                </a:solidFill>
                <a:latin typeface="Arial"/>
              </a:rPr>
              <a:t>AVAILABLE CODE</a:t>
            </a:r>
            <a:endParaRPr sz="1300"/>
          </a:p>
        </p:txBody>
      </p:sp>
      <p:sp>
        <p:nvSpPr>
          <p:cNvPr id="18" name="Text 18"/>
          <p:cNvSpPr txBox="1"/>
          <p:nvPr/>
        </p:nvSpPr>
        <p:spPr>
          <a:xfrm>
            <a:off x="685800" y="5473700"/>
            <a:ext cx="4953000" cy="37134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800" b="0">
                <a:solidFill>
                  <a:srgbClr val="FFFFFF"/>
                </a:solidFill>
                <a:latin typeface="Arial"/>
              </a:rPr>
              <a:t>Backups / alerts / optional TLS email</a:t>
            </a:r>
            <a:endParaRPr sz="1800"/>
          </a:p>
        </p:txBody>
      </p:sp>
      <p:sp>
        <p:nvSpPr>
          <p:cNvPr id="19" name="Panel 19"/>
          <p:cNvSpPr/>
          <p:nvPr/>
        </p:nvSpPr>
        <p:spPr>
          <a:xfrm>
            <a:off x="6223000" y="4851400"/>
            <a:ext cx="5511800" cy="1270000"/>
          </a:xfrm>
          <a:prstGeom prst="roundRect">
            <a:avLst/>
          </a:prstGeom>
          <a:solidFill>
            <a:srgbClr val="FBEBD4"/>
          </a:solidFill>
          <a:ln>
            <a:noFill/>
          </a:ln>
        </p:spPr>
      </p:sp>
      <p:sp>
        <p:nvSpPr>
          <p:cNvPr id="20" name="Text 20"/>
          <p:cNvSpPr txBox="1"/>
          <p:nvPr/>
        </p:nvSpPr>
        <p:spPr>
          <a:xfrm>
            <a:off x="6451600" y="5067300"/>
            <a:ext cx="4953000" cy="29641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300" b="1">
                <a:solidFill>
                  <a:srgbClr val="B06A09"/>
                </a:solidFill>
                <a:latin typeface="Arial"/>
              </a:rPr>
              <a:t>NOT AN ACTIVATED SERVICE</a:t>
            </a:r>
            <a:endParaRPr sz="1300"/>
          </a:p>
        </p:txBody>
      </p:sp>
      <p:sp>
        <p:nvSpPr>
          <p:cNvPr id="21" name="Text 21"/>
          <p:cNvSpPr txBox="1"/>
          <p:nvPr/>
        </p:nvSpPr>
        <p:spPr>
          <a:xfrm>
            <a:off x="6451600" y="5473700"/>
            <a:ext cx="4953000" cy="37134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800" b="0">
                <a:solidFill>
                  <a:srgbClr val="17344E"/>
                </a:solidFill>
                <a:latin typeface="Arial"/>
              </a:rPr>
              <a:t>Needs configuration, owners and testing</a:t>
            </a:r>
            <a:endParaRPr sz="1800"/>
          </a:p>
        </p:txBody>
      </p:sp>
      <p:sp>
        <p:nvSpPr>
          <p:cNvPr id="22" name="Text 22"/>
          <p:cNvSpPr txBox="1"/>
          <p:nvPr/>
        </p:nvSpPr>
        <p:spPr>
          <a:xfrm>
            <a:off x="457200" y="6540500"/>
            <a:ext cx="9652000" cy="23647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900" b="0">
                <a:solidFill>
                  <a:srgbClr val="536B7D"/>
                </a:solidFill>
                <a:latin typeface="Arial"/>
              </a:rPr>
              <a:t>MACHINECARE | LOCAL PILOT | 19 OCT 2026</a:t>
            </a:r>
            <a:endParaRPr sz="900"/>
          </a:p>
        </p:txBody>
      </p:sp>
      <p:sp>
        <p:nvSpPr>
          <p:cNvPr id="23" name="Text 23"/>
          <p:cNvSpPr txBox="1"/>
          <p:nvPr/>
        </p:nvSpPr>
        <p:spPr>
          <a:xfrm>
            <a:off x="11303000" y="6451600"/>
            <a:ext cx="508000" cy="2814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200" b="1">
                <a:solidFill>
                  <a:srgbClr val="007F80"/>
                </a:solidFill>
                <a:latin typeface="Arial"/>
              </a:rPr>
              <a:t>17</a:t>
            </a:r>
            <a:endParaRPr sz="12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457200" y="279400"/>
            <a:ext cx="11176000" cy="26644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100" b="1">
                <a:solidFill>
                  <a:srgbClr val="007F80"/>
                </a:solidFill>
                <a:latin typeface="Arial"/>
              </a:rPr>
              <a:t>17 / PRODUCTION READINESS</a:t>
            </a:r>
            <a:endParaRPr sz="1100"/>
          </a:p>
        </p:txBody>
      </p:sp>
      <p:sp>
        <p:nvSpPr>
          <p:cNvPr id="3" name="Text 3"/>
          <p:cNvSpPr txBox="1"/>
          <p:nvPr/>
        </p:nvSpPr>
        <p:spPr>
          <a:xfrm>
            <a:off x="457200" y="685800"/>
            <a:ext cx="11277600" cy="53619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2900" b="1">
                <a:solidFill>
                  <a:srgbClr val="17344E"/>
                </a:solidFill>
                <a:latin typeface="Arial"/>
              </a:rPr>
              <a:t>Six gates before production deployment</a:t>
            </a:r>
            <a:endParaRPr sz="2900"/>
          </a:p>
        </p:txBody>
      </p:sp>
      <p:sp>
        <p:nvSpPr>
          <p:cNvPr id="4" name="Panel 4"/>
          <p:cNvSpPr/>
          <p:nvPr/>
        </p:nvSpPr>
        <p:spPr>
          <a:xfrm>
            <a:off x="457200" y="1778000"/>
            <a:ext cx="3581400" cy="2057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5" name="Panel 5"/>
          <p:cNvSpPr/>
          <p:nvPr/>
        </p:nvSpPr>
        <p:spPr>
          <a:xfrm>
            <a:off x="457200" y="1778000"/>
            <a:ext cx="63500" cy="2057400"/>
          </a:xfrm>
          <a:prstGeom prst="rect">
            <a:avLst/>
          </a:prstGeom>
          <a:solidFill>
            <a:srgbClr val="007F80"/>
          </a:solidFill>
          <a:ln>
            <a:noFill/>
          </a:ln>
        </p:spPr>
      </p:sp>
      <p:sp>
        <p:nvSpPr>
          <p:cNvPr id="6" name="Text 6"/>
          <p:cNvSpPr txBox="1"/>
          <p:nvPr/>
        </p:nvSpPr>
        <p:spPr>
          <a:xfrm>
            <a:off x="685800" y="1981200"/>
            <a:ext cx="3124200" cy="37134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800" b="1">
                <a:solidFill>
                  <a:srgbClr val="007F80"/>
                </a:solidFill>
                <a:latin typeface="Arial"/>
              </a:rPr>
              <a:t>01 / DATA</a:t>
            </a:r>
            <a:endParaRPr sz="1800"/>
          </a:p>
        </p:txBody>
      </p:sp>
      <p:sp>
        <p:nvSpPr>
          <p:cNvPr id="7" name="Text 7"/>
          <p:cNvSpPr txBox="1"/>
          <p:nvPr/>
        </p:nvSpPr>
        <p:spPr>
          <a:xfrm>
            <a:off x="685800" y="2743200"/>
            <a:ext cx="3124200" cy="5511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500" b="0">
                <a:solidFill>
                  <a:srgbClr val="536B7D"/>
                </a:solidFill>
                <a:latin typeface="Arial"/>
              </a:rPr>
              <a:t>Validate assets, stock, bins, prices</a:t>
            </a:r>
            <a:endParaRPr sz="1500"/>
          </a:p>
          <a:p>
            <a:pPr>
              <a:lnSpc>
                <a:spcPct val="118000"/>
              </a:lnSpc>
            </a:pPr>
            <a:r>
              <a:rPr lang="en-US" sz="1500" b="0">
                <a:solidFill>
                  <a:srgbClr val="536B7D"/>
                </a:solidFill>
                <a:latin typeface="Arial"/>
              </a:rPr>
              <a:t>and intervals.</a:t>
            </a:r>
            <a:endParaRPr sz="1500"/>
          </a:p>
        </p:txBody>
      </p:sp>
      <p:sp>
        <p:nvSpPr>
          <p:cNvPr id="8" name="Panel 8"/>
          <p:cNvSpPr/>
          <p:nvPr/>
        </p:nvSpPr>
        <p:spPr>
          <a:xfrm>
            <a:off x="4267200" y="1778000"/>
            <a:ext cx="3581400" cy="2057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9" name="Panel 9"/>
          <p:cNvSpPr/>
          <p:nvPr/>
        </p:nvSpPr>
        <p:spPr>
          <a:xfrm>
            <a:off x="4267200" y="1778000"/>
            <a:ext cx="63500" cy="2057400"/>
          </a:xfrm>
          <a:prstGeom prst="rect">
            <a:avLst/>
          </a:prstGeom>
          <a:solidFill>
            <a:srgbClr val="007F80"/>
          </a:solidFill>
          <a:ln>
            <a:noFill/>
          </a:ln>
        </p:spPr>
      </p:sp>
      <p:sp>
        <p:nvSpPr>
          <p:cNvPr id="10" name="Text 10"/>
          <p:cNvSpPr txBox="1"/>
          <p:nvPr/>
        </p:nvSpPr>
        <p:spPr>
          <a:xfrm>
            <a:off x="4495800" y="1981200"/>
            <a:ext cx="3124200" cy="37134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800" b="1">
                <a:solidFill>
                  <a:srgbClr val="007F80"/>
                </a:solidFill>
                <a:latin typeface="Arial"/>
              </a:rPr>
              <a:t>02 / HOSTING</a:t>
            </a:r>
            <a:endParaRPr sz="1800"/>
          </a:p>
        </p:txBody>
      </p:sp>
      <p:sp>
        <p:nvSpPr>
          <p:cNvPr id="11" name="Text 11"/>
          <p:cNvSpPr txBox="1"/>
          <p:nvPr/>
        </p:nvSpPr>
        <p:spPr>
          <a:xfrm>
            <a:off x="4495800" y="2743200"/>
            <a:ext cx="3124200" cy="5511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500" b="0">
                <a:solidFill>
                  <a:srgbClr val="536B7D"/>
                </a:solidFill>
                <a:latin typeface="Arial"/>
              </a:rPr>
              <a:t>Approved server, HTTPS and</a:t>
            </a:r>
            <a:endParaRPr sz="1500"/>
          </a:p>
          <a:p>
            <a:pPr>
              <a:lnSpc>
                <a:spcPct val="118000"/>
              </a:lnSpc>
            </a:pPr>
            <a:r>
              <a:rPr lang="en-US" sz="1500" b="0">
                <a:solidFill>
                  <a:srgbClr val="536B7D"/>
                </a:solidFill>
                <a:latin typeface="Arial"/>
              </a:rPr>
              <a:t>deployment model.</a:t>
            </a:r>
            <a:endParaRPr sz="1500"/>
          </a:p>
        </p:txBody>
      </p:sp>
      <p:sp>
        <p:nvSpPr>
          <p:cNvPr id="12" name="Panel 12"/>
          <p:cNvSpPr/>
          <p:nvPr/>
        </p:nvSpPr>
        <p:spPr>
          <a:xfrm>
            <a:off x="8077200" y="1778000"/>
            <a:ext cx="3581400" cy="2057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3" name="Panel 13"/>
          <p:cNvSpPr/>
          <p:nvPr/>
        </p:nvSpPr>
        <p:spPr>
          <a:xfrm>
            <a:off x="8077200" y="1778000"/>
            <a:ext cx="63500" cy="2057400"/>
          </a:xfrm>
          <a:prstGeom prst="rect">
            <a:avLst/>
          </a:prstGeom>
          <a:solidFill>
            <a:srgbClr val="007F80"/>
          </a:solidFill>
          <a:ln>
            <a:noFill/>
          </a:ln>
        </p:spPr>
      </p:sp>
      <p:sp>
        <p:nvSpPr>
          <p:cNvPr id="14" name="Text 14"/>
          <p:cNvSpPr txBox="1"/>
          <p:nvPr/>
        </p:nvSpPr>
        <p:spPr>
          <a:xfrm>
            <a:off x="8305800" y="1981200"/>
            <a:ext cx="3124200" cy="37134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800" b="1">
                <a:solidFill>
                  <a:srgbClr val="007F80"/>
                </a:solidFill>
                <a:latin typeface="Arial"/>
              </a:rPr>
              <a:t>03 / SECURITY</a:t>
            </a:r>
            <a:endParaRPr sz="1800"/>
          </a:p>
        </p:txBody>
      </p:sp>
      <p:sp>
        <p:nvSpPr>
          <p:cNvPr id="15" name="Text 15"/>
          <p:cNvSpPr txBox="1"/>
          <p:nvPr/>
        </p:nvSpPr>
        <p:spPr>
          <a:xfrm>
            <a:off x="8305800" y="2743200"/>
            <a:ext cx="3124200" cy="5511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500" b="0">
                <a:solidFill>
                  <a:srgbClr val="536B7D"/>
                </a:solidFill>
                <a:latin typeface="Arial"/>
              </a:rPr>
              <a:t>Identity, access controls, secrets</a:t>
            </a:r>
            <a:endParaRPr sz="1500"/>
          </a:p>
          <a:p>
            <a:pPr>
              <a:lnSpc>
                <a:spcPct val="118000"/>
              </a:lnSpc>
            </a:pPr>
            <a:r>
              <a:rPr lang="en-US" sz="1500" b="0">
                <a:solidFill>
                  <a:srgbClr val="536B7D"/>
                </a:solidFill>
                <a:latin typeface="Arial"/>
              </a:rPr>
              <a:t>and review.</a:t>
            </a:r>
            <a:endParaRPr sz="1500"/>
          </a:p>
        </p:txBody>
      </p:sp>
      <p:sp>
        <p:nvSpPr>
          <p:cNvPr id="16" name="Panel 16"/>
          <p:cNvSpPr/>
          <p:nvPr/>
        </p:nvSpPr>
        <p:spPr>
          <a:xfrm>
            <a:off x="457200" y="4064000"/>
            <a:ext cx="3581400" cy="2057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7" name="Panel 17"/>
          <p:cNvSpPr/>
          <p:nvPr/>
        </p:nvSpPr>
        <p:spPr>
          <a:xfrm>
            <a:off x="457200" y="4064000"/>
            <a:ext cx="63500" cy="2057400"/>
          </a:xfrm>
          <a:prstGeom prst="rect">
            <a:avLst/>
          </a:prstGeom>
          <a:solidFill>
            <a:srgbClr val="355F8A"/>
          </a:solidFill>
          <a:ln>
            <a:noFill/>
          </a:ln>
        </p:spPr>
      </p:sp>
      <p:sp>
        <p:nvSpPr>
          <p:cNvPr id="18" name="Text 18"/>
          <p:cNvSpPr txBox="1"/>
          <p:nvPr/>
        </p:nvSpPr>
        <p:spPr>
          <a:xfrm>
            <a:off x="685800" y="4267200"/>
            <a:ext cx="3124200" cy="37134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800" b="1">
                <a:solidFill>
                  <a:srgbClr val="355F8A"/>
                </a:solidFill>
                <a:latin typeface="Arial"/>
              </a:rPr>
              <a:t>04 / RECOVERY</a:t>
            </a:r>
            <a:endParaRPr sz="1800"/>
          </a:p>
        </p:txBody>
      </p:sp>
      <p:sp>
        <p:nvSpPr>
          <p:cNvPr id="19" name="Text 19"/>
          <p:cNvSpPr txBox="1"/>
          <p:nvPr/>
        </p:nvSpPr>
        <p:spPr>
          <a:xfrm>
            <a:off x="685800" y="5029200"/>
            <a:ext cx="3124200" cy="5511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500" b="0">
                <a:solidFill>
                  <a:srgbClr val="536B7D"/>
                </a:solidFill>
                <a:latin typeface="Arial"/>
              </a:rPr>
              <a:t>Protected off-host backups and</a:t>
            </a:r>
            <a:endParaRPr sz="1500"/>
          </a:p>
          <a:p>
            <a:pPr>
              <a:lnSpc>
                <a:spcPct val="118000"/>
              </a:lnSpc>
            </a:pPr>
            <a:r>
              <a:rPr lang="en-US" sz="1500" b="0">
                <a:solidFill>
                  <a:srgbClr val="536B7D"/>
                </a:solidFill>
                <a:latin typeface="Arial"/>
              </a:rPr>
              <a:t>restore drill.</a:t>
            </a:r>
            <a:endParaRPr sz="1500"/>
          </a:p>
        </p:txBody>
      </p:sp>
      <p:sp>
        <p:nvSpPr>
          <p:cNvPr id="20" name="Panel 20"/>
          <p:cNvSpPr/>
          <p:nvPr/>
        </p:nvSpPr>
        <p:spPr>
          <a:xfrm>
            <a:off x="4267200" y="4064000"/>
            <a:ext cx="3581400" cy="2057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1" name="Panel 21"/>
          <p:cNvSpPr/>
          <p:nvPr/>
        </p:nvSpPr>
        <p:spPr>
          <a:xfrm>
            <a:off x="4267200" y="4064000"/>
            <a:ext cx="63500" cy="2057400"/>
          </a:xfrm>
          <a:prstGeom prst="rect">
            <a:avLst/>
          </a:prstGeom>
          <a:solidFill>
            <a:srgbClr val="355F8A"/>
          </a:solidFill>
          <a:ln>
            <a:noFill/>
          </a:ln>
        </p:spPr>
      </p:sp>
      <p:sp>
        <p:nvSpPr>
          <p:cNvPr id="22" name="Text 22"/>
          <p:cNvSpPr txBox="1"/>
          <p:nvPr/>
        </p:nvSpPr>
        <p:spPr>
          <a:xfrm>
            <a:off x="4495800" y="4267200"/>
            <a:ext cx="3124200" cy="37134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800" b="1">
                <a:solidFill>
                  <a:srgbClr val="355F8A"/>
                </a:solidFill>
                <a:latin typeface="Arial"/>
              </a:rPr>
              <a:t>05 / OPERATIONS</a:t>
            </a:r>
            <a:endParaRPr sz="1800"/>
          </a:p>
        </p:txBody>
      </p:sp>
      <p:sp>
        <p:nvSpPr>
          <p:cNvPr id="23" name="Text 23"/>
          <p:cNvSpPr txBox="1"/>
          <p:nvPr/>
        </p:nvSpPr>
        <p:spPr>
          <a:xfrm>
            <a:off x="4495800" y="5029200"/>
            <a:ext cx="3124200" cy="5511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500" b="0">
                <a:solidFill>
                  <a:srgbClr val="536B7D"/>
                </a:solidFill>
                <a:latin typeface="Arial"/>
              </a:rPr>
              <a:t>Monitored services, patching and</a:t>
            </a:r>
            <a:endParaRPr sz="1500"/>
          </a:p>
          <a:p>
            <a:pPr>
              <a:lnSpc>
                <a:spcPct val="118000"/>
              </a:lnSpc>
            </a:pPr>
            <a:r>
              <a:rPr lang="en-US" sz="1500" b="0">
                <a:solidFill>
                  <a:srgbClr val="536B7D"/>
                </a:solidFill>
                <a:latin typeface="Arial"/>
              </a:rPr>
              <a:t>support.</a:t>
            </a:r>
            <a:endParaRPr sz="1500"/>
          </a:p>
        </p:txBody>
      </p:sp>
      <p:sp>
        <p:nvSpPr>
          <p:cNvPr id="24" name="Panel 24"/>
          <p:cNvSpPr/>
          <p:nvPr/>
        </p:nvSpPr>
        <p:spPr>
          <a:xfrm>
            <a:off x="8077200" y="4064000"/>
            <a:ext cx="3581400" cy="2057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5" name="Panel 25"/>
          <p:cNvSpPr/>
          <p:nvPr/>
        </p:nvSpPr>
        <p:spPr>
          <a:xfrm>
            <a:off x="8077200" y="4064000"/>
            <a:ext cx="63500" cy="2057400"/>
          </a:xfrm>
          <a:prstGeom prst="rect">
            <a:avLst/>
          </a:prstGeom>
          <a:solidFill>
            <a:srgbClr val="355F8A"/>
          </a:solidFill>
          <a:ln>
            <a:noFill/>
          </a:ln>
        </p:spPr>
      </p:sp>
      <p:sp>
        <p:nvSpPr>
          <p:cNvPr id="26" name="Text 26"/>
          <p:cNvSpPr txBox="1"/>
          <p:nvPr/>
        </p:nvSpPr>
        <p:spPr>
          <a:xfrm>
            <a:off x="8305800" y="4267200"/>
            <a:ext cx="3124200" cy="37134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800" b="1">
                <a:solidFill>
                  <a:srgbClr val="355F8A"/>
                </a:solidFill>
                <a:latin typeface="Arial"/>
              </a:rPr>
              <a:t>06 / ACCEPTANCE</a:t>
            </a:r>
            <a:endParaRPr sz="1800"/>
          </a:p>
        </p:txBody>
      </p:sp>
      <p:sp>
        <p:nvSpPr>
          <p:cNvPr id="27" name="Text 27"/>
          <p:cNvSpPr txBox="1"/>
          <p:nvPr/>
        </p:nvSpPr>
        <p:spPr>
          <a:xfrm>
            <a:off x="8305800" y="5029200"/>
            <a:ext cx="3124200" cy="5511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500" b="0">
                <a:solidFill>
                  <a:srgbClr val="536B7D"/>
                </a:solidFill>
                <a:latin typeface="Arial"/>
              </a:rPr>
              <a:t>Browser roles, exports, load and</a:t>
            </a:r>
            <a:endParaRPr sz="1500"/>
          </a:p>
          <a:p>
            <a:pPr>
              <a:lnSpc>
                <a:spcPct val="118000"/>
              </a:lnSpc>
            </a:pPr>
            <a:r>
              <a:rPr lang="en-US" sz="1500" b="0">
                <a:solidFill>
                  <a:srgbClr val="536B7D"/>
                </a:solidFill>
                <a:latin typeface="Arial"/>
              </a:rPr>
              <a:t>user sign-off.</a:t>
            </a:r>
            <a:endParaRPr sz="1500"/>
          </a:p>
        </p:txBody>
      </p:sp>
      <p:sp>
        <p:nvSpPr>
          <p:cNvPr id="28" name="Text 28"/>
          <p:cNvSpPr txBox="1"/>
          <p:nvPr/>
        </p:nvSpPr>
        <p:spPr>
          <a:xfrm>
            <a:off x="457200" y="6540500"/>
            <a:ext cx="9652000" cy="23647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900" b="0">
                <a:solidFill>
                  <a:srgbClr val="536B7D"/>
                </a:solidFill>
                <a:latin typeface="Arial"/>
              </a:rPr>
              <a:t>MACHINECARE | LOCAL PILOT | 19 OCT 2026</a:t>
            </a:r>
            <a:endParaRPr sz="900"/>
          </a:p>
        </p:txBody>
      </p:sp>
      <p:sp>
        <p:nvSpPr>
          <p:cNvPr id="29" name="Text 29"/>
          <p:cNvSpPr txBox="1"/>
          <p:nvPr/>
        </p:nvSpPr>
        <p:spPr>
          <a:xfrm>
            <a:off x="11303000" y="6451600"/>
            <a:ext cx="508000" cy="2814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200" b="1">
                <a:solidFill>
                  <a:srgbClr val="007F80"/>
                </a:solidFill>
                <a:latin typeface="Arial"/>
              </a:rPr>
              <a:t>18</a:t>
            </a:r>
            <a:endParaRPr sz="12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457200" y="279400"/>
            <a:ext cx="11176000" cy="26644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100" b="1">
                <a:solidFill>
                  <a:srgbClr val="007F80"/>
                </a:solidFill>
                <a:latin typeface="Arial"/>
              </a:rPr>
              <a:t>18 / OPEN WORKFLOW DECISIONS</a:t>
            </a:r>
            <a:endParaRPr sz="1100"/>
          </a:p>
        </p:txBody>
      </p:sp>
      <p:sp>
        <p:nvSpPr>
          <p:cNvPr id="3" name="Text 3"/>
          <p:cNvSpPr txBox="1"/>
          <p:nvPr/>
        </p:nvSpPr>
        <p:spPr>
          <a:xfrm>
            <a:off x="457200" y="685800"/>
            <a:ext cx="11277600" cy="53619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2900" b="1">
                <a:solidFill>
                  <a:srgbClr val="17344E"/>
                </a:solidFill>
                <a:latin typeface="Arial"/>
              </a:rPr>
              <a:t>Agree the rules before adding complexity</a:t>
            </a:r>
            <a:endParaRPr sz="2900"/>
          </a:p>
        </p:txBody>
      </p:sp>
      <p:sp>
        <p:nvSpPr>
          <p:cNvPr id="4" name="Panel 4"/>
          <p:cNvSpPr/>
          <p:nvPr/>
        </p:nvSpPr>
        <p:spPr>
          <a:xfrm>
            <a:off x="457200" y="1778000"/>
            <a:ext cx="5537200" cy="2057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5" name="Panel 5"/>
          <p:cNvSpPr/>
          <p:nvPr/>
        </p:nvSpPr>
        <p:spPr>
          <a:xfrm>
            <a:off x="457200" y="1778000"/>
            <a:ext cx="63500" cy="2057400"/>
          </a:xfrm>
          <a:prstGeom prst="rect">
            <a:avLst/>
          </a:prstGeom>
          <a:solidFill>
            <a:srgbClr val="007F80"/>
          </a:solidFill>
          <a:ln>
            <a:noFill/>
          </a:ln>
        </p:spPr>
      </p:sp>
      <p:sp>
        <p:nvSpPr>
          <p:cNvPr id="6" name="Text 6"/>
          <p:cNvSpPr txBox="1"/>
          <p:nvPr/>
        </p:nvSpPr>
        <p:spPr>
          <a:xfrm>
            <a:off x="685800" y="1981200"/>
            <a:ext cx="5080000" cy="37134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800" b="1">
                <a:solidFill>
                  <a:srgbClr val="007F80"/>
                </a:solidFill>
                <a:latin typeface="Arial"/>
              </a:rPr>
              <a:t>Multi-bin stock</a:t>
            </a:r>
            <a:endParaRPr sz="1800"/>
          </a:p>
        </p:txBody>
      </p:sp>
      <p:sp>
        <p:nvSpPr>
          <p:cNvPr id="7" name="Text 7"/>
          <p:cNvSpPr txBox="1"/>
          <p:nvPr/>
        </p:nvSpPr>
        <p:spPr>
          <a:xfrm>
            <a:off x="685800" y="2743200"/>
            <a:ext cx="5080000" cy="32639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500" b="0">
                <a:solidFill>
                  <a:srgbClr val="536B7D"/>
                </a:solidFill>
                <a:latin typeface="Arial"/>
              </a:rPr>
              <a:t>Allocation, transfers and reservation location.</a:t>
            </a:r>
            <a:endParaRPr sz="1500"/>
          </a:p>
        </p:txBody>
      </p:sp>
      <p:sp>
        <p:nvSpPr>
          <p:cNvPr id="8" name="Panel 8"/>
          <p:cNvSpPr/>
          <p:nvPr/>
        </p:nvSpPr>
        <p:spPr>
          <a:xfrm>
            <a:off x="6197600" y="1778000"/>
            <a:ext cx="5537200" cy="2057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9" name="Panel 9"/>
          <p:cNvSpPr/>
          <p:nvPr/>
        </p:nvSpPr>
        <p:spPr>
          <a:xfrm>
            <a:off x="6197600" y="1778000"/>
            <a:ext cx="63500" cy="2057400"/>
          </a:xfrm>
          <a:prstGeom prst="rect">
            <a:avLst/>
          </a:prstGeom>
          <a:solidFill>
            <a:srgbClr val="007F80"/>
          </a:solidFill>
          <a:ln>
            <a:noFill/>
          </a:ln>
        </p:spPr>
      </p:sp>
      <p:sp>
        <p:nvSpPr>
          <p:cNvPr id="10" name="Text 10"/>
          <p:cNvSpPr txBox="1"/>
          <p:nvPr/>
        </p:nvSpPr>
        <p:spPr>
          <a:xfrm>
            <a:off x="6426200" y="1981200"/>
            <a:ext cx="5080000" cy="37134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800" b="1">
                <a:solidFill>
                  <a:srgbClr val="007F80"/>
                </a:solidFill>
                <a:latin typeface="Arial"/>
              </a:rPr>
              <a:t>Backdated work</a:t>
            </a:r>
            <a:endParaRPr sz="1800"/>
          </a:p>
        </p:txBody>
      </p:sp>
      <p:sp>
        <p:nvSpPr>
          <p:cNvPr id="11" name="Text 11"/>
          <p:cNvSpPr txBox="1"/>
          <p:nvPr/>
        </p:nvSpPr>
        <p:spPr>
          <a:xfrm>
            <a:off x="6426200" y="2743200"/>
            <a:ext cx="5080000" cy="32639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500" b="0">
                <a:solidFill>
                  <a:srgbClr val="536B7D"/>
                </a:solidFill>
                <a:latin typeface="Arial"/>
              </a:rPr>
              <a:t>Allowed dates, time zones and interval effects.</a:t>
            </a:r>
            <a:endParaRPr sz="1500"/>
          </a:p>
        </p:txBody>
      </p:sp>
      <p:sp>
        <p:nvSpPr>
          <p:cNvPr id="12" name="Panel 12"/>
          <p:cNvSpPr/>
          <p:nvPr/>
        </p:nvSpPr>
        <p:spPr>
          <a:xfrm>
            <a:off x="457200" y="4038600"/>
            <a:ext cx="5537200" cy="2057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3" name="Panel 13"/>
          <p:cNvSpPr/>
          <p:nvPr/>
        </p:nvSpPr>
        <p:spPr>
          <a:xfrm>
            <a:off x="457200" y="4038600"/>
            <a:ext cx="63500" cy="2057400"/>
          </a:xfrm>
          <a:prstGeom prst="rect">
            <a:avLst/>
          </a:prstGeom>
          <a:solidFill>
            <a:srgbClr val="007F80"/>
          </a:solidFill>
          <a:ln>
            <a:noFill/>
          </a:ln>
        </p:spPr>
      </p:sp>
      <p:sp>
        <p:nvSpPr>
          <p:cNvPr id="14" name="Text 14"/>
          <p:cNvSpPr txBox="1"/>
          <p:nvPr/>
        </p:nvSpPr>
        <p:spPr>
          <a:xfrm>
            <a:off x="685800" y="4241800"/>
            <a:ext cx="5080000" cy="37134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800" b="1">
                <a:solidFill>
                  <a:srgbClr val="007F80"/>
                </a:solidFill>
                <a:latin typeface="Arial"/>
              </a:rPr>
              <a:t>Emergency work</a:t>
            </a:r>
            <a:endParaRPr sz="1800"/>
          </a:p>
        </p:txBody>
      </p:sp>
      <p:sp>
        <p:nvSpPr>
          <p:cNvPr id="15" name="Text 15"/>
          <p:cNvSpPr txBox="1"/>
          <p:nvPr/>
        </p:nvSpPr>
        <p:spPr>
          <a:xfrm>
            <a:off x="685800" y="5003800"/>
            <a:ext cx="5080000" cy="32639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500" b="0">
                <a:solidFill>
                  <a:srgbClr val="536B7D"/>
                </a:solidFill>
                <a:latin typeface="Arial"/>
              </a:rPr>
              <a:t>Override roles, limits and review deadline.</a:t>
            </a:r>
            <a:endParaRPr sz="1500"/>
          </a:p>
        </p:txBody>
      </p:sp>
      <p:sp>
        <p:nvSpPr>
          <p:cNvPr id="16" name="Panel 16"/>
          <p:cNvSpPr/>
          <p:nvPr/>
        </p:nvSpPr>
        <p:spPr>
          <a:xfrm>
            <a:off x="6197600" y="4038600"/>
            <a:ext cx="5537200" cy="2057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7" name="Panel 17"/>
          <p:cNvSpPr/>
          <p:nvPr/>
        </p:nvSpPr>
        <p:spPr>
          <a:xfrm>
            <a:off x="6197600" y="4038600"/>
            <a:ext cx="63500" cy="2057400"/>
          </a:xfrm>
          <a:prstGeom prst="rect">
            <a:avLst/>
          </a:prstGeom>
          <a:solidFill>
            <a:srgbClr val="007F80"/>
          </a:solidFill>
          <a:ln>
            <a:noFill/>
          </a:ln>
        </p:spPr>
      </p:sp>
      <p:sp>
        <p:nvSpPr>
          <p:cNvPr id="18" name="Text 18"/>
          <p:cNvSpPr txBox="1"/>
          <p:nvPr/>
        </p:nvSpPr>
        <p:spPr>
          <a:xfrm>
            <a:off x="6426200" y="4241800"/>
            <a:ext cx="5080000" cy="37134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800" b="1">
                <a:solidFill>
                  <a:srgbClr val="007F80"/>
                </a:solidFill>
                <a:latin typeface="Arial"/>
              </a:rPr>
              <a:t>Corrections</a:t>
            </a:r>
            <a:endParaRPr sz="1800"/>
          </a:p>
        </p:txBody>
      </p:sp>
      <p:sp>
        <p:nvSpPr>
          <p:cNvPr id="19" name="Text 19"/>
          <p:cNvSpPr txBox="1"/>
          <p:nvPr/>
        </p:nvSpPr>
        <p:spPr>
          <a:xfrm>
            <a:off x="6426200" y="5003800"/>
            <a:ext cx="5080000" cy="32639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500" b="0">
                <a:solidFill>
                  <a:srgbClr val="536B7D"/>
                </a:solidFill>
                <a:latin typeface="Arial"/>
              </a:rPr>
              <a:t>Approval and reversal of stock/history effects.</a:t>
            </a:r>
            <a:endParaRPr sz="1500"/>
          </a:p>
        </p:txBody>
      </p:sp>
      <p:sp>
        <p:nvSpPr>
          <p:cNvPr id="20" name="Text 20"/>
          <p:cNvSpPr txBox="1"/>
          <p:nvPr/>
        </p:nvSpPr>
        <p:spPr>
          <a:xfrm>
            <a:off x="457200" y="6540500"/>
            <a:ext cx="9652000" cy="23647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900" b="0">
                <a:solidFill>
                  <a:srgbClr val="536B7D"/>
                </a:solidFill>
                <a:latin typeface="Arial"/>
              </a:rPr>
              <a:t>MACHINECARE | LOCAL PILOT | 19 OCT 2026</a:t>
            </a:r>
            <a:endParaRPr sz="900"/>
          </a:p>
        </p:txBody>
      </p:sp>
      <p:sp>
        <p:nvSpPr>
          <p:cNvPr id="21" name="Text 21"/>
          <p:cNvSpPr txBox="1"/>
          <p:nvPr/>
        </p:nvSpPr>
        <p:spPr>
          <a:xfrm>
            <a:off x="11303000" y="6451600"/>
            <a:ext cx="508000" cy="2814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200" b="1">
                <a:solidFill>
                  <a:srgbClr val="007F80"/>
                </a:solidFill>
                <a:latin typeface="Arial"/>
              </a:rPr>
              <a:t>19</a:t>
            </a:r>
            <a:endParaRPr sz="12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457200" y="279400"/>
            <a:ext cx="11176000" cy="26644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100" b="1">
                <a:solidFill>
                  <a:srgbClr val="007F80"/>
                </a:solidFill>
                <a:latin typeface="Arial"/>
              </a:rPr>
              <a:t>19 / PROPOSED ROLLOUT</a:t>
            </a:r>
            <a:endParaRPr sz="1100"/>
          </a:p>
        </p:txBody>
      </p:sp>
      <p:sp>
        <p:nvSpPr>
          <p:cNvPr id="3" name="Text 3"/>
          <p:cNvSpPr txBox="1"/>
          <p:nvPr/>
        </p:nvSpPr>
        <p:spPr>
          <a:xfrm>
            <a:off x="457200" y="685800"/>
            <a:ext cx="11277600" cy="53619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2900" b="1">
                <a:solidFill>
                  <a:srgbClr val="17344E"/>
                </a:solidFill>
                <a:latin typeface="Arial"/>
              </a:rPr>
              <a:t>A staged path from demo to adoption</a:t>
            </a:r>
            <a:endParaRPr sz="2900"/>
          </a:p>
        </p:txBody>
      </p:sp>
      <p:sp>
        <p:nvSpPr>
          <p:cNvPr id="4" name="Panel 4"/>
          <p:cNvSpPr/>
          <p:nvPr/>
        </p:nvSpPr>
        <p:spPr>
          <a:xfrm>
            <a:off x="457200" y="1943100"/>
            <a:ext cx="2654300" cy="36449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5" name="Panel 5"/>
          <p:cNvSpPr/>
          <p:nvPr/>
        </p:nvSpPr>
        <p:spPr>
          <a:xfrm>
            <a:off x="457200" y="1943100"/>
            <a:ext cx="63500" cy="3644900"/>
          </a:xfrm>
          <a:prstGeom prst="rect">
            <a:avLst/>
          </a:prstGeom>
          <a:solidFill>
            <a:srgbClr val="007F80"/>
          </a:solidFill>
          <a:ln>
            <a:noFill/>
          </a:ln>
        </p:spPr>
      </p:sp>
      <p:sp>
        <p:nvSpPr>
          <p:cNvPr id="6" name="Text 6"/>
          <p:cNvSpPr txBox="1"/>
          <p:nvPr/>
        </p:nvSpPr>
        <p:spPr>
          <a:xfrm>
            <a:off x="685800" y="2146300"/>
            <a:ext cx="2197100" cy="37134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800" b="1">
                <a:solidFill>
                  <a:srgbClr val="007F80"/>
                </a:solidFill>
                <a:latin typeface="Arial"/>
              </a:rPr>
              <a:t>NOW</a:t>
            </a:r>
            <a:endParaRPr sz="1800"/>
          </a:p>
        </p:txBody>
      </p:sp>
      <p:sp>
        <p:nvSpPr>
          <p:cNvPr id="7" name="Text 7"/>
          <p:cNvSpPr txBox="1"/>
          <p:nvPr/>
        </p:nvSpPr>
        <p:spPr>
          <a:xfrm>
            <a:off x="685800" y="2908300"/>
            <a:ext cx="2197100" cy="5511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500" b="0">
                <a:solidFill>
                  <a:srgbClr val="536B7D"/>
                </a:solidFill>
                <a:latin typeface="Arial"/>
              </a:rPr>
              <a:t>Graphical demonstration</a:t>
            </a:r>
            <a:endParaRPr sz="1500"/>
          </a:p>
          <a:p>
            <a:pPr>
              <a:lnSpc>
                <a:spcPct val="118000"/>
              </a:lnSpc>
            </a:pPr>
            <a:r>
              <a:rPr lang="en-US" sz="1500" b="0">
                <a:solidFill>
                  <a:srgbClr val="536B7D"/>
                </a:solidFill>
                <a:latin typeface="Arial"/>
              </a:rPr>
              <a:t>Review the workflow</a:t>
            </a:r>
            <a:endParaRPr sz="1500"/>
          </a:p>
        </p:txBody>
      </p:sp>
      <p:sp>
        <p:nvSpPr>
          <p:cNvPr id="8" name="Panel 8"/>
          <p:cNvSpPr/>
          <p:nvPr/>
        </p:nvSpPr>
        <p:spPr>
          <a:xfrm>
            <a:off x="3314700" y="1943100"/>
            <a:ext cx="2654300" cy="36449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9" name="Panel 9"/>
          <p:cNvSpPr/>
          <p:nvPr/>
        </p:nvSpPr>
        <p:spPr>
          <a:xfrm>
            <a:off x="3314700" y="1943100"/>
            <a:ext cx="63500" cy="3644900"/>
          </a:xfrm>
          <a:prstGeom prst="rect">
            <a:avLst/>
          </a:prstGeom>
          <a:solidFill>
            <a:srgbClr val="007F80"/>
          </a:solidFill>
          <a:ln>
            <a:noFill/>
          </a:ln>
        </p:spPr>
      </p:sp>
      <p:sp>
        <p:nvSpPr>
          <p:cNvPr id="10" name="Text 10"/>
          <p:cNvSpPr txBox="1"/>
          <p:nvPr/>
        </p:nvSpPr>
        <p:spPr>
          <a:xfrm>
            <a:off x="3543300" y="2146300"/>
            <a:ext cx="2197100" cy="37134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800" b="1">
                <a:solidFill>
                  <a:srgbClr val="007F80"/>
                </a:solidFill>
                <a:latin typeface="Arial"/>
              </a:rPr>
              <a:t>NEXT</a:t>
            </a:r>
            <a:endParaRPr sz="1800"/>
          </a:p>
        </p:txBody>
      </p:sp>
      <p:sp>
        <p:nvSpPr>
          <p:cNvPr id="11" name="Text 11"/>
          <p:cNvSpPr txBox="1"/>
          <p:nvPr/>
        </p:nvSpPr>
        <p:spPr>
          <a:xfrm>
            <a:off x="3543300" y="2908300"/>
            <a:ext cx="2197100" cy="5511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500" b="0">
                <a:solidFill>
                  <a:srgbClr val="536B7D"/>
                </a:solidFill>
                <a:latin typeface="Arial"/>
              </a:rPr>
              <a:t>Validate one line</a:t>
            </a:r>
            <a:endParaRPr sz="1500"/>
          </a:p>
          <a:p>
            <a:pPr>
              <a:lnSpc>
                <a:spcPct val="118000"/>
              </a:lnSpc>
            </a:pPr>
            <a:r>
              <a:rPr lang="en-US" sz="1500" b="0">
                <a:solidFill>
                  <a:srgbClr val="536B7D"/>
                </a:solidFill>
                <a:latin typeface="Arial"/>
              </a:rPr>
              <a:t>Reconcile real inventory</a:t>
            </a:r>
            <a:endParaRPr sz="1500"/>
          </a:p>
        </p:txBody>
      </p:sp>
      <p:sp>
        <p:nvSpPr>
          <p:cNvPr id="12" name="Panel 12"/>
          <p:cNvSpPr/>
          <p:nvPr/>
        </p:nvSpPr>
        <p:spPr>
          <a:xfrm>
            <a:off x="6172200" y="1943100"/>
            <a:ext cx="2654300" cy="36449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3" name="Panel 13"/>
          <p:cNvSpPr/>
          <p:nvPr/>
        </p:nvSpPr>
        <p:spPr>
          <a:xfrm>
            <a:off x="6172200" y="1943100"/>
            <a:ext cx="63500" cy="3644900"/>
          </a:xfrm>
          <a:prstGeom prst="rect">
            <a:avLst/>
          </a:prstGeom>
          <a:solidFill>
            <a:srgbClr val="355F8A"/>
          </a:solidFill>
          <a:ln>
            <a:noFill/>
          </a:ln>
        </p:spPr>
      </p:sp>
      <p:sp>
        <p:nvSpPr>
          <p:cNvPr id="14" name="Text 14"/>
          <p:cNvSpPr txBox="1"/>
          <p:nvPr/>
        </p:nvSpPr>
        <p:spPr>
          <a:xfrm>
            <a:off x="6400800" y="2146300"/>
            <a:ext cx="2197100" cy="37134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800" b="1">
                <a:solidFill>
                  <a:srgbClr val="355F8A"/>
                </a:solidFill>
                <a:latin typeface="Arial"/>
              </a:rPr>
              <a:t>THEN</a:t>
            </a:r>
            <a:endParaRPr sz="1800"/>
          </a:p>
        </p:txBody>
      </p:sp>
      <p:sp>
        <p:nvSpPr>
          <p:cNvPr id="15" name="Text 15"/>
          <p:cNvSpPr txBox="1"/>
          <p:nvPr/>
        </p:nvSpPr>
        <p:spPr>
          <a:xfrm>
            <a:off x="6400800" y="2908300"/>
            <a:ext cx="2197100" cy="5511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500" b="0">
                <a:solidFill>
                  <a:srgbClr val="536B7D"/>
                </a:solidFill>
                <a:latin typeface="Arial"/>
              </a:rPr>
              <a:t>IT + security gates</a:t>
            </a:r>
            <a:endParaRPr sz="1500"/>
          </a:p>
          <a:p>
            <a:pPr>
              <a:lnSpc>
                <a:spcPct val="118000"/>
              </a:lnSpc>
            </a:pPr>
            <a:r>
              <a:rPr lang="en-US" sz="1500" b="0">
                <a:solidFill>
                  <a:srgbClr val="536B7D"/>
                </a:solidFill>
                <a:latin typeface="Arial"/>
              </a:rPr>
              <a:t>Role-based acceptance</a:t>
            </a:r>
            <a:endParaRPr sz="1500"/>
          </a:p>
        </p:txBody>
      </p:sp>
      <p:sp>
        <p:nvSpPr>
          <p:cNvPr id="16" name="Panel 16"/>
          <p:cNvSpPr/>
          <p:nvPr/>
        </p:nvSpPr>
        <p:spPr>
          <a:xfrm>
            <a:off x="9029700" y="1943100"/>
            <a:ext cx="2654300" cy="36449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7" name="Panel 17"/>
          <p:cNvSpPr/>
          <p:nvPr/>
        </p:nvSpPr>
        <p:spPr>
          <a:xfrm>
            <a:off x="9029700" y="1943100"/>
            <a:ext cx="63500" cy="3644900"/>
          </a:xfrm>
          <a:prstGeom prst="rect">
            <a:avLst/>
          </a:prstGeom>
          <a:solidFill>
            <a:srgbClr val="355F8A"/>
          </a:solidFill>
          <a:ln>
            <a:noFill/>
          </a:ln>
        </p:spPr>
      </p:sp>
      <p:sp>
        <p:nvSpPr>
          <p:cNvPr id="18" name="Text 18"/>
          <p:cNvSpPr txBox="1"/>
          <p:nvPr/>
        </p:nvSpPr>
        <p:spPr>
          <a:xfrm>
            <a:off x="9258300" y="2146300"/>
            <a:ext cx="2197100" cy="37134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800" b="1">
                <a:solidFill>
                  <a:srgbClr val="355F8A"/>
                </a:solidFill>
                <a:latin typeface="Arial"/>
              </a:rPr>
              <a:t>RELEASE</a:t>
            </a:r>
            <a:endParaRPr sz="1800"/>
          </a:p>
        </p:txBody>
      </p:sp>
      <p:sp>
        <p:nvSpPr>
          <p:cNvPr id="19" name="Text 19"/>
          <p:cNvSpPr txBox="1"/>
          <p:nvPr/>
        </p:nvSpPr>
        <p:spPr>
          <a:xfrm>
            <a:off x="9258300" y="2908300"/>
            <a:ext cx="2197100" cy="55118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500" b="0">
                <a:solidFill>
                  <a:srgbClr val="536B7D"/>
                </a:solidFill>
                <a:latin typeface="Arial"/>
              </a:rPr>
              <a:t>Owner sign-off</a:t>
            </a:r>
            <a:endParaRPr sz="1500"/>
          </a:p>
          <a:p>
            <a:pPr>
              <a:lnSpc>
                <a:spcPct val="118000"/>
              </a:lnSpc>
            </a:pPr>
            <a:r>
              <a:rPr lang="en-US" sz="1500" b="0">
                <a:solidFill>
                  <a:srgbClr val="536B7D"/>
                </a:solidFill>
                <a:latin typeface="Arial"/>
              </a:rPr>
              <a:t>Monitored operation</a:t>
            </a:r>
            <a:endParaRPr sz="1500"/>
          </a:p>
        </p:txBody>
      </p:sp>
      <p:sp>
        <p:nvSpPr>
          <p:cNvPr id="20" name="Text 20"/>
          <p:cNvSpPr txBox="1"/>
          <p:nvPr/>
        </p:nvSpPr>
        <p:spPr>
          <a:xfrm>
            <a:off x="457200" y="6540500"/>
            <a:ext cx="9652000" cy="23647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900" b="0">
                <a:solidFill>
                  <a:srgbClr val="536B7D"/>
                </a:solidFill>
                <a:latin typeface="Arial"/>
              </a:rPr>
              <a:t>MACHINECARE | LOCAL PILOT | 19 OCT 2026</a:t>
            </a:r>
            <a:endParaRPr sz="900"/>
          </a:p>
        </p:txBody>
      </p:sp>
      <p:sp>
        <p:nvSpPr>
          <p:cNvPr id="21" name="Text 21"/>
          <p:cNvSpPr txBox="1"/>
          <p:nvPr/>
        </p:nvSpPr>
        <p:spPr>
          <a:xfrm>
            <a:off x="11303000" y="6451600"/>
            <a:ext cx="508000" cy="2814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200" b="1">
                <a:solidFill>
                  <a:srgbClr val="007F80"/>
                </a:solidFill>
                <a:latin typeface="Arial"/>
              </a:rPr>
              <a:t>20</a:t>
            </a:r>
            <a:endParaRPr sz="12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2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457200" y="279400"/>
            <a:ext cx="11176000" cy="26644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100" b="1">
                <a:solidFill>
                  <a:srgbClr val="33D2BB"/>
                </a:solidFill>
                <a:latin typeface="Arial"/>
              </a:rPr>
              <a:t>20 / MANAGER DECISION</a:t>
            </a:r>
            <a:endParaRPr sz="1100"/>
          </a:p>
        </p:txBody>
      </p:sp>
      <p:sp>
        <p:nvSpPr>
          <p:cNvPr id="3" name="Text 3"/>
          <p:cNvSpPr txBox="1"/>
          <p:nvPr/>
        </p:nvSpPr>
        <p:spPr>
          <a:xfrm>
            <a:off x="457200" y="685800"/>
            <a:ext cx="11277600" cy="53619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2900" b="1">
                <a:solidFill>
                  <a:srgbClr val="FFFFFF"/>
                </a:solidFill>
                <a:latin typeface="Arial"/>
              </a:rPr>
              <a:t>Approve a focused validation pilot</a:t>
            </a:r>
            <a:endParaRPr sz="2900"/>
          </a:p>
        </p:txBody>
      </p:sp>
      <p:sp>
        <p:nvSpPr>
          <p:cNvPr id="4" name="Panel 4"/>
          <p:cNvSpPr/>
          <p:nvPr/>
        </p:nvSpPr>
        <p:spPr>
          <a:xfrm>
            <a:off x="508000" y="1905000"/>
            <a:ext cx="762000" cy="762000"/>
          </a:xfrm>
          <a:prstGeom prst="roundRect">
            <a:avLst/>
          </a:prstGeom>
          <a:solidFill>
            <a:srgbClr val="007F80"/>
          </a:solidFill>
          <a:ln>
            <a:noFill/>
          </a:ln>
        </p:spPr>
      </p:sp>
      <p:sp>
        <p:nvSpPr>
          <p:cNvPr id="5" name="Text 5"/>
          <p:cNvSpPr txBox="1"/>
          <p:nvPr/>
        </p:nvSpPr>
        <p:spPr>
          <a:xfrm>
            <a:off x="774700" y="2044700"/>
            <a:ext cx="444500" cy="53619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2900" b="1">
                <a:solidFill>
                  <a:srgbClr val="FFFFFF"/>
                </a:solidFill>
                <a:latin typeface="Arial"/>
              </a:rPr>
              <a:t>1</a:t>
            </a:r>
            <a:endParaRPr sz="2900"/>
          </a:p>
        </p:txBody>
      </p:sp>
      <p:sp>
        <p:nvSpPr>
          <p:cNvPr id="6" name="Text 6"/>
          <p:cNvSpPr txBox="1"/>
          <p:nvPr/>
        </p:nvSpPr>
        <p:spPr>
          <a:xfrm>
            <a:off x="1549400" y="2070100"/>
            <a:ext cx="9652000" cy="4762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2500" b="1">
                <a:solidFill>
                  <a:srgbClr val="FFFFFF"/>
                </a:solidFill>
                <a:latin typeface="Arial"/>
              </a:rPr>
              <a:t>Choose one validated line</a:t>
            </a:r>
            <a:endParaRPr sz="2500"/>
          </a:p>
        </p:txBody>
      </p:sp>
      <p:sp>
        <p:nvSpPr>
          <p:cNvPr id="7" name="Panel 7"/>
          <p:cNvSpPr/>
          <p:nvPr/>
        </p:nvSpPr>
        <p:spPr>
          <a:xfrm>
            <a:off x="508000" y="3149600"/>
            <a:ext cx="762000" cy="762000"/>
          </a:xfrm>
          <a:prstGeom prst="roundRect">
            <a:avLst/>
          </a:prstGeom>
          <a:solidFill>
            <a:srgbClr val="007F80"/>
          </a:solidFill>
          <a:ln>
            <a:noFill/>
          </a:ln>
        </p:spPr>
      </p:sp>
      <p:sp>
        <p:nvSpPr>
          <p:cNvPr id="8" name="Text 8"/>
          <p:cNvSpPr txBox="1"/>
          <p:nvPr/>
        </p:nvSpPr>
        <p:spPr>
          <a:xfrm>
            <a:off x="774700" y="3289300"/>
            <a:ext cx="444500" cy="53619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2900" b="1">
                <a:solidFill>
                  <a:srgbClr val="FFFFFF"/>
                </a:solidFill>
                <a:latin typeface="Arial"/>
              </a:rPr>
              <a:t>2</a:t>
            </a:r>
            <a:endParaRPr sz="2900"/>
          </a:p>
        </p:txBody>
      </p:sp>
      <p:sp>
        <p:nvSpPr>
          <p:cNvPr id="9" name="Text 9"/>
          <p:cNvSpPr txBox="1"/>
          <p:nvPr/>
        </p:nvSpPr>
        <p:spPr>
          <a:xfrm>
            <a:off x="1549400" y="3314700"/>
            <a:ext cx="9652000" cy="4762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2500" b="1">
                <a:solidFill>
                  <a:srgbClr val="FFFFFF"/>
                </a:solidFill>
                <a:latin typeface="Arial"/>
              </a:rPr>
              <a:t>Name maintenance and IT owners</a:t>
            </a:r>
            <a:endParaRPr sz="2500"/>
          </a:p>
        </p:txBody>
      </p:sp>
      <p:sp>
        <p:nvSpPr>
          <p:cNvPr id="10" name="Panel 10"/>
          <p:cNvSpPr/>
          <p:nvPr/>
        </p:nvSpPr>
        <p:spPr>
          <a:xfrm>
            <a:off x="508000" y="4394200"/>
            <a:ext cx="762000" cy="762000"/>
          </a:xfrm>
          <a:prstGeom prst="roundRect">
            <a:avLst/>
          </a:prstGeom>
          <a:solidFill>
            <a:srgbClr val="007F80"/>
          </a:solidFill>
          <a:ln>
            <a:noFill/>
          </a:ln>
        </p:spPr>
      </p:sp>
      <p:sp>
        <p:nvSpPr>
          <p:cNvPr id="11" name="Text 11"/>
          <p:cNvSpPr txBox="1"/>
          <p:nvPr/>
        </p:nvSpPr>
        <p:spPr>
          <a:xfrm>
            <a:off x="774700" y="4533900"/>
            <a:ext cx="444500" cy="53619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2900" b="1">
                <a:solidFill>
                  <a:srgbClr val="FFFFFF"/>
                </a:solidFill>
                <a:latin typeface="Arial"/>
              </a:rPr>
              <a:t>3</a:t>
            </a:r>
            <a:endParaRPr sz="2900"/>
          </a:p>
        </p:txBody>
      </p:sp>
      <p:sp>
        <p:nvSpPr>
          <p:cNvPr id="12" name="Text 12"/>
          <p:cNvSpPr txBox="1"/>
          <p:nvPr/>
        </p:nvSpPr>
        <p:spPr>
          <a:xfrm>
            <a:off x="1549400" y="4559300"/>
            <a:ext cx="9652000" cy="4762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2500" b="1">
                <a:solidFill>
                  <a:srgbClr val="FFFFFF"/>
                </a:solidFill>
                <a:latin typeface="Arial"/>
              </a:rPr>
              <a:t>Agree acceptance measures</a:t>
            </a:r>
            <a:endParaRPr sz="2500"/>
          </a:p>
        </p:txBody>
      </p:sp>
      <p:sp>
        <p:nvSpPr>
          <p:cNvPr id="13" name="Text 13"/>
          <p:cNvSpPr txBox="1"/>
          <p:nvPr/>
        </p:nvSpPr>
        <p:spPr>
          <a:xfrm>
            <a:off x="533400" y="5892800"/>
            <a:ext cx="11176000" cy="38633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900" b="0">
                <a:solidFill>
                  <a:srgbClr val="BED2E2"/>
                </a:solidFill>
                <a:latin typeface="Arial"/>
              </a:rPr>
              <a:t>A working local pilot today. A controlled release after validation.</a:t>
            </a:r>
            <a:endParaRPr sz="1900"/>
          </a:p>
        </p:txBody>
      </p:sp>
      <p:sp>
        <p:nvSpPr>
          <p:cNvPr id="14" name="Text 14"/>
          <p:cNvSpPr txBox="1"/>
          <p:nvPr/>
        </p:nvSpPr>
        <p:spPr>
          <a:xfrm>
            <a:off x="457200" y="6540500"/>
            <a:ext cx="9652000" cy="23647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900" b="0">
                <a:solidFill>
                  <a:srgbClr val="AABECF"/>
                </a:solidFill>
                <a:latin typeface="Arial"/>
              </a:rPr>
              <a:t>MACHINECARE | LOCAL PILOT | 19 OCT 2026</a:t>
            </a:r>
            <a:endParaRPr sz="900"/>
          </a:p>
        </p:txBody>
      </p:sp>
      <p:sp>
        <p:nvSpPr>
          <p:cNvPr id="15" name="Text 15"/>
          <p:cNvSpPr txBox="1"/>
          <p:nvPr/>
        </p:nvSpPr>
        <p:spPr>
          <a:xfrm>
            <a:off x="11303000" y="6451600"/>
            <a:ext cx="508000" cy="2814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200" b="1">
                <a:solidFill>
                  <a:srgbClr val="33D2BB"/>
                </a:solidFill>
                <a:latin typeface="Arial"/>
              </a:rPr>
              <a:t>21</a:t>
            </a:r>
            <a:endParaRPr sz="12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457200" y="279400"/>
            <a:ext cx="11176000" cy="26644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100" b="1">
                <a:solidFill>
                  <a:srgbClr val="007F80"/>
                </a:solidFill>
                <a:latin typeface="Arial"/>
              </a:rPr>
              <a:t>APPENDIX / COMPONENT REFERENCE</a:t>
            </a:r>
            <a:endParaRPr sz="1100"/>
          </a:p>
        </p:txBody>
      </p:sp>
      <p:sp>
        <p:nvSpPr>
          <p:cNvPr id="3" name="Text 3"/>
          <p:cNvSpPr txBox="1"/>
          <p:nvPr/>
        </p:nvSpPr>
        <p:spPr>
          <a:xfrm>
            <a:off x="457200" y="685800"/>
            <a:ext cx="11277600" cy="53619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2900" b="1">
                <a:solidFill>
                  <a:srgbClr val="17344E"/>
                </a:solidFill>
                <a:latin typeface="Arial"/>
              </a:rPr>
              <a:t>DIMM component reference</a:t>
            </a:r>
            <a:endParaRPr sz="2900"/>
          </a:p>
        </p:txBody>
      </p:sp>
      <p:sp>
        <p:nvSpPr>
          <p:cNvPr id="4" name="Panel 4"/>
          <p:cNvSpPr/>
          <p:nvPr/>
        </p:nvSpPr>
        <p:spPr>
          <a:xfrm>
            <a:off x="457200" y="1714500"/>
            <a:ext cx="11277600" cy="444500"/>
          </a:xfrm>
          <a:prstGeom prst="rect">
            <a:avLst/>
          </a:prstGeom>
          <a:solidFill>
            <a:srgbClr val="102238"/>
          </a:solidFill>
          <a:ln>
            <a:noFill/>
          </a:ln>
        </p:spPr>
      </p:sp>
      <p:sp>
        <p:nvSpPr>
          <p:cNvPr id="5" name="Text 5"/>
          <p:cNvSpPr txBox="1"/>
          <p:nvPr/>
        </p:nvSpPr>
        <p:spPr>
          <a:xfrm>
            <a:off x="558800" y="1816100"/>
            <a:ext cx="2717800" cy="29641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300" b="1">
                <a:solidFill>
                  <a:srgbClr val="FFFFFF"/>
                </a:solidFill>
                <a:latin typeface="Arial"/>
              </a:rPr>
              <a:t>Component</a:t>
            </a:r>
            <a:endParaRPr sz="1300"/>
          </a:p>
        </p:txBody>
      </p:sp>
      <p:sp>
        <p:nvSpPr>
          <p:cNvPr id="6" name="Text 6"/>
          <p:cNvSpPr txBox="1"/>
          <p:nvPr/>
        </p:nvSpPr>
        <p:spPr>
          <a:xfrm>
            <a:off x="3479800" y="1816100"/>
            <a:ext cx="2273300" cy="29641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300" b="1">
                <a:solidFill>
                  <a:srgbClr val="FFFFFF"/>
                </a:solidFill>
                <a:latin typeface="Arial"/>
              </a:rPr>
              <a:t>Manufacturer</a:t>
            </a:r>
            <a:endParaRPr sz="1300"/>
          </a:p>
        </p:txBody>
      </p:sp>
      <p:sp>
        <p:nvSpPr>
          <p:cNvPr id="7" name="Text 7"/>
          <p:cNvSpPr txBox="1"/>
          <p:nvPr/>
        </p:nvSpPr>
        <p:spPr>
          <a:xfrm>
            <a:off x="5956300" y="1816100"/>
            <a:ext cx="3987800" cy="29641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300" b="1">
                <a:solidFill>
                  <a:srgbClr val="FFFFFF"/>
                </a:solidFill>
                <a:latin typeface="Arial"/>
              </a:rPr>
              <a:t>Supplied identifier</a:t>
            </a:r>
            <a:endParaRPr sz="1300"/>
          </a:p>
        </p:txBody>
      </p:sp>
      <p:sp>
        <p:nvSpPr>
          <p:cNvPr id="8" name="Text 8"/>
          <p:cNvSpPr txBox="1"/>
          <p:nvPr/>
        </p:nvSpPr>
        <p:spPr>
          <a:xfrm>
            <a:off x="10147300" y="1816100"/>
            <a:ext cx="1485900" cy="29641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300" b="1">
                <a:solidFill>
                  <a:srgbClr val="FFFFFF"/>
                </a:solidFill>
                <a:latin typeface="Arial"/>
              </a:rPr>
              <a:t>Per DIMM</a:t>
            </a:r>
            <a:endParaRPr sz="1300"/>
          </a:p>
        </p:txBody>
      </p:sp>
      <p:sp>
        <p:nvSpPr>
          <p:cNvPr id="9" name="Panel 9"/>
          <p:cNvSpPr/>
          <p:nvPr/>
        </p:nvSpPr>
        <p:spPr>
          <a:xfrm>
            <a:off x="457200" y="2159000"/>
            <a:ext cx="11277600" cy="3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" name="Text 10"/>
          <p:cNvSpPr txBox="1"/>
          <p:nvPr/>
        </p:nvSpPr>
        <p:spPr>
          <a:xfrm>
            <a:off x="558800" y="2247900"/>
            <a:ext cx="2717800" cy="2814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200" b="0">
                <a:solidFill>
                  <a:srgbClr val="17344E"/>
                </a:solidFill>
                <a:latin typeface="Arial"/>
              </a:rPr>
              <a:t>Load cell</a:t>
            </a:r>
            <a:endParaRPr sz="1200"/>
          </a:p>
        </p:txBody>
      </p:sp>
      <p:sp>
        <p:nvSpPr>
          <p:cNvPr id="11" name="Text 11"/>
          <p:cNvSpPr txBox="1"/>
          <p:nvPr/>
        </p:nvSpPr>
        <p:spPr>
          <a:xfrm>
            <a:off x="3479800" y="2247900"/>
            <a:ext cx="2273300" cy="2814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200" b="0">
                <a:solidFill>
                  <a:srgbClr val="17344E"/>
                </a:solidFill>
                <a:latin typeface="Arial"/>
              </a:rPr>
              <a:t>Delta Transducers</a:t>
            </a:r>
            <a:endParaRPr sz="1200"/>
          </a:p>
        </p:txBody>
      </p:sp>
      <p:sp>
        <p:nvSpPr>
          <p:cNvPr id="12" name="Text 12"/>
          <p:cNvSpPr txBox="1"/>
          <p:nvPr/>
        </p:nvSpPr>
        <p:spPr>
          <a:xfrm>
            <a:off x="5956300" y="2247900"/>
            <a:ext cx="3987800" cy="2814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200" b="0">
                <a:solidFill>
                  <a:srgbClr val="17344E"/>
                </a:solidFill>
                <a:latin typeface="Arial"/>
              </a:rPr>
              <a:t>Serial 2511231</a:t>
            </a:r>
            <a:endParaRPr sz="1200"/>
          </a:p>
        </p:txBody>
      </p:sp>
      <p:sp>
        <p:nvSpPr>
          <p:cNvPr id="13" name="Text 13"/>
          <p:cNvSpPr txBox="1"/>
          <p:nvPr/>
        </p:nvSpPr>
        <p:spPr>
          <a:xfrm>
            <a:off x="10147300" y="2247900"/>
            <a:ext cx="1485900" cy="2814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200" b="0">
                <a:solidFill>
                  <a:srgbClr val="17344E"/>
                </a:solidFill>
                <a:latin typeface="Arial"/>
              </a:rPr>
              <a:t>5</a:t>
            </a:r>
            <a:endParaRPr sz="1200"/>
          </a:p>
        </p:txBody>
      </p:sp>
      <p:sp>
        <p:nvSpPr>
          <p:cNvPr id="14" name="Panel 14"/>
          <p:cNvSpPr/>
          <p:nvPr/>
        </p:nvSpPr>
        <p:spPr>
          <a:xfrm>
            <a:off x="457200" y="2540000"/>
            <a:ext cx="11277600" cy="381000"/>
          </a:xfrm>
          <a:prstGeom prst="rect">
            <a:avLst/>
          </a:prstGeom>
          <a:solidFill>
            <a:srgbClr val="E4EDF3"/>
          </a:solidFill>
          <a:ln>
            <a:noFill/>
          </a:ln>
        </p:spPr>
      </p:sp>
      <p:sp>
        <p:nvSpPr>
          <p:cNvPr id="15" name="Text 15"/>
          <p:cNvSpPr txBox="1"/>
          <p:nvPr/>
        </p:nvSpPr>
        <p:spPr>
          <a:xfrm>
            <a:off x="558800" y="2628900"/>
            <a:ext cx="2717800" cy="2814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200" b="0">
                <a:solidFill>
                  <a:srgbClr val="17344E"/>
                </a:solidFill>
                <a:latin typeface="Arial"/>
              </a:rPr>
              <a:t>Finger cylinder</a:t>
            </a:r>
            <a:endParaRPr sz="1200"/>
          </a:p>
        </p:txBody>
      </p:sp>
      <p:sp>
        <p:nvSpPr>
          <p:cNvPr id="16" name="Text 16"/>
          <p:cNvSpPr txBox="1"/>
          <p:nvPr/>
        </p:nvSpPr>
        <p:spPr>
          <a:xfrm>
            <a:off x="3479800" y="2628900"/>
            <a:ext cx="2273300" cy="2814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200" b="0">
                <a:solidFill>
                  <a:srgbClr val="17344E"/>
                </a:solidFill>
                <a:latin typeface="Arial"/>
              </a:rPr>
              <a:t>Airtac</a:t>
            </a:r>
            <a:endParaRPr sz="1200"/>
          </a:p>
        </p:txBody>
      </p:sp>
      <p:sp>
        <p:nvSpPr>
          <p:cNvPr id="17" name="Text 17"/>
          <p:cNvSpPr txBox="1"/>
          <p:nvPr/>
        </p:nvSpPr>
        <p:spPr>
          <a:xfrm>
            <a:off x="5956300" y="2628900"/>
            <a:ext cx="3987800" cy="2814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200" b="0">
                <a:solidFill>
                  <a:srgbClr val="17344E"/>
                </a:solidFill>
                <a:latin typeface="Arial"/>
              </a:rPr>
              <a:t>HFD12X50</a:t>
            </a:r>
            <a:endParaRPr sz="1200"/>
          </a:p>
        </p:txBody>
      </p:sp>
      <p:sp>
        <p:nvSpPr>
          <p:cNvPr id="18" name="Text 18"/>
          <p:cNvSpPr txBox="1"/>
          <p:nvPr/>
        </p:nvSpPr>
        <p:spPr>
          <a:xfrm>
            <a:off x="10147300" y="2628900"/>
            <a:ext cx="1485900" cy="2814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200" b="0">
                <a:solidFill>
                  <a:srgbClr val="17344E"/>
                </a:solidFill>
                <a:latin typeface="Arial"/>
              </a:rPr>
              <a:t>4</a:t>
            </a:r>
            <a:endParaRPr sz="1200"/>
          </a:p>
        </p:txBody>
      </p:sp>
      <p:sp>
        <p:nvSpPr>
          <p:cNvPr id="19" name="Panel 19"/>
          <p:cNvSpPr/>
          <p:nvPr/>
        </p:nvSpPr>
        <p:spPr>
          <a:xfrm>
            <a:off x="457200" y="2921000"/>
            <a:ext cx="11277600" cy="3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0" name="Text 20"/>
          <p:cNvSpPr txBox="1"/>
          <p:nvPr/>
        </p:nvSpPr>
        <p:spPr>
          <a:xfrm>
            <a:off x="558800" y="3009900"/>
            <a:ext cx="2717800" cy="2814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200" b="0">
                <a:solidFill>
                  <a:srgbClr val="17344E"/>
                </a:solidFill>
                <a:latin typeface="Arial"/>
              </a:rPr>
              <a:t>Vertical cylinder</a:t>
            </a:r>
            <a:endParaRPr sz="1200"/>
          </a:p>
        </p:txBody>
      </p:sp>
      <p:sp>
        <p:nvSpPr>
          <p:cNvPr id="21" name="Text 21"/>
          <p:cNvSpPr txBox="1"/>
          <p:nvPr/>
        </p:nvSpPr>
        <p:spPr>
          <a:xfrm>
            <a:off x="3479800" y="3009900"/>
            <a:ext cx="2273300" cy="2814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200" b="0">
                <a:solidFill>
                  <a:srgbClr val="17344E"/>
                </a:solidFill>
                <a:latin typeface="Arial"/>
              </a:rPr>
              <a:t>Airtac</a:t>
            </a:r>
            <a:endParaRPr sz="1200"/>
          </a:p>
        </p:txBody>
      </p:sp>
      <p:sp>
        <p:nvSpPr>
          <p:cNvPr id="22" name="Text 22"/>
          <p:cNvSpPr txBox="1"/>
          <p:nvPr/>
        </p:nvSpPr>
        <p:spPr>
          <a:xfrm>
            <a:off x="5956300" y="3009900"/>
            <a:ext cx="3987800" cy="2814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200" b="0">
                <a:solidFill>
                  <a:srgbClr val="17344E"/>
                </a:solidFill>
                <a:latin typeface="Arial"/>
              </a:rPr>
              <a:t>HLQ12X50S</a:t>
            </a:r>
            <a:endParaRPr sz="1200"/>
          </a:p>
        </p:txBody>
      </p:sp>
      <p:sp>
        <p:nvSpPr>
          <p:cNvPr id="23" name="Text 23"/>
          <p:cNvSpPr txBox="1"/>
          <p:nvPr/>
        </p:nvSpPr>
        <p:spPr>
          <a:xfrm>
            <a:off x="10147300" y="3009900"/>
            <a:ext cx="1485900" cy="2814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200" b="0">
                <a:solidFill>
                  <a:srgbClr val="17344E"/>
                </a:solidFill>
                <a:latin typeface="Arial"/>
              </a:rPr>
              <a:t>5</a:t>
            </a:r>
            <a:endParaRPr sz="1200"/>
          </a:p>
        </p:txBody>
      </p:sp>
      <p:sp>
        <p:nvSpPr>
          <p:cNvPr id="24" name="Panel 24"/>
          <p:cNvSpPr/>
          <p:nvPr/>
        </p:nvSpPr>
        <p:spPr>
          <a:xfrm>
            <a:off x="457200" y="3302000"/>
            <a:ext cx="11277600" cy="381000"/>
          </a:xfrm>
          <a:prstGeom prst="rect">
            <a:avLst/>
          </a:prstGeom>
          <a:solidFill>
            <a:srgbClr val="E4EDF3"/>
          </a:solidFill>
          <a:ln>
            <a:noFill/>
          </a:ln>
        </p:spPr>
      </p:sp>
      <p:sp>
        <p:nvSpPr>
          <p:cNvPr id="25" name="Text 25"/>
          <p:cNvSpPr txBox="1"/>
          <p:nvPr/>
        </p:nvSpPr>
        <p:spPr>
          <a:xfrm>
            <a:off x="558800" y="3390900"/>
            <a:ext cx="2717800" cy="2814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200" b="0">
                <a:solidFill>
                  <a:srgbClr val="17344E"/>
                </a:solidFill>
                <a:latin typeface="Arial"/>
              </a:rPr>
              <a:t>Solenoid valve</a:t>
            </a:r>
            <a:endParaRPr sz="1200"/>
          </a:p>
        </p:txBody>
      </p:sp>
      <p:sp>
        <p:nvSpPr>
          <p:cNvPr id="26" name="Text 26"/>
          <p:cNvSpPr txBox="1"/>
          <p:nvPr/>
        </p:nvSpPr>
        <p:spPr>
          <a:xfrm>
            <a:off x="3479800" y="3390900"/>
            <a:ext cx="2273300" cy="2814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200" b="0">
                <a:solidFill>
                  <a:srgbClr val="17344E"/>
                </a:solidFill>
                <a:latin typeface="Arial"/>
              </a:rPr>
              <a:t>Airtac</a:t>
            </a:r>
            <a:endParaRPr sz="1200"/>
          </a:p>
        </p:txBody>
      </p:sp>
      <p:sp>
        <p:nvSpPr>
          <p:cNvPr id="27" name="Text 27"/>
          <p:cNvSpPr txBox="1"/>
          <p:nvPr/>
        </p:nvSpPr>
        <p:spPr>
          <a:xfrm>
            <a:off x="5956300" y="3390900"/>
            <a:ext cx="3987800" cy="2814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200" b="0">
                <a:solidFill>
                  <a:srgbClr val="17344E"/>
                </a:solidFill>
                <a:latin typeface="Arial"/>
              </a:rPr>
              <a:t>7V110-6</a:t>
            </a:r>
            <a:endParaRPr sz="1200"/>
          </a:p>
        </p:txBody>
      </p:sp>
      <p:sp>
        <p:nvSpPr>
          <p:cNvPr id="28" name="Text 28"/>
          <p:cNvSpPr txBox="1"/>
          <p:nvPr/>
        </p:nvSpPr>
        <p:spPr>
          <a:xfrm>
            <a:off x="10147300" y="3390900"/>
            <a:ext cx="1485900" cy="2814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200" b="0">
                <a:solidFill>
                  <a:srgbClr val="17344E"/>
                </a:solidFill>
                <a:latin typeface="Arial"/>
              </a:rPr>
              <a:t>10</a:t>
            </a:r>
            <a:endParaRPr sz="1200"/>
          </a:p>
        </p:txBody>
      </p:sp>
      <p:sp>
        <p:nvSpPr>
          <p:cNvPr id="29" name="Panel 29"/>
          <p:cNvSpPr/>
          <p:nvPr/>
        </p:nvSpPr>
        <p:spPr>
          <a:xfrm>
            <a:off x="457200" y="3683000"/>
            <a:ext cx="11277600" cy="3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0" name="Text 30"/>
          <p:cNvSpPr txBox="1"/>
          <p:nvPr/>
        </p:nvSpPr>
        <p:spPr>
          <a:xfrm>
            <a:off x="558800" y="3771900"/>
            <a:ext cx="2717800" cy="2814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200" b="0">
                <a:solidFill>
                  <a:srgbClr val="17344E"/>
                </a:solidFill>
                <a:latin typeface="Arial"/>
              </a:rPr>
              <a:t>Tray cylinder</a:t>
            </a:r>
            <a:endParaRPr sz="1200"/>
          </a:p>
        </p:txBody>
      </p:sp>
      <p:sp>
        <p:nvSpPr>
          <p:cNvPr id="31" name="Text 31"/>
          <p:cNvSpPr txBox="1"/>
          <p:nvPr/>
        </p:nvSpPr>
        <p:spPr>
          <a:xfrm>
            <a:off x="3479800" y="3771900"/>
            <a:ext cx="2273300" cy="2814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200" b="0">
                <a:solidFill>
                  <a:srgbClr val="17344E"/>
                </a:solidFill>
                <a:latin typeface="Arial"/>
              </a:rPr>
              <a:t>Airtac</a:t>
            </a:r>
            <a:endParaRPr sz="1200"/>
          </a:p>
        </p:txBody>
      </p:sp>
      <p:sp>
        <p:nvSpPr>
          <p:cNvPr id="32" name="Text 32"/>
          <p:cNvSpPr txBox="1"/>
          <p:nvPr/>
        </p:nvSpPr>
        <p:spPr>
          <a:xfrm>
            <a:off x="5956300" y="3771900"/>
            <a:ext cx="3987800" cy="2814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200" b="0">
                <a:solidFill>
                  <a:srgbClr val="17344E"/>
                </a:solidFill>
                <a:latin typeface="Arial"/>
              </a:rPr>
              <a:t>TCL25X20S</a:t>
            </a:r>
            <a:endParaRPr sz="1200"/>
          </a:p>
        </p:txBody>
      </p:sp>
      <p:sp>
        <p:nvSpPr>
          <p:cNvPr id="33" name="Text 33"/>
          <p:cNvSpPr txBox="1"/>
          <p:nvPr/>
        </p:nvSpPr>
        <p:spPr>
          <a:xfrm>
            <a:off x="10147300" y="3771900"/>
            <a:ext cx="1485900" cy="2814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200" b="0">
                <a:solidFill>
                  <a:srgbClr val="17344E"/>
                </a:solidFill>
                <a:latin typeface="Arial"/>
              </a:rPr>
              <a:t>2</a:t>
            </a:r>
            <a:endParaRPr sz="1200"/>
          </a:p>
        </p:txBody>
      </p:sp>
      <p:sp>
        <p:nvSpPr>
          <p:cNvPr id="34" name="Panel 34"/>
          <p:cNvSpPr/>
          <p:nvPr/>
        </p:nvSpPr>
        <p:spPr>
          <a:xfrm>
            <a:off x="457200" y="4064000"/>
            <a:ext cx="11277600" cy="381000"/>
          </a:xfrm>
          <a:prstGeom prst="rect">
            <a:avLst/>
          </a:prstGeom>
          <a:solidFill>
            <a:srgbClr val="E4EDF3"/>
          </a:solidFill>
          <a:ln>
            <a:noFill/>
          </a:ln>
        </p:spPr>
      </p:sp>
      <p:sp>
        <p:nvSpPr>
          <p:cNvPr id="35" name="Text 35"/>
          <p:cNvSpPr txBox="1"/>
          <p:nvPr/>
        </p:nvSpPr>
        <p:spPr>
          <a:xfrm>
            <a:off x="558800" y="4152900"/>
            <a:ext cx="2717800" cy="2814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200" b="0">
                <a:solidFill>
                  <a:srgbClr val="17344E"/>
                </a:solidFill>
                <a:latin typeface="Arial"/>
              </a:rPr>
              <a:t>Tray clamp cylinder</a:t>
            </a:r>
            <a:endParaRPr sz="1200"/>
          </a:p>
        </p:txBody>
      </p:sp>
      <p:sp>
        <p:nvSpPr>
          <p:cNvPr id="36" name="Text 36"/>
          <p:cNvSpPr txBox="1"/>
          <p:nvPr/>
        </p:nvSpPr>
        <p:spPr>
          <a:xfrm>
            <a:off x="3479800" y="4152900"/>
            <a:ext cx="2273300" cy="2814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200" b="0">
                <a:solidFill>
                  <a:srgbClr val="17344E"/>
                </a:solidFill>
                <a:latin typeface="Arial"/>
              </a:rPr>
              <a:t>Unknown</a:t>
            </a:r>
            <a:endParaRPr sz="1200"/>
          </a:p>
        </p:txBody>
      </p:sp>
      <p:sp>
        <p:nvSpPr>
          <p:cNvPr id="37" name="Text 37"/>
          <p:cNvSpPr txBox="1"/>
          <p:nvPr/>
        </p:nvSpPr>
        <p:spPr>
          <a:xfrm>
            <a:off x="5956300" y="4152900"/>
            <a:ext cx="3987800" cy="2814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200" b="0">
                <a:solidFill>
                  <a:srgbClr val="17344E"/>
                </a:solidFill>
                <a:latin typeface="Arial"/>
              </a:rPr>
              <a:t>HLS16X20SAS</a:t>
            </a:r>
            <a:endParaRPr sz="1200"/>
          </a:p>
        </p:txBody>
      </p:sp>
      <p:sp>
        <p:nvSpPr>
          <p:cNvPr id="38" name="Text 38"/>
          <p:cNvSpPr txBox="1"/>
          <p:nvPr/>
        </p:nvSpPr>
        <p:spPr>
          <a:xfrm>
            <a:off x="10147300" y="4152900"/>
            <a:ext cx="1485900" cy="2814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200" b="0">
                <a:solidFill>
                  <a:srgbClr val="17344E"/>
                </a:solidFill>
                <a:latin typeface="Arial"/>
              </a:rPr>
              <a:t>4</a:t>
            </a:r>
            <a:endParaRPr sz="1200"/>
          </a:p>
        </p:txBody>
      </p:sp>
      <p:sp>
        <p:nvSpPr>
          <p:cNvPr id="39" name="Panel 39"/>
          <p:cNvSpPr/>
          <p:nvPr/>
        </p:nvSpPr>
        <p:spPr>
          <a:xfrm>
            <a:off x="457200" y="4445000"/>
            <a:ext cx="11277600" cy="3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40" name="Text 40"/>
          <p:cNvSpPr txBox="1"/>
          <p:nvPr/>
        </p:nvSpPr>
        <p:spPr>
          <a:xfrm>
            <a:off x="558800" y="4533900"/>
            <a:ext cx="2717800" cy="2814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200" b="0">
                <a:solidFill>
                  <a:srgbClr val="17344E"/>
                </a:solidFill>
                <a:latin typeface="Arial"/>
              </a:rPr>
              <a:t>Finger reed switch</a:t>
            </a:r>
            <a:endParaRPr sz="1200"/>
          </a:p>
        </p:txBody>
      </p:sp>
      <p:sp>
        <p:nvSpPr>
          <p:cNvPr id="41" name="Text 41"/>
          <p:cNvSpPr txBox="1"/>
          <p:nvPr/>
        </p:nvSpPr>
        <p:spPr>
          <a:xfrm>
            <a:off x="3479800" y="4533900"/>
            <a:ext cx="2273300" cy="2814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200" b="0">
                <a:solidFill>
                  <a:srgbClr val="17344E"/>
                </a:solidFill>
                <a:latin typeface="Arial"/>
              </a:rPr>
              <a:t>Airtac</a:t>
            </a:r>
            <a:endParaRPr sz="1200"/>
          </a:p>
        </p:txBody>
      </p:sp>
      <p:sp>
        <p:nvSpPr>
          <p:cNvPr id="42" name="Text 42"/>
          <p:cNvSpPr txBox="1"/>
          <p:nvPr/>
        </p:nvSpPr>
        <p:spPr>
          <a:xfrm>
            <a:off x="5956300" y="4533900"/>
            <a:ext cx="3987800" cy="2814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200" b="0">
                <a:solidFill>
                  <a:srgbClr val="17344E"/>
                </a:solidFill>
                <a:latin typeface="Arial"/>
              </a:rPr>
              <a:t>DMSH A11DW</a:t>
            </a:r>
            <a:endParaRPr sz="1200"/>
          </a:p>
        </p:txBody>
      </p:sp>
      <p:sp>
        <p:nvSpPr>
          <p:cNvPr id="43" name="Text 43"/>
          <p:cNvSpPr txBox="1"/>
          <p:nvPr/>
        </p:nvSpPr>
        <p:spPr>
          <a:xfrm>
            <a:off x="10147300" y="4533900"/>
            <a:ext cx="1485900" cy="2814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200" b="0">
                <a:solidFill>
                  <a:srgbClr val="17344E"/>
                </a:solidFill>
                <a:latin typeface="Arial"/>
              </a:rPr>
              <a:t>8</a:t>
            </a:r>
            <a:endParaRPr sz="1200"/>
          </a:p>
        </p:txBody>
      </p:sp>
      <p:sp>
        <p:nvSpPr>
          <p:cNvPr id="44" name="Panel 44"/>
          <p:cNvSpPr/>
          <p:nvPr/>
        </p:nvSpPr>
        <p:spPr>
          <a:xfrm>
            <a:off x="457200" y="4826000"/>
            <a:ext cx="11277600" cy="381000"/>
          </a:xfrm>
          <a:prstGeom prst="rect">
            <a:avLst/>
          </a:prstGeom>
          <a:solidFill>
            <a:srgbClr val="E4EDF3"/>
          </a:solidFill>
          <a:ln>
            <a:noFill/>
          </a:ln>
        </p:spPr>
      </p:sp>
      <p:sp>
        <p:nvSpPr>
          <p:cNvPr id="45" name="Text 45"/>
          <p:cNvSpPr txBox="1"/>
          <p:nvPr/>
        </p:nvSpPr>
        <p:spPr>
          <a:xfrm>
            <a:off x="558800" y="4914900"/>
            <a:ext cx="2717800" cy="2814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200" b="0">
                <a:solidFill>
                  <a:srgbClr val="17344E"/>
                </a:solidFill>
                <a:latin typeface="Arial"/>
              </a:rPr>
              <a:t>Vertical reed switch</a:t>
            </a:r>
            <a:endParaRPr sz="1200"/>
          </a:p>
        </p:txBody>
      </p:sp>
      <p:sp>
        <p:nvSpPr>
          <p:cNvPr id="46" name="Text 46"/>
          <p:cNvSpPr txBox="1"/>
          <p:nvPr/>
        </p:nvSpPr>
        <p:spPr>
          <a:xfrm>
            <a:off x="3479800" y="4914900"/>
            <a:ext cx="2273300" cy="2814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200" b="0">
                <a:solidFill>
                  <a:srgbClr val="17344E"/>
                </a:solidFill>
                <a:latin typeface="Arial"/>
              </a:rPr>
              <a:t>Airtac</a:t>
            </a:r>
            <a:endParaRPr sz="1200"/>
          </a:p>
        </p:txBody>
      </p:sp>
      <p:sp>
        <p:nvSpPr>
          <p:cNvPr id="47" name="Text 47"/>
          <p:cNvSpPr txBox="1"/>
          <p:nvPr/>
        </p:nvSpPr>
        <p:spPr>
          <a:xfrm>
            <a:off x="5956300" y="4914900"/>
            <a:ext cx="3987800" cy="2814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200" b="0">
                <a:solidFill>
                  <a:srgbClr val="17344E"/>
                </a:solidFill>
                <a:latin typeface="Arial"/>
              </a:rPr>
              <a:t>D-M98W</a:t>
            </a:r>
            <a:endParaRPr sz="1200"/>
          </a:p>
        </p:txBody>
      </p:sp>
      <p:sp>
        <p:nvSpPr>
          <p:cNvPr id="48" name="Text 48"/>
          <p:cNvSpPr txBox="1"/>
          <p:nvPr/>
        </p:nvSpPr>
        <p:spPr>
          <a:xfrm>
            <a:off x="10147300" y="4914900"/>
            <a:ext cx="1485900" cy="2814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200" b="0">
                <a:solidFill>
                  <a:srgbClr val="17344E"/>
                </a:solidFill>
                <a:latin typeface="Arial"/>
              </a:rPr>
              <a:t>10</a:t>
            </a:r>
            <a:endParaRPr sz="1200"/>
          </a:p>
        </p:txBody>
      </p:sp>
      <p:sp>
        <p:nvSpPr>
          <p:cNvPr id="49" name="Panel 49"/>
          <p:cNvSpPr/>
          <p:nvPr/>
        </p:nvSpPr>
        <p:spPr>
          <a:xfrm>
            <a:off x="457200" y="5207000"/>
            <a:ext cx="11277600" cy="3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50" name="Text 50"/>
          <p:cNvSpPr txBox="1"/>
          <p:nvPr/>
        </p:nvSpPr>
        <p:spPr>
          <a:xfrm>
            <a:off x="558800" y="5295900"/>
            <a:ext cx="2717800" cy="2814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200" b="0">
                <a:solidFill>
                  <a:srgbClr val="17344E"/>
                </a:solidFill>
                <a:latin typeface="Arial"/>
              </a:rPr>
              <a:t>Flag sensor</a:t>
            </a:r>
            <a:endParaRPr sz="1200"/>
          </a:p>
        </p:txBody>
      </p:sp>
      <p:sp>
        <p:nvSpPr>
          <p:cNvPr id="51" name="Text 51"/>
          <p:cNvSpPr txBox="1"/>
          <p:nvPr/>
        </p:nvSpPr>
        <p:spPr>
          <a:xfrm>
            <a:off x="3479800" y="5295900"/>
            <a:ext cx="2273300" cy="2814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200" b="0">
                <a:solidFill>
                  <a:srgbClr val="17344E"/>
                </a:solidFill>
                <a:latin typeface="Arial"/>
              </a:rPr>
              <a:t>Panasonic</a:t>
            </a:r>
            <a:endParaRPr sz="1200"/>
          </a:p>
        </p:txBody>
      </p:sp>
      <p:sp>
        <p:nvSpPr>
          <p:cNvPr id="52" name="Text 52"/>
          <p:cNvSpPr txBox="1"/>
          <p:nvPr/>
        </p:nvSpPr>
        <p:spPr>
          <a:xfrm>
            <a:off x="5956300" y="5295900"/>
            <a:ext cx="3987800" cy="2814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200" b="0">
                <a:solidFill>
                  <a:srgbClr val="17344E"/>
                </a:solidFill>
                <a:latin typeface="Arial"/>
              </a:rPr>
              <a:t>PM-T45</a:t>
            </a:r>
            <a:endParaRPr sz="1200"/>
          </a:p>
        </p:txBody>
      </p:sp>
      <p:sp>
        <p:nvSpPr>
          <p:cNvPr id="53" name="Text 53"/>
          <p:cNvSpPr txBox="1"/>
          <p:nvPr/>
        </p:nvSpPr>
        <p:spPr>
          <a:xfrm>
            <a:off x="10147300" y="5295900"/>
            <a:ext cx="1485900" cy="2814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200" b="0">
                <a:solidFill>
                  <a:srgbClr val="17344E"/>
                </a:solidFill>
                <a:latin typeface="Arial"/>
              </a:rPr>
              <a:t>8</a:t>
            </a:r>
            <a:endParaRPr sz="1200"/>
          </a:p>
        </p:txBody>
      </p:sp>
      <p:sp>
        <p:nvSpPr>
          <p:cNvPr id="54" name="Panel 54"/>
          <p:cNvSpPr/>
          <p:nvPr/>
        </p:nvSpPr>
        <p:spPr>
          <a:xfrm>
            <a:off x="457200" y="5588000"/>
            <a:ext cx="11277600" cy="381000"/>
          </a:xfrm>
          <a:prstGeom prst="rect">
            <a:avLst/>
          </a:prstGeom>
          <a:solidFill>
            <a:srgbClr val="E4EDF3"/>
          </a:solidFill>
          <a:ln>
            <a:noFill/>
          </a:ln>
        </p:spPr>
      </p:sp>
      <p:sp>
        <p:nvSpPr>
          <p:cNvPr id="55" name="Text 55"/>
          <p:cNvSpPr txBox="1"/>
          <p:nvPr/>
        </p:nvSpPr>
        <p:spPr>
          <a:xfrm>
            <a:off x="558800" y="5676900"/>
            <a:ext cx="2717800" cy="2814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200" b="0">
                <a:solidFill>
                  <a:srgbClr val="17344E"/>
                </a:solidFill>
                <a:latin typeface="Arial"/>
              </a:rPr>
              <a:t>Photoelectric sensor</a:t>
            </a:r>
            <a:endParaRPr sz="1200"/>
          </a:p>
        </p:txBody>
      </p:sp>
      <p:sp>
        <p:nvSpPr>
          <p:cNvPr id="56" name="Text 56"/>
          <p:cNvSpPr txBox="1"/>
          <p:nvPr/>
        </p:nvSpPr>
        <p:spPr>
          <a:xfrm>
            <a:off x="3479800" y="5676900"/>
            <a:ext cx="2273300" cy="2814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200" b="0">
                <a:solidFill>
                  <a:srgbClr val="17344E"/>
                </a:solidFill>
                <a:latin typeface="Arial"/>
              </a:rPr>
              <a:t>Panasonic</a:t>
            </a:r>
            <a:endParaRPr sz="1200"/>
          </a:p>
        </p:txBody>
      </p:sp>
      <p:sp>
        <p:nvSpPr>
          <p:cNvPr id="57" name="Text 57"/>
          <p:cNvSpPr txBox="1"/>
          <p:nvPr/>
        </p:nvSpPr>
        <p:spPr>
          <a:xfrm>
            <a:off x="5956300" y="5676900"/>
            <a:ext cx="3987800" cy="2814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200" b="0">
                <a:solidFill>
                  <a:srgbClr val="17344E"/>
                </a:solidFill>
                <a:latin typeface="Arial"/>
              </a:rPr>
              <a:t>CX-441</a:t>
            </a:r>
            <a:endParaRPr sz="1200"/>
          </a:p>
        </p:txBody>
      </p:sp>
      <p:sp>
        <p:nvSpPr>
          <p:cNvPr id="58" name="Text 58"/>
          <p:cNvSpPr txBox="1"/>
          <p:nvPr/>
        </p:nvSpPr>
        <p:spPr>
          <a:xfrm>
            <a:off x="10147300" y="5676900"/>
            <a:ext cx="1485900" cy="2814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200" b="0">
                <a:solidFill>
                  <a:srgbClr val="17344E"/>
                </a:solidFill>
                <a:latin typeface="Arial"/>
              </a:rPr>
              <a:t>12</a:t>
            </a:r>
            <a:endParaRPr sz="1200"/>
          </a:p>
        </p:txBody>
      </p:sp>
      <p:sp>
        <p:nvSpPr>
          <p:cNvPr id="59" name="Text 59"/>
          <p:cNvSpPr txBox="1"/>
          <p:nvPr/>
        </p:nvSpPr>
        <p:spPr>
          <a:xfrm>
            <a:off x="457200" y="6540500"/>
            <a:ext cx="9652000" cy="23647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900" b="0">
                <a:solidFill>
                  <a:srgbClr val="536B7D"/>
                </a:solidFill>
                <a:latin typeface="Arial"/>
              </a:rPr>
              <a:t>MACHINECARE | LOCAL PILOT | 19 OCT 2026</a:t>
            </a:r>
            <a:endParaRPr sz="900"/>
          </a:p>
        </p:txBody>
      </p:sp>
      <p:sp>
        <p:nvSpPr>
          <p:cNvPr id="60" name="Text 60"/>
          <p:cNvSpPr txBox="1"/>
          <p:nvPr/>
        </p:nvSpPr>
        <p:spPr>
          <a:xfrm>
            <a:off x="11303000" y="6451600"/>
            <a:ext cx="508000" cy="2814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200" b="1">
                <a:solidFill>
                  <a:srgbClr val="007F80"/>
                </a:solidFill>
                <a:latin typeface="Arial"/>
              </a:rPr>
              <a:t>22</a:t>
            </a:r>
            <a:endParaRPr sz="12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457200" y="279400"/>
            <a:ext cx="11176000" cy="266445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100" b="1">
                <a:solidFill>
                  <a:srgbClr val="007F80"/>
                </a:solidFill>
                <a:latin typeface="Arial"/>
              </a:rPr>
              <a:t>APPENDIX / COMPONENT REFERENCE</a:t>
            </a:r>
            <a:endParaRPr sz="1100"/>
          </a:p>
        </p:txBody>
      </p:sp>
      <p:sp>
        <p:nvSpPr>
          <p:cNvPr id="3" name="Text 3"/>
          <p:cNvSpPr txBox="1"/>
          <p:nvPr/>
        </p:nvSpPr>
        <p:spPr>
          <a:xfrm>
            <a:off x="457200" y="685800"/>
            <a:ext cx="11277600" cy="53619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2900" b="1">
                <a:solidFill>
                  <a:srgbClr val="17344E"/>
                </a:solidFill>
                <a:latin typeface="Arial"/>
              </a:rPr>
              <a:t>AOI component reference</a:t>
            </a:r>
            <a:endParaRPr sz="2900"/>
          </a:p>
        </p:txBody>
      </p:sp>
      <p:sp>
        <p:nvSpPr>
          <p:cNvPr id="4" name="Panel 4"/>
          <p:cNvSpPr/>
          <p:nvPr/>
        </p:nvSpPr>
        <p:spPr>
          <a:xfrm>
            <a:off x="457200" y="1714500"/>
            <a:ext cx="11277600" cy="444500"/>
          </a:xfrm>
          <a:prstGeom prst="rect">
            <a:avLst/>
          </a:prstGeom>
          <a:solidFill>
            <a:srgbClr val="102238"/>
          </a:solidFill>
          <a:ln>
            <a:noFill/>
          </a:ln>
        </p:spPr>
      </p:sp>
      <p:sp>
        <p:nvSpPr>
          <p:cNvPr id="5" name="Text 5"/>
          <p:cNvSpPr txBox="1"/>
          <p:nvPr/>
        </p:nvSpPr>
        <p:spPr>
          <a:xfrm>
            <a:off x="558800" y="1816100"/>
            <a:ext cx="2717800" cy="29641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300" b="1">
                <a:solidFill>
                  <a:srgbClr val="FFFFFF"/>
                </a:solidFill>
                <a:latin typeface="Arial"/>
              </a:rPr>
              <a:t>Component</a:t>
            </a:r>
            <a:endParaRPr sz="1300"/>
          </a:p>
        </p:txBody>
      </p:sp>
      <p:sp>
        <p:nvSpPr>
          <p:cNvPr id="6" name="Text 6"/>
          <p:cNvSpPr txBox="1"/>
          <p:nvPr/>
        </p:nvSpPr>
        <p:spPr>
          <a:xfrm>
            <a:off x="3479800" y="1816100"/>
            <a:ext cx="2019300" cy="29641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300" b="1">
                <a:solidFill>
                  <a:srgbClr val="FFFFFF"/>
                </a:solidFill>
                <a:latin typeface="Arial"/>
              </a:rPr>
              <a:t>Manufacturer</a:t>
            </a:r>
            <a:endParaRPr sz="1300"/>
          </a:p>
        </p:txBody>
      </p:sp>
      <p:sp>
        <p:nvSpPr>
          <p:cNvPr id="7" name="Text 7"/>
          <p:cNvSpPr txBox="1"/>
          <p:nvPr/>
        </p:nvSpPr>
        <p:spPr>
          <a:xfrm>
            <a:off x="5702300" y="1816100"/>
            <a:ext cx="4241800" cy="29641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300" b="1">
                <a:solidFill>
                  <a:srgbClr val="FFFFFF"/>
                </a:solidFill>
                <a:latin typeface="Arial"/>
              </a:rPr>
              <a:t>Supplied identifier</a:t>
            </a:r>
            <a:endParaRPr sz="1300"/>
          </a:p>
        </p:txBody>
      </p:sp>
      <p:sp>
        <p:nvSpPr>
          <p:cNvPr id="8" name="Text 8"/>
          <p:cNvSpPr txBox="1"/>
          <p:nvPr/>
        </p:nvSpPr>
        <p:spPr>
          <a:xfrm>
            <a:off x="10147300" y="1816100"/>
            <a:ext cx="1485900" cy="29641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300" b="1">
                <a:solidFill>
                  <a:srgbClr val="FFFFFF"/>
                </a:solidFill>
                <a:latin typeface="Arial"/>
              </a:rPr>
              <a:t>Per AOI</a:t>
            </a:r>
            <a:endParaRPr sz="1300"/>
          </a:p>
        </p:txBody>
      </p:sp>
      <p:sp>
        <p:nvSpPr>
          <p:cNvPr id="9" name="Panel 9"/>
          <p:cNvSpPr/>
          <p:nvPr/>
        </p:nvSpPr>
        <p:spPr>
          <a:xfrm>
            <a:off x="457200" y="2159000"/>
            <a:ext cx="11277600" cy="3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" name="Text 10"/>
          <p:cNvSpPr txBox="1"/>
          <p:nvPr/>
        </p:nvSpPr>
        <p:spPr>
          <a:xfrm>
            <a:off x="558800" y="2247900"/>
            <a:ext cx="2717800" cy="2814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200" b="0">
                <a:solidFill>
                  <a:srgbClr val="17344E"/>
                </a:solidFill>
                <a:latin typeface="Arial"/>
              </a:rPr>
              <a:t>TM robot</a:t>
            </a:r>
            <a:endParaRPr sz="1200"/>
          </a:p>
        </p:txBody>
      </p:sp>
      <p:sp>
        <p:nvSpPr>
          <p:cNvPr id="11" name="Text 11"/>
          <p:cNvSpPr txBox="1"/>
          <p:nvPr/>
        </p:nvSpPr>
        <p:spPr>
          <a:xfrm>
            <a:off x="3479800" y="2247900"/>
            <a:ext cx="2019300" cy="2814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200" b="0">
                <a:solidFill>
                  <a:srgbClr val="17344E"/>
                </a:solidFill>
                <a:latin typeface="Arial"/>
              </a:rPr>
              <a:t>TM (as supplied)</a:t>
            </a:r>
            <a:endParaRPr sz="1200"/>
          </a:p>
        </p:txBody>
      </p:sp>
      <p:sp>
        <p:nvSpPr>
          <p:cNvPr id="12" name="Text 12"/>
          <p:cNvSpPr txBox="1"/>
          <p:nvPr/>
        </p:nvSpPr>
        <p:spPr>
          <a:xfrm>
            <a:off x="5702300" y="2247900"/>
            <a:ext cx="4241800" cy="2814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200" b="0">
                <a:solidFill>
                  <a:srgbClr val="17344E"/>
                </a:solidFill>
                <a:latin typeface="Arial"/>
              </a:rPr>
              <a:t>Model not supplied</a:t>
            </a:r>
            <a:endParaRPr sz="1200"/>
          </a:p>
        </p:txBody>
      </p:sp>
      <p:sp>
        <p:nvSpPr>
          <p:cNvPr id="13" name="Text 13"/>
          <p:cNvSpPr txBox="1"/>
          <p:nvPr/>
        </p:nvSpPr>
        <p:spPr>
          <a:xfrm>
            <a:off x="10147300" y="2247900"/>
            <a:ext cx="1485900" cy="2814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200" b="0">
                <a:solidFill>
                  <a:srgbClr val="17344E"/>
                </a:solidFill>
                <a:latin typeface="Arial"/>
              </a:rPr>
              <a:t>1</a:t>
            </a:r>
            <a:endParaRPr sz="1200"/>
          </a:p>
        </p:txBody>
      </p:sp>
      <p:sp>
        <p:nvSpPr>
          <p:cNvPr id="14" name="Panel 14"/>
          <p:cNvSpPr/>
          <p:nvPr/>
        </p:nvSpPr>
        <p:spPr>
          <a:xfrm>
            <a:off x="457200" y="2540000"/>
            <a:ext cx="11277600" cy="381000"/>
          </a:xfrm>
          <a:prstGeom prst="rect">
            <a:avLst/>
          </a:prstGeom>
          <a:solidFill>
            <a:srgbClr val="E4EDF3"/>
          </a:solidFill>
          <a:ln>
            <a:noFill/>
          </a:ln>
        </p:spPr>
      </p:sp>
      <p:sp>
        <p:nvSpPr>
          <p:cNvPr id="15" name="Text 15"/>
          <p:cNvSpPr txBox="1"/>
          <p:nvPr/>
        </p:nvSpPr>
        <p:spPr>
          <a:xfrm>
            <a:off x="558800" y="2628900"/>
            <a:ext cx="2717800" cy="2814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200" b="0">
                <a:solidFill>
                  <a:srgbClr val="17344E"/>
                </a:solidFill>
                <a:latin typeface="Arial"/>
              </a:rPr>
              <a:t>Small light curtain</a:t>
            </a:r>
            <a:endParaRPr sz="1200"/>
          </a:p>
        </p:txBody>
      </p:sp>
      <p:sp>
        <p:nvSpPr>
          <p:cNvPr id="16" name="Text 16"/>
          <p:cNvSpPr txBox="1"/>
          <p:nvPr/>
        </p:nvSpPr>
        <p:spPr>
          <a:xfrm>
            <a:off x="3479800" y="2628900"/>
            <a:ext cx="2019300" cy="2814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200" b="0">
                <a:solidFill>
                  <a:srgbClr val="17344E"/>
                </a:solidFill>
                <a:latin typeface="Arial"/>
              </a:rPr>
              <a:t>PILZ</a:t>
            </a:r>
            <a:endParaRPr sz="1200"/>
          </a:p>
        </p:txBody>
      </p:sp>
      <p:sp>
        <p:nvSpPr>
          <p:cNvPr id="17" name="Text 17"/>
          <p:cNvSpPr txBox="1"/>
          <p:nvPr/>
        </p:nvSpPr>
        <p:spPr>
          <a:xfrm>
            <a:off x="5702300" y="2628900"/>
            <a:ext cx="4241800" cy="2814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200" b="0">
                <a:solidFill>
                  <a:srgbClr val="17344E"/>
                </a:solidFill>
                <a:latin typeface="Arial"/>
              </a:rPr>
              <a:t>PSEN op113H-s-30-030</a:t>
            </a:r>
            <a:endParaRPr sz="1200"/>
          </a:p>
        </p:txBody>
      </p:sp>
      <p:sp>
        <p:nvSpPr>
          <p:cNvPr id="18" name="Text 18"/>
          <p:cNvSpPr txBox="1"/>
          <p:nvPr/>
        </p:nvSpPr>
        <p:spPr>
          <a:xfrm>
            <a:off x="10147300" y="2628900"/>
            <a:ext cx="1485900" cy="2814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200" b="0">
                <a:solidFill>
                  <a:srgbClr val="17344E"/>
                </a:solidFill>
                <a:latin typeface="Arial"/>
              </a:rPr>
              <a:t>4</a:t>
            </a:r>
            <a:endParaRPr sz="1200"/>
          </a:p>
        </p:txBody>
      </p:sp>
      <p:sp>
        <p:nvSpPr>
          <p:cNvPr id="19" name="Panel 19"/>
          <p:cNvSpPr/>
          <p:nvPr/>
        </p:nvSpPr>
        <p:spPr>
          <a:xfrm>
            <a:off x="457200" y="2921000"/>
            <a:ext cx="11277600" cy="3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0" name="Text 20"/>
          <p:cNvSpPr txBox="1"/>
          <p:nvPr/>
        </p:nvSpPr>
        <p:spPr>
          <a:xfrm>
            <a:off x="558800" y="3009900"/>
            <a:ext cx="2717800" cy="2814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200" b="0">
                <a:solidFill>
                  <a:srgbClr val="17344E"/>
                </a:solidFill>
                <a:latin typeface="Arial"/>
              </a:rPr>
              <a:t>Large light curtain</a:t>
            </a:r>
            <a:endParaRPr sz="1200"/>
          </a:p>
        </p:txBody>
      </p:sp>
      <p:sp>
        <p:nvSpPr>
          <p:cNvPr id="21" name="Text 21"/>
          <p:cNvSpPr txBox="1"/>
          <p:nvPr/>
        </p:nvSpPr>
        <p:spPr>
          <a:xfrm>
            <a:off x="3479800" y="3009900"/>
            <a:ext cx="2019300" cy="2814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200" b="0">
                <a:solidFill>
                  <a:srgbClr val="17344E"/>
                </a:solidFill>
                <a:latin typeface="Arial"/>
              </a:rPr>
              <a:t>PILZ</a:t>
            </a:r>
            <a:endParaRPr sz="1200"/>
          </a:p>
        </p:txBody>
      </p:sp>
      <p:sp>
        <p:nvSpPr>
          <p:cNvPr id="22" name="Text 22"/>
          <p:cNvSpPr txBox="1"/>
          <p:nvPr/>
        </p:nvSpPr>
        <p:spPr>
          <a:xfrm>
            <a:off x="5702300" y="3009900"/>
            <a:ext cx="4241800" cy="2814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200" b="0">
                <a:solidFill>
                  <a:srgbClr val="17344E"/>
                </a:solidFill>
                <a:latin typeface="Arial"/>
              </a:rPr>
              <a:t>PESN op113H-s-30-075</a:t>
            </a:r>
            <a:endParaRPr sz="1200"/>
          </a:p>
        </p:txBody>
      </p:sp>
      <p:sp>
        <p:nvSpPr>
          <p:cNvPr id="23" name="Text 23"/>
          <p:cNvSpPr txBox="1"/>
          <p:nvPr/>
        </p:nvSpPr>
        <p:spPr>
          <a:xfrm>
            <a:off x="10147300" y="3009900"/>
            <a:ext cx="1485900" cy="2814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200" b="0">
                <a:solidFill>
                  <a:srgbClr val="17344E"/>
                </a:solidFill>
                <a:latin typeface="Arial"/>
              </a:rPr>
              <a:t>2</a:t>
            </a:r>
            <a:endParaRPr sz="1200"/>
          </a:p>
        </p:txBody>
      </p:sp>
      <p:sp>
        <p:nvSpPr>
          <p:cNvPr id="24" name="Panel 24"/>
          <p:cNvSpPr/>
          <p:nvPr/>
        </p:nvSpPr>
        <p:spPr>
          <a:xfrm>
            <a:off x="457200" y="3302000"/>
            <a:ext cx="11277600" cy="381000"/>
          </a:xfrm>
          <a:prstGeom prst="rect">
            <a:avLst/>
          </a:prstGeom>
          <a:solidFill>
            <a:srgbClr val="E4EDF3"/>
          </a:solidFill>
          <a:ln>
            <a:noFill/>
          </a:ln>
        </p:spPr>
      </p:sp>
      <p:sp>
        <p:nvSpPr>
          <p:cNvPr id="25" name="Text 25"/>
          <p:cNvSpPr txBox="1"/>
          <p:nvPr/>
        </p:nvSpPr>
        <p:spPr>
          <a:xfrm>
            <a:off x="558800" y="3390900"/>
            <a:ext cx="2717800" cy="2814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200" b="0">
                <a:solidFill>
                  <a:srgbClr val="17344E"/>
                </a:solidFill>
                <a:latin typeface="Arial"/>
              </a:rPr>
              <a:t>PLC PNOZ m bo.1</a:t>
            </a:r>
            <a:endParaRPr sz="1200"/>
          </a:p>
        </p:txBody>
      </p:sp>
      <p:sp>
        <p:nvSpPr>
          <p:cNvPr id="26" name="Text 26"/>
          <p:cNvSpPr txBox="1"/>
          <p:nvPr/>
        </p:nvSpPr>
        <p:spPr>
          <a:xfrm>
            <a:off x="3479800" y="3390900"/>
            <a:ext cx="2019300" cy="2814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200" b="0">
                <a:solidFill>
                  <a:srgbClr val="17344E"/>
                </a:solidFill>
                <a:latin typeface="Arial"/>
              </a:rPr>
              <a:t>PILZ</a:t>
            </a:r>
            <a:endParaRPr sz="1200"/>
          </a:p>
        </p:txBody>
      </p:sp>
      <p:sp>
        <p:nvSpPr>
          <p:cNvPr id="27" name="Text 27"/>
          <p:cNvSpPr txBox="1"/>
          <p:nvPr/>
        </p:nvSpPr>
        <p:spPr>
          <a:xfrm>
            <a:off x="5702300" y="3390900"/>
            <a:ext cx="4241800" cy="2814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200" b="0">
                <a:solidFill>
                  <a:srgbClr val="17344E"/>
                </a:solidFill>
                <a:latin typeface="Arial"/>
              </a:rPr>
              <a:t>Ident-772104</a:t>
            </a:r>
            <a:endParaRPr sz="1200"/>
          </a:p>
        </p:txBody>
      </p:sp>
      <p:sp>
        <p:nvSpPr>
          <p:cNvPr id="28" name="Text 28"/>
          <p:cNvSpPr txBox="1"/>
          <p:nvPr/>
        </p:nvSpPr>
        <p:spPr>
          <a:xfrm>
            <a:off x="10147300" y="3390900"/>
            <a:ext cx="1485900" cy="2814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200" b="0">
                <a:solidFill>
                  <a:srgbClr val="17344E"/>
                </a:solidFill>
                <a:latin typeface="Arial"/>
              </a:rPr>
              <a:t>1</a:t>
            </a:r>
            <a:endParaRPr sz="1200"/>
          </a:p>
        </p:txBody>
      </p:sp>
      <p:sp>
        <p:nvSpPr>
          <p:cNvPr id="29" name="Panel 29"/>
          <p:cNvSpPr/>
          <p:nvPr/>
        </p:nvSpPr>
        <p:spPr>
          <a:xfrm>
            <a:off x="457200" y="3683000"/>
            <a:ext cx="11277600" cy="3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0" name="Text 30"/>
          <p:cNvSpPr txBox="1"/>
          <p:nvPr/>
        </p:nvSpPr>
        <p:spPr>
          <a:xfrm>
            <a:off x="558800" y="3771900"/>
            <a:ext cx="2717800" cy="2814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200" b="0">
                <a:solidFill>
                  <a:srgbClr val="17344E"/>
                </a:solidFill>
                <a:latin typeface="Arial"/>
              </a:rPr>
              <a:t>Tower light</a:t>
            </a:r>
            <a:endParaRPr sz="1200"/>
          </a:p>
        </p:txBody>
      </p:sp>
      <p:sp>
        <p:nvSpPr>
          <p:cNvPr id="31" name="Text 31"/>
          <p:cNvSpPr txBox="1"/>
          <p:nvPr/>
        </p:nvSpPr>
        <p:spPr>
          <a:xfrm>
            <a:off x="3479800" y="3771900"/>
            <a:ext cx="2019300" cy="2814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200" b="0">
                <a:solidFill>
                  <a:srgbClr val="17344E"/>
                </a:solidFill>
                <a:latin typeface="Arial"/>
              </a:rPr>
              <a:t>Unknown</a:t>
            </a:r>
            <a:endParaRPr sz="1200"/>
          </a:p>
        </p:txBody>
      </p:sp>
      <p:sp>
        <p:nvSpPr>
          <p:cNvPr id="32" name="Text 32"/>
          <p:cNvSpPr txBox="1"/>
          <p:nvPr/>
        </p:nvSpPr>
        <p:spPr>
          <a:xfrm>
            <a:off x="5702300" y="3771900"/>
            <a:ext cx="4241800" cy="2814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200" b="0">
                <a:solidFill>
                  <a:srgbClr val="17344E"/>
                </a:solidFill>
                <a:latin typeface="Arial"/>
              </a:rPr>
              <a:t>ASTLF-110-4-5FT-CM</a:t>
            </a:r>
            <a:endParaRPr sz="1200"/>
          </a:p>
        </p:txBody>
      </p:sp>
      <p:sp>
        <p:nvSpPr>
          <p:cNvPr id="33" name="Text 33"/>
          <p:cNvSpPr txBox="1"/>
          <p:nvPr/>
        </p:nvSpPr>
        <p:spPr>
          <a:xfrm>
            <a:off x="10147300" y="3771900"/>
            <a:ext cx="1485900" cy="2814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200" b="0">
                <a:solidFill>
                  <a:srgbClr val="17344E"/>
                </a:solidFill>
                <a:latin typeface="Arial"/>
              </a:rPr>
              <a:t>2</a:t>
            </a:r>
            <a:endParaRPr sz="1200"/>
          </a:p>
        </p:txBody>
      </p:sp>
      <p:sp>
        <p:nvSpPr>
          <p:cNvPr id="34" name="Panel 34"/>
          <p:cNvSpPr/>
          <p:nvPr/>
        </p:nvSpPr>
        <p:spPr>
          <a:xfrm>
            <a:off x="457200" y="4064000"/>
            <a:ext cx="11277600" cy="381000"/>
          </a:xfrm>
          <a:prstGeom prst="rect">
            <a:avLst/>
          </a:prstGeom>
          <a:solidFill>
            <a:srgbClr val="E4EDF3"/>
          </a:solidFill>
          <a:ln>
            <a:noFill/>
          </a:ln>
        </p:spPr>
      </p:sp>
      <p:sp>
        <p:nvSpPr>
          <p:cNvPr id="35" name="Text 35"/>
          <p:cNvSpPr txBox="1"/>
          <p:nvPr/>
        </p:nvSpPr>
        <p:spPr>
          <a:xfrm>
            <a:off x="558800" y="4152900"/>
            <a:ext cx="2717800" cy="2814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200" b="0">
                <a:solidFill>
                  <a:srgbClr val="17344E"/>
                </a:solidFill>
                <a:latin typeface="Arial"/>
              </a:rPr>
              <a:t>Switching power supply</a:t>
            </a:r>
            <a:endParaRPr sz="1200"/>
          </a:p>
        </p:txBody>
      </p:sp>
      <p:sp>
        <p:nvSpPr>
          <p:cNvPr id="36" name="Text 36"/>
          <p:cNvSpPr txBox="1"/>
          <p:nvPr/>
        </p:nvSpPr>
        <p:spPr>
          <a:xfrm>
            <a:off x="3479800" y="4152900"/>
            <a:ext cx="2019300" cy="2814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200" b="0">
                <a:solidFill>
                  <a:srgbClr val="17344E"/>
                </a:solidFill>
                <a:latin typeface="Arial"/>
              </a:rPr>
              <a:t>Unknown</a:t>
            </a:r>
            <a:endParaRPr sz="1200"/>
          </a:p>
        </p:txBody>
      </p:sp>
      <p:sp>
        <p:nvSpPr>
          <p:cNvPr id="37" name="Text 37"/>
          <p:cNvSpPr txBox="1"/>
          <p:nvPr/>
        </p:nvSpPr>
        <p:spPr>
          <a:xfrm>
            <a:off x="5702300" y="4152900"/>
            <a:ext cx="4241800" cy="2814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200" b="0">
                <a:solidFill>
                  <a:srgbClr val="17344E"/>
                </a:solidFill>
                <a:latin typeface="Arial"/>
              </a:rPr>
              <a:t>s-120-24</a:t>
            </a:r>
            <a:endParaRPr sz="1200"/>
          </a:p>
        </p:txBody>
      </p:sp>
      <p:sp>
        <p:nvSpPr>
          <p:cNvPr id="38" name="Text 38"/>
          <p:cNvSpPr txBox="1"/>
          <p:nvPr/>
        </p:nvSpPr>
        <p:spPr>
          <a:xfrm>
            <a:off x="10147300" y="4152900"/>
            <a:ext cx="1485900" cy="2814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200" b="0">
                <a:solidFill>
                  <a:srgbClr val="17344E"/>
                </a:solidFill>
                <a:latin typeface="Arial"/>
              </a:rPr>
              <a:t>1</a:t>
            </a:r>
            <a:endParaRPr sz="1200"/>
          </a:p>
        </p:txBody>
      </p:sp>
      <p:sp>
        <p:nvSpPr>
          <p:cNvPr id="39" name="Panel 39"/>
          <p:cNvSpPr/>
          <p:nvPr/>
        </p:nvSpPr>
        <p:spPr>
          <a:xfrm>
            <a:off x="457200" y="4445000"/>
            <a:ext cx="11277600" cy="3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40" name="Text 40"/>
          <p:cNvSpPr txBox="1"/>
          <p:nvPr/>
        </p:nvSpPr>
        <p:spPr>
          <a:xfrm>
            <a:off x="558800" y="4533900"/>
            <a:ext cx="2717800" cy="2814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200" b="0">
                <a:solidFill>
                  <a:srgbClr val="17344E"/>
                </a:solidFill>
                <a:latin typeface="Arial"/>
              </a:rPr>
              <a:t>Control box</a:t>
            </a:r>
            <a:endParaRPr sz="1200"/>
          </a:p>
        </p:txBody>
      </p:sp>
      <p:sp>
        <p:nvSpPr>
          <p:cNvPr id="41" name="Text 41"/>
          <p:cNvSpPr txBox="1"/>
          <p:nvPr/>
        </p:nvSpPr>
        <p:spPr>
          <a:xfrm>
            <a:off x="3479800" y="4533900"/>
            <a:ext cx="2019300" cy="2814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200" b="0">
                <a:solidFill>
                  <a:srgbClr val="17344E"/>
                </a:solidFill>
                <a:latin typeface="Arial"/>
              </a:rPr>
              <a:t>VEVOR</a:t>
            </a:r>
            <a:endParaRPr sz="1200"/>
          </a:p>
        </p:txBody>
      </p:sp>
      <p:sp>
        <p:nvSpPr>
          <p:cNvPr id="42" name="Text 42"/>
          <p:cNvSpPr txBox="1"/>
          <p:nvPr/>
        </p:nvSpPr>
        <p:spPr>
          <a:xfrm>
            <a:off x="5702300" y="4533900"/>
            <a:ext cx="4241800" cy="2814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200" b="0">
                <a:solidFill>
                  <a:srgbClr val="17344E"/>
                </a:solidFill>
                <a:latin typeface="Arial"/>
              </a:rPr>
              <a:t>Serial 240108586510146</a:t>
            </a:r>
            <a:endParaRPr sz="1200"/>
          </a:p>
        </p:txBody>
      </p:sp>
      <p:sp>
        <p:nvSpPr>
          <p:cNvPr id="43" name="Text 43"/>
          <p:cNvSpPr txBox="1"/>
          <p:nvPr/>
        </p:nvSpPr>
        <p:spPr>
          <a:xfrm>
            <a:off x="10147300" y="4533900"/>
            <a:ext cx="1485900" cy="2814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200" b="0">
                <a:solidFill>
                  <a:srgbClr val="17344E"/>
                </a:solidFill>
                <a:latin typeface="Arial"/>
              </a:rPr>
              <a:t>1</a:t>
            </a:r>
            <a:endParaRPr sz="1200"/>
          </a:p>
        </p:txBody>
      </p:sp>
      <p:sp>
        <p:nvSpPr>
          <p:cNvPr id="44" name="Text 44"/>
          <p:cNvSpPr txBox="1"/>
          <p:nvPr/>
        </p:nvSpPr>
        <p:spPr>
          <a:xfrm>
            <a:off x="457200" y="6540500"/>
            <a:ext cx="9652000" cy="23647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900" b="0">
                <a:solidFill>
                  <a:srgbClr val="536B7D"/>
                </a:solidFill>
                <a:latin typeface="Arial"/>
              </a:rPr>
              <a:t>MACHINECARE | LOCAL PILOT | 19 OCT 2026</a:t>
            </a:r>
            <a:endParaRPr sz="900"/>
          </a:p>
        </p:txBody>
      </p:sp>
      <p:sp>
        <p:nvSpPr>
          <p:cNvPr id="45" name="Text 45"/>
          <p:cNvSpPr txBox="1"/>
          <p:nvPr/>
        </p:nvSpPr>
        <p:spPr>
          <a:xfrm>
            <a:off x="11303000" y="6451600"/>
            <a:ext cx="508000" cy="28143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lnSpc>
                <a:spcPct val="118000"/>
              </a:lnSpc>
            </a:pPr>
            <a:r>
              <a:rPr lang="en-US" sz="1200" b="1">
                <a:solidFill>
                  <a:srgbClr val="007F80"/>
                </a:solidFill>
                <a:latin typeface="Arial"/>
              </a:rPr>
              <a:t>23</a:t>
            </a:r>
            <a:endParaRPr sz="1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achineCare">
  <a:themeElements>
    <a:clrScheme name="MachineCare">
      <a:dk1>
        <a:srgbClr val="102238"/>
      </a:dk1>
      <a:lt1>
        <a:srgbClr val="FFFFFF"/>
      </a:lt1>
      <a:dk2>
        <a:srgbClr val="20374F"/>
      </a:dk2>
      <a:lt2>
        <a:srgbClr val="EAF1F5"/>
      </a:lt2>
      <a:accent1>
        <a:srgbClr val="29C6B7"/>
      </a:accent1>
      <a:accent2>
        <a:srgbClr val="3A84D6"/>
      </a:accent2>
      <a:accent3>
        <a:srgbClr val="F0B35C"/>
      </a:accent3>
      <a:accent4>
        <a:srgbClr val="97AAC0"/>
      </a:accent4>
      <a:accent5>
        <a:srgbClr val="6C83B5"/>
      </a:accent5>
      <a:accent6>
        <a:srgbClr val="CB7596"/>
      </a:accent6>
      <a:hlink>
        <a:srgbClr val="3A84D6"/>
      </a:hlink>
      <a:folHlink>
        <a:srgbClr val="6C83B5"/>
      </a:folHlink>
    </a:clrScheme>
    <a:fontScheme name="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Standard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