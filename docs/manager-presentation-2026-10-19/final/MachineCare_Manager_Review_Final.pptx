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9fdd77-87b2-9019-3d55-12cbaf4615a1}">
          <p14:sldIdLst>
            <p14:sldId id="256"/>
            <p14:sldId id="257"/>
            <p14:sldId id="258"/>
            <p14:sldId id="259"/>
          </p14:sldIdLst>
        </p14:section>
        <p14:section name="App walkthrough" id="{442d0577-d8eb-1754-adc1-8a483985b5c7}">
          <p14:sldIdLst>
            <p14:sldId id="260"/>
            <p14:sldId id="261"/>
            <p14:sldId id="262"/>
            <p14:sldId id="263"/>
            <p14:sldId id="264"/>
            <p14:sldId id="265"/>
            <p14:sldId id="266"/>
            <p14:sldId id="267"/>
            <p14:sldId id="268"/>
            <p14:sldId id="269"/>
          </p14:sldIdLst>
        </p14:section>
        <p14:section name="Path to production" id="{84123910-00f8-66c4-113d-8878aafbde1f}">
          <p14:sldIdLst>
            <p14:sldId id="270"/>
            <p14:sldId id="271"/>
            <p14:sldId id="272"/>
            <p14:sldId id="273"/>
            <p14:sldId id="274"/>
            <p14:sldId id="275"/>
            <p14:sldId id="276"/>
            <p14:sldId id="277"/>
          </p14:sldIdLst>
        </p14:section>
        <p14:section name="Appendix" id="{43bb2f62-f82d-87df-ea8c-ebb7ac920b3b}">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A3A"/>
                </a:solidFill>
                <a:latin typeface="+mn-lt"/>
              </a:defRPr>
            </a:pPr>
            <a:r>
              <a:rPr sz="1400" b="0" i="0" u="none" strike="noStrike">
                <a:solidFill>
                  <a:srgbClr val="0F2A3A"/>
                </a:solidFill>
                <a:latin typeface="+mn-lt"/>
              </a:rPr>
              <a:t>Cumulative cost (US$)</a:t>
            </a:r>
          </a:p>
        </c:rich>
      </c:tx>
      <c:layout/>
      <c:overlay val="0"/>
    </c:title>
    <c:autoTitleDeleted val="0"/>
    <c:plotArea>
      <c:layout/>
      <c:barChart>
        <c:barDir val="col"/>
        <c:grouping val="clustered"/>
        <c:varyColors val="0"/>
        <c:ser>
          <c:idx val="0"/>
          <c:order val="0"/>
          <c:tx>
            <c:strRef>
              <c:f>Sheet1!$B$1</c:f>
              <c:strCache>
                <c:ptCount val="1"/>
                <c:pt idx="0">
                  <c:v>Outside vendor</c:v>
                </c:pt>
              </c:strCache>
            </c:strRef>
          </c:tx>
          <c:spPr>
            <a:solidFill>
              <a:srgbClr val="C2410C"/>
            </a:solidFill>
            <a:effectLst/>
          </c:spPr>
          <c:invertIfNegative val="0"/>
          <c:dLbls>
            <c:numFmt formatCode="$#,##0,&quot;k&quot;" sourceLinked="0"/>
            <c:txPr>
              <a:bodyPr/>
              <a:lstStyle/>
              <a:p>
                <a:pPr>
                  <a:defRPr b="0" i="0" strike="noStrike" sz="1000" u="none">
                    <a:solidFill>
                      <a:srgbClr val="0F2A3A"/>
                    </a:solidFill>
                    <a:latin typeface="+mn-lt"/>
                  </a:defRPr>
                </a:pPr>
              </a:p>
            </c:txPr>
            <c:showLegendKey val="0"/>
            <c:showVal val="1"/>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Sheet1!$B$2:$B$6</c:f>
              <c:numCache>
                <c:formatCode>General</c:formatCode>
                <c:ptCount val="5"/>
                <c:pt idx="0">
                  <c:v>55760</c:v>
                </c:pt>
                <c:pt idx="1">
                  <c:v>95360</c:v>
                </c:pt>
                <c:pt idx="2">
                  <c:v>134960</c:v>
                </c:pt>
                <c:pt idx="3">
                  <c:v>174560</c:v>
                </c:pt>
                <c:pt idx="4">
                  <c:v>214160</c:v>
                </c:pt>
              </c:numCache>
            </c:numRef>
          </c:val>
        </c:ser>
        <c:ser>
          <c:idx val="1"/>
          <c:order val="1"/>
          <c:tx>
            <c:strRef>
              <c:f>Sheet1!$C$1</c:f>
              <c:strCache>
                <c:ptCount val="1"/>
                <c:pt idx="0">
                  <c:v>MachineCare (in-house)</c:v>
                </c:pt>
              </c:strCache>
            </c:strRef>
          </c:tx>
          <c:spPr>
            <a:solidFill>
              <a:srgbClr val="00695C"/>
            </a:solidFill>
            <a:effectLst/>
          </c:spPr>
          <c:invertIfNegative val="0"/>
          <c:dLbls>
            <c:numFmt formatCode="$#,##0,&quot;k&quot;" sourceLinked="0"/>
            <c:txPr>
              <a:bodyPr/>
              <a:lstStyle/>
              <a:p>
                <a:pPr>
                  <a:defRPr b="0" i="0" strike="noStrike" sz="1000" u="none">
                    <a:solidFill>
                      <a:srgbClr val="0F2A3A"/>
                    </a:solidFill>
                    <a:latin typeface="+mn-lt"/>
                  </a:defRPr>
                </a:pPr>
              </a:p>
            </c:txPr>
            <c:showLegendKey val="0"/>
            <c:showVal val="1"/>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Sheet1!$C$2:$C$6</c:f>
              <c:numCache>
                <c:formatCode>General</c:formatCode>
                <c:ptCount val="5"/>
                <c:pt idx="0">
                  <c:v>22400</c:v>
                </c:pt>
                <c:pt idx="1">
                  <c:v>32240</c:v>
                </c:pt>
                <c:pt idx="2">
                  <c:v>42080</c:v>
                </c:pt>
                <c:pt idx="3">
                  <c:v>51920</c:v>
                </c:pt>
                <c:pt idx="4">
                  <c:v>61760</c:v>
                </c:pt>
              </c:numCache>
            </c:numRef>
          </c:val>
        </c:ser>
        <c:dLbls>
          <c:numFmt formatCode="$#,##0,&quot;k&quot;" sourceLinked="0"/>
          <c:txPr>
            <a:bodyPr/>
            <a:lstStyle/>
            <a:p>
              <a:pPr>
                <a:defRPr b="0" i="0" strike="noStrike" sz="1000" u="none">
                  <a:solidFill>
                    <a:srgbClr val="0F2A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2A3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AED"/>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purpose: MachineCare connects machines, shared spare parts and each replacement so we can answer what was replaced, where, by whom, with which part and at what cost. Today it is a working local pilot on this laptop, not a company-wide production system. The screenshots in this deck come from the real application running on a demonstration copy of the data. The ask at the end is a supervised one-line validation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intended benefits, not measured savings. Today this information is spread across people, paper and spreadsheets. The pilot should measure three things: traceability of replacements, stock accuracy, and how easy the app is for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shown in the walkthrough works end to end in the browser. Test counts are from a run on 19 October 2026 against disposable databases. Tests prove the rules behave; they do not replace a signed-in acceptance session with real users, which is still on the production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are configured: B01/L01, B01/L02 and B03/L02. Each has two DIMM presses and one AOI, which gives six DIMMs and three AOIs. The existing ACOS station and conveyor were kept, giving 11 equipment records. Part references are real; asset tags and stations for the newly added machines are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 accounts, access, plant structure, system configuration and backups. Lead: runs operations, including the catalog, stock, purchasing, approvals and audit, but can never edit accounts. Technician: works on assigned machines and can complete or cancel only their own work. Machine access is scoped by building and line, and moves check both the source and the destination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landing page after sign-in. Point at the counters, then the production status chips, then the low-stock list. In the demo, the solenoid valve shows 8 available against a threshold of 10. These numbers come from the demo copy, not from real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B01, then L01: two DIMM presses and one AOI. Open a machine to see its compatible parts and request a replacement. Leads and administrators can register, edit, move or retire machines inside their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AOI control box shows VEVOR and the supplied serial number. The tag 'Demo stock / planning values' means the opening stock, $0 price, bin and 365-day interval are placeholders. Receive, adjust and reorder are available to leads and administrators; adjustments need a reason and cannot consume reserved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A normal request is approved immediately and reserves stock. If the same part on the same machine is replaced before its expected life, the technician must explain why and a lead reviews it. A pending early request reserves nothing. Completion deducts stock exactly once, creates the history record and releases the reservation. If completion fails, the reservation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 6 is an early replacement: the leak came back after three days. A lead can approve or reject it with a comment, but cannot approve their own request. Request 5 is approved and holds two units in reserve. Record physical completion only after the work is actually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shows completed work only. Because location and cost are snapshots, older records stay correct when things change later. The stock ledger is append-only: nothing is overwritten, and corrections are new, explained entries. Recorded costs of $0 are the unknown-price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Supplier ordering itself is still manual: the app records the PO reference but does not send anything to a supplier or ERP. Cancelling an open balance keeps what was already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are re-evaluated whenever someone uses the app, or continuously if the optional background worker is running. Email notification is built in but switched off: it needs an approved mail server and explicit authorization. Administrators also have a system-status view for background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protections are tested automatically. They are a strong base, but an engineering review is not an independent security assessment, which is still a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summary. The software features a maintenance team needs are built and tested. What is missing is mostly not code: verified data, an approved hosting setup, company identity and security sign-off, operations ownership, and four business-rule decisions only management can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acceptance gates, not a delivery date. Each needs an owner and evidence. The most urgent technical item is the Python runtime: version 3.10 reached end of support on 1 October 2026, so production must use a supported version and the tests must be re-run on it. The current built-in Python web server is fine for a local pilot but is documented as unsuitable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deliberately not built on guesswork, because each one changes stock, history and approvals. Options: agree the rules and build them, or explicitly leave them out of the first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pilot measures: share of replacements recorded with full traceability, stock-count accuracy against a physical count for the pilot line, and operator feedback on usability. Agree these before promising savings or a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Five-year cost: outside vendor $214,160, MachineCare $61,760, a saving of $152,400. Year 1: vendor $55,760 (licences $37,200, the $10,000 installation, and our own data, training, security and admin time); MachineCare $22,400. Each later year: vendor $39,600, MachineCare $9,840. Both options include the same stock count, training and in-house security review effort, so the difference is mainly licences versus our own support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top to bottom. Licences and fees are the vendor's main cost. MachineCare's are setup and deployment (one-time) plus hosting and support (every year). Security, data preparation and training are the same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numbers from the spreadsheet you supplied. Right: realistic costs I added so the comparison covers everything. Each can be set to zero, and without them the totals are exactly your sheet: vendor $201,680, MachineCare $60,480. The conclusion does not depend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three concrete requests. Do not commit to a production date until the gates have owners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exactly as supplied by maintenance. Spare quantities in the demo are illustrative and separate from installed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Identifiers kept verbatim pending nameplate confirmation. Catalog entries for safety components are not an inspection or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The Comparison sheet in docs/budget/MachineCare_Cost_Comparison.xlsx shows each line for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EEF4F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chemeClr val="accent5"/>
                </a:solidFill>
              </a:rPr>
              <a:t>MachineCare  ·  Manager review  ·  19 October 2026</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A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2.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lIns="0" tIns="0" rIns="0" bIns="0" rtlCol="0"/>
          <a:lstStyle/>
          <a:p>
            <a:pPr indent="0" marL="0">
              <a:buNone/>
            </a:pPr>
            <a:r>
              <a:rPr lang="en-US" sz="1200" b="1" spc="200" kern="0" dirty="0">
                <a:solidFill>
                  <a:schemeClr val="accent2"/>
                </a:solidFill>
              </a:rPr>
              <a:t>MANAGER REVIEW  ·  19 OCTOBER 2026</a:t>
            </a: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lIns="0" tIns="0" rIns="0" bIns="0" rtlCol="0" anchor="t"/>
          <a:lstStyle/>
          <a:p>
            <a:pPr algn="l" indent="0" marL="0">
              <a:buNone/>
            </a:pPr>
            <a:r>
              <a:rPr lang="en-US" sz="3600" b="1" dirty="0">
                <a:solidFill>
                  <a:schemeClr val="bg1"/>
                </a:solidFill>
              </a:rPr>
              <a:t>MachineCare</a:t>
            </a:r>
            <a:endParaRPr lang="en-US" sz="3600" dirty="0"/>
          </a:p>
        </p:txBody>
      </p:sp>
      <p:sp>
        <p:nvSpPr>
          <p:cNvPr id="4" name="Text 2"/>
          <p:cNvSpPr txBox="1"/>
          <p:nvPr/>
        </p:nvSpPr>
        <p:spPr>
          <a:xfrm>
            <a:off x="548640" y="1691640"/>
            <a:ext cx="5120640" cy="914400"/>
          </a:xfrm>
          <a:prstGeom prst="rect">
            <a:avLst/>
          </a:prstGeom>
          <a:noFill/>
          <a:ln/>
        </p:spPr>
        <p:txBody>
          <a:bodyPr wrap="square" lIns="0" tIns="0" rIns="0" bIns="0" rtlCol="0" anchor="ctr"/>
          <a:lstStyle/>
          <a:p>
            <a:pPr indent="0" marL="0">
              <a:buNone/>
            </a:pPr>
            <a:r>
              <a:rPr lang="en-US" sz="2200" dirty="0">
                <a:solidFill>
                  <a:schemeClr val="accent6"/>
                </a:solidFill>
              </a:rPr>
              <a:t>Equipment, spare parts and every replacement in one traceable record</a:t>
            </a:r>
            <a:endParaRPr lang="en-US" sz="2200" dirty="0"/>
          </a:p>
        </p:txBody>
      </p:sp>
      <p:sp>
        <p:nvSpPr>
          <p:cNvPr id="5" name="Text 3"/>
          <p:cNvSpPr txBox="1"/>
          <p:nvPr/>
        </p:nvSpPr>
        <p:spPr>
          <a:xfrm>
            <a:off x="548640" y="2926080"/>
            <a:ext cx="4937760" cy="1371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chemeClr val="bg1"/>
                </a:solidFill>
              </a:rPr>
              <a:t>Working local pilot for DIMM press and AOI lines</a:t>
            </a:r>
            <a:endParaRPr lang="en-US" sz="1600" dirty="0"/>
          </a:p>
          <a:p>
            <a:pPr marL="342900" indent="-342900">
              <a:spcAft>
                <a:spcPts val="800"/>
              </a:spcAft>
              <a:buSzPct val="100000"/>
              <a:buChar char="•"/>
            </a:pPr>
            <a:r>
              <a:rPr lang="en-US" sz="1600" dirty="0">
                <a:solidFill>
                  <a:schemeClr val="bg1"/>
                </a:solidFill>
              </a:rPr>
              <a:t>Walkthrough of the app as it runs today</a:t>
            </a:r>
            <a:endParaRPr lang="en-US" sz="1600" dirty="0"/>
          </a:p>
          <a:p>
            <a:pPr marL="342900" indent="-342900">
              <a:spcAft>
                <a:spcPts val="800"/>
              </a:spcAft>
              <a:buSzPct val="100000"/>
              <a:buChar char="•"/>
            </a:pPr>
            <a:r>
              <a:rPr lang="en-US" sz="1600" dirty="0">
                <a:solidFill>
                  <a:schemeClr val="bg1"/>
                </a:solidFill>
              </a:rPr>
              <a:t>What still stands between the pilot and production</a:t>
            </a:r>
            <a:endParaRPr lang="en-US" sz="1600" dirty="0"/>
          </a:p>
        </p:txBody>
      </p:sp>
      <p:sp>
        <p:nvSpPr>
          <p:cNvPr id="6" name="Shape 4"/>
          <p:cNvSpPr/>
          <p:nvPr/>
        </p:nvSpPr>
        <p:spPr>
          <a:xfrm>
            <a:off x="548640" y="4846320"/>
            <a:ext cx="4023360" cy="548640"/>
          </a:xfrm>
          <a:prstGeom prst="roundRect">
            <a:avLst>
              <a:gd name="adj" fmla="val 50000"/>
            </a:avLst>
          </a:prstGeom>
          <a:solidFill>
            <a:schemeClr val="accent1"/>
          </a:solidFill>
          <a:ln/>
        </p:spPr>
      </p:sp>
      <p:sp>
        <p:nvSpPr>
          <p:cNvPr id="7" name="Text 5"/>
          <p:cNvSpPr txBox="1"/>
          <p:nvPr/>
        </p:nvSpPr>
        <p:spPr>
          <a:xfrm>
            <a:off x="548640" y="4846320"/>
            <a:ext cx="4023360" cy="548640"/>
          </a:xfrm>
          <a:prstGeom prst="rect">
            <a:avLst/>
          </a:prstGeom>
          <a:noFill/>
          <a:ln/>
        </p:spPr>
        <p:txBody>
          <a:bodyPr wrap="square" lIns="0" tIns="0" rIns="0" bIns="0" rtlCol="0" anchor="ctr"/>
          <a:lstStyle/>
          <a:p>
            <a:pPr algn="ctr" indent="0" marL="0">
              <a:buNone/>
            </a:pPr>
            <a:r>
              <a:rPr lang="en-US" sz="1500" b="1" dirty="0">
                <a:solidFill>
                  <a:schemeClr val="bg1"/>
                </a:solidFill>
              </a:rPr>
              <a:t>Ask: approve a one-line validation pilot</a:t>
            </a:r>
            <a:endParaRPr lang="en-US" sz="1500" dirty="0"/>
          </a:p>
        </p:txBody>
      </p:sp>
      <p:pic>
        <p:nvPicPr>
          <p:cNvPr id="8" name="Image 0" descr="MachineCare overview screen">    </p:cNvPr>
          <p:cNvPicPr>
            <a:picLocks noChangeAspect="1"/>
          </p:cNvPicPr>
          <p:nvPr/>
        </p:nvPicPr>
        <p:blipFill>
          <a:blip r:embed="rId1"/>
          <a:stretch>
            <a:fillRect/>
          </a:stretch>
        </p:blipFill>
        <p:spPr>
          <a:xfrm>
            <a:off x="6035040" y="1828800"/>
            <a:ext cx="5669280" cy="3543300"/>
          </a:xfrm>
          <a:prstGeom prst="rect">
            <a:avLst/>
          </a:prstGeom>
          <a:effectLst>
            <a:outerShdw sx="100000" sy="100000" kx="0" ky="0" algn="bl" rotWithShape="0" blurRad="152400" dist="50800" dir="5400000">
              <a:srgbClr val="000000">
                <a:alpha val="40000"/>
              </a:srgbClr>
            </a:outerShdw>
          </a:effectLst>
        </p:spPr>
      </p:pic>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WHY THIS MATTERS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Three questions maintenance must answer quickly</a:t>
            </a:r>
            <a:endParaRPr lang="en-US" sz="3200" dirty="0"/>
          </a:p>
        </p:txBody>
      </p:sp>
      <p:sp>
        <p:nvSpPr>
          <p:cNvPr id="4" name="Shape 2"/>
          <p:cNvSpPr/>
          <p:nvPr/>
        </p:nvSpPr>
        <p:spPr>
          <a:xfrm>
            <a:off x="54864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Shape 3"/>
          <p:cNvSpPr/>
          <p:nvPr/>
        </p:nvSpPr>
        <p:spPr>
          <a:xfrm>
            <a:off x="868680" y="1920240"/>
            <a:ext cx="822960" cy="822960"/>
          </a:xfrm>
          <a:prstGeom prst="ellipse">
            <a:avLst/>
          </a:prstGeom>
          <a:solidFill>
            <a:srgbClr val="E0F2F1"/>
          </a:solidFill>
          <a:ln/>
        </p:spPr>
      </p:sp>
      <p:pic>
        <p:nvPicPr>
          <p:cNvPr id="6" name="Image 0" descr="preencoded.png">    </p:cNvPr>
          <p:cNvPicPr>
            <a:picLocks noChangeAspect="1"/>
          </p:cNvPicPr>
          <p:nvPr/>
        </p:nvPicPr>
        <p:blipFill>
          <a:blip r:embed="rId1"/>
          <a:stretch>
            <a:fillRect/>
          </a:stretch>
        </p:blipFill>
        <p:spPr>
          <a:xfrm>
            <a:off x="1069848" y="2121408"/>
            <a:ext cx="420624" cy="420624"/>
          </a:xfrm>
          <a:prstGeom prst="rect">
            <a:avLst/>
          </a:prstGeom>
        </p:spPr>
      </p:pic>
      <p:sp>
        <p:nvSpPr>
          <p:cNvPr id="7" name="Text 4"/>
          <p:cNvSpPr txBox="1"/>
          <p:nvPr/>
        </p:nvSpPr>
        <p:spPr>
          <a:xfrm>
            <a:off x="86868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Which machine?</a:t>
            </a:r>
            <a:endParaRPr lang="en-US" sz="2200" dirty="0"/>
          </a:p>
        </p:txBody>
      </p:sp>
      <p:sp>
        <p:nvSpPr>
          <p:cNvPr id="8" name="Text 5"/>
          <p:cNvSpPr txBox="1"/>
          <p:nvPr/>
        </p:nvSpPr>
        <p:spPr>
          <a:xfrm>
            <a:off x="86868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Building › line › station › machine, with the parts each machine type is compatible with.</a:t>
            </a:r>
            <a:endParaRPr lang="en-US" sz="1500" dirty="0"/>
          </a:p>
        </p:txBody>
      </p:sp>
      <p:sp>
        <p:nvSpPr>
          <p:cNvPr id="9" name="Shape 6"/>
          <p:cNvSpPr/>
          <p:nvPr/>
        </p:nvSpPr>
        <p:spPr>
          <a:xfrm>
            <a:off x="434340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Shape 7"/>
          <p:cNvSpPr/>
          <p:nvPr/>
        </p:nvSpPr>
        <p:spPr>
          <a:xfrm>
            <a:off x="4663440" y="1920240"/>
            <a:ext cx="822960" cy="822960"/>
          </a:xfrm>
          <a:prstGeom prst="ellipse">
            <a:avLst/>
          </a:prstGeom>
          <a:solidFill>
            <a:srgbClr val="E0F2F1"/>
          </a:solidFill>
          <a:ln/>
        </p:spPr>
      </p:sp>
      <p:pic>
        <p:nvPicPr>
          <p:cNvPr id="11" name="Image 1" descr="preencoded.png">    </p:cNvPr>
          <p:cNvPicPr>
            <a:picLocks noChangeAspect="1"/>
          </p:cNvPicPr>
          <p:nvPr/>
        </p:nvPicPr>
        <p:blipFill>
          <a:blip r:embed="rId2"/>
          <a:stretch>
            <a:fillRect/>
          </a:stretch>
        </p:blipFill>
        <p:spPr>
          <a:xfrm>
            <a:off x="4864608" y="2121408"/>
            <a:ext cx="420624" cy="420624"/>
          </a:xfrm>
          <a:prstGeom prst="rect">
            <a:avLst/>
          </a:prstGeom>
        </p:spPr>
      </p:pic>
      <p:sp>
        <p:nvSpPr>
          <p:cNvPr id="12" name="Text 8"/>
          <p:cNvSpPr txBox="1"/>
          <p:nvPr/>
        </p:nvSpPr>
        <p:spPr>
          <a:xfrm>
            <a:off x="466344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What do we have?</a:t>
            </a:r>
            <a:endParaRPr lang="en-US" sz="2200" dirty="0"/>
          </a:p>
        </p:txBody>
      </p:sp>
      <p:sp>
        <p:nvSpPr>
          <p:cNvPr id="13" name="Text 9"/>
          <p:cNvSpPr txBox="1"/>
          <p:nvPr/>
        </p:nvSpPr>
        <p:spPr>
          <a:xfrm>
            <a:off x="466344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Physical, reserved and available stock for shared spares, and low-stock alerts before a line waits on a part.</a:t>
            </a:r>
            <a:endParaRPr lang="en-US" sz="1500" dirty="0"/>
          </a:p>
        </p:txBody>
      </p:sp>
      <p:sp>
        <p:nvSpPr>
          <p:cNvPr id="14" name="Shape 10"/>
          <p:cNvSpPr/>
          <p:nvPr/>
        </p:nvSpPr>
        <p:spPr>
          <a:xfrm>
            <a:off x="813816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Shape 11"/>
          <p:cNvSpPr/>
          <p:nvPr/>
        </p:nvSpPr>
        <p:spPr>
          <a:xfrm>
            <a:off x="8458200" y="1920240"/>
            <a:ext cx="822960" cy="822960"/>
          </a:xfrm>
          <a:prstGeom prst="ellipse">
            <a:avLst/>
          </a:prstGeom>
          <a:solidFill>
            <a:srgbClr val="E0F2F1"/>
          </a:solidFill>
          <a:ln/>
        </p:spPr>
      </p:sp>
      <p:pic>
        <p:nvPicPr>
          <p:cNvPr id="16" name="Image 2" descr="preencoded.png">    </p:cNvPr>
          <p:cNvPicPr>
            <a:picLocks noChangeAspect="1"/>
          </p:cNvPicPr>
          <p:nvPr/>
        </p:nvPicPr>
        <p:blipFill>
          <a:blip r:embed="rId3"/>
          <a:stretch>
            <a:fillRect/>
          </a:stretch>
        </p:blipFill>
        <p:spPr>
          <a:xfrm>
            <a:off x="8659368" y="2121408"/>
            <a:ext cx="420624" cy="420624"/>
          </a:xfrm>
          <a:prstGeom prst="rect">
            <a:avLst/>
          </a:prstGeom>
        </p:spPr>
      </p:pic>
      <p:sp>
        <p:nvSpPr>
          <p:cNvPr id="17" name="Text 12"/>
          <p:cNvSpPr txBox="1"/>
          <p:nvPr/>
        </p:nvSpPr>
        <p:spPr>
          <a:xfrm>
            <a:off x="845820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What happened?</a:t>
            </a:r>
            <a:endParaRPr lang="en-US" sz="2200" dirty="0"/>
          </a:p>
        </p:txBody>
      </p:sp>
      <p:sp>
        <p:nvSpPr>
          <p:cNvPr id="18" name="Text 13"/>
          <p:cNvSpPr txBox="1"/>
          <p:nvPr/>
        </p:nvSpPr>
        <p:spPr>
          <a:xfrm>
            <a:off x="845820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Who replaced which part, when, where, why, and at what cost, recorded at the moment the work is completed.</a:t>
            </a:r>
            <a:endParaRPr lang="en-US" sz="1500" dirty="0"/>
          </a:p>
        </p:txBody>
      </p:sp>
      <p:sp>
        <p:nvSpPr>
          <p:cNvPr id="19" name="Shape 14"/>
          <p:cNvSpPr/>
          <p:nvPr/>
        </p:nvSpPr>
        <p:spPr>
          <a:xfrm>
            <a:off x="548640" y="5257800"/>
            <a:ext cx="11064240" cy="685800"/>
          </a:xfrm>
          <a:prstGeom prst="roundRect">
            <a:avLst>
              <a:gd name="adj" fmla="val 13333"/>
            </a:avLst>
          </a:prstGeom>
          <a:solidFill>
            <a:schemeClr val="tx2"/>
          </a:solidFill>
          <a:ln/>
        </p:spPr>
      </p:sp>
      <p:sp>
        <p:nvSpPr>
          <p:cNvPr id="20" name="Text 15"/>
          <p:cNvSpPr txBox="1"/>
          <p:nvPr/>
        </p:nvSpPr>
        <p:spPr>
          <a:xfrm>
            <a:off x="822960" y="5257800"/>
            <a:ext cx="10515600" cy="685800"/>
          </a:xfrm>
          <a:prstGeom prst="rect">
            <a:avLst/>
          </a:prstGeom>
          <a:noFill/>
          <a:ln/>
        </p:spPr>
        <p:txBody>
          <a:bodyPr wrap="square" lIns="0" tIns="0" rIns="0" bIns="0" rtlCol="0" anchor="ctr"/>
          <a:lstStyle/>
          <a:p>
            <a:pPr indent="0" marL="0">
              <a:buNone/>
            </a:pPr>
            <a:r>
              <a:rPr lang="en-US" sz="1800" b="1" dirty="0">
                <a:solidFill>
                  <a:schemeClr val="accent2"/>
                </a:solidFill>
              </a:rPr>
              <a:t>One workflow:  </a:t>
            </a:r>
            <a:pPr indent="0" marL="0">
              <a:buNone/>
            </a:pPr>
            <a:r>
              <a:rPr lang="en-US" sz="1800" dirty="0">
                <a:solidFill>
                  <a:schemeClr val="bg1"/>
                </a:solidFill>
              </a:rPr>
              <a:t>Request  →  Review  →  Reserve stock  →  Complete  →  Traceable history</a:t>
            </a:r>
            <a:endParaRPr lang="en-US" sz="18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WHAT EXISTS TODAY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 complete working pilot, not a mock-up</a:t>
            </a:r>
            <a:endParaRPr lang="en-US" sz="3200" dirty="0"/>
          </a:p>
        </p:txBody>
      </p:sp>
      <p:sp>
        <p:nvSpPr>
          <p:cNvPr id="4" name="Shape 2"/>
          <p:cNvSpPr/>
          <p:nvPr/>
        </p:nvSpPr>
        <p:spPr>
          <a:xfrm>
            <a:off x="54864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82296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11</a:t>
            </a:r>
            <a:endParaRPr lang="en-US" sz="5400" dirty="0"/>
          </a:p>
        </p:txBody>
      </p:sp>
      <p:sp>
        <p:nvSpPr>
          <p:cNvPr id="6" name="Text 4"/>
          <p:cNvSpPr txBox="1"/>
          <p:nvPr/>
        </p:nvSpPr>
        <p:spPr>
          <a:xfrm>
            <a:off x="82296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screens</a:t>
            </a:r>
            <a:endParaRPr lang="en-US" sz="1800" dirty="0"/>
          </a:p>
        </p:txBody>
      </p:sp>
      <p:sp>
        <p:nvSpPr>
          <p:cNvPr id="7" name="Text 5"/>
          <p:cNvSpPr txBox="1"/>
          <p:nvPr/>
        </p:nvSpPr>
        <p:spPr>
          <a:xfrm>
            <a:off x="82296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Overview to Reports</a:t>
            </a:r>
            <a:endParaRPr lang="en-US" sz="1300" dirty="0"/>
          </a:p>
        </p:txBody>
      </p:sp>
      <p:sp>
        <p:nvSpPr>
          <p:cNvPr id="8" name="Shape 6"/>
          <p:cNvSpPr/>
          <p:nvPr/>
        </p:nvSpPr>
        <p:spPr>
          <a:xfrm>
            <a:off x="338328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9" name="Text 7"/>
          <p:cNvSpPr txBox="1"/>
          <p:nvPr/>
        </p:nvSpPr>
        <p:spPr>
          <a:xfrm>
            <a:off x="365760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3</a:t>
            </a:r>
            <a:endParaRPr lang="en-US" sz="5400" dirty="0"/>
          </a:p>
        </p:txBody>
      </p:sp>
      <p:sp>
        <p:nvSpPr>
          <p:cNvPr id="10" name="Text 8"/>
          <p:cNvSpPr txBox="1"/>
          <p:nvPr/>
        </p:nvSpPr>
        <p:spPr>
          <a:xfrm>
            <a:off x="365760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roles</a:t>
            </a:r>
            <a:endParaRPr lang="en-US" sz="1800" dirty="0"/>
          </a:p>
        </p:txBody>
      </p:sp>
      <p:sp>
        <p:nvSpPr>
          <p:cNvPr id="11" name="Text 9"/>
          <p:cNvSpPr txBox="1"/>
          <p:nvPr/>
        </p:nvSpPr>
        <p:spPr>
          <a:xfrm>
            <a:off x="365760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Admin · Lead · Technician</a:t>
            </a:r>
            <a:endParaRPr lang="en-US" sz="1300" dirty="0"/>
          </a:p>
        </p:txBody>
      </p:sp>
      <p:sp>
        <p:nvSpPr>
          <p:cNvPr id="12" name="Shape 10"/>
          <p:cNvSpPr/>
          <p:nvPr/>
        </p:nvSpPr>
        <p:spPr>
          <a:xfrm>
            <a:off x="621792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3" name="Text 11"/>
          <p:cNvSpPr txBox="1"/>
          <p:nvPr/>
        </p:nvSpPr>
        <p:spPr>
          <a:xfrm>
            <a:off x="649224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11</a:t>
            </a:r>
            <a:endParaRPr lang="en-US" sz="5400" dirty="0"/>
          </a:p>
        </p:txBody>
      </p:sp>
      <p:sp>
        <p:nvSpPr>
          <p:cNvPr id="14" name="Text 12"/>
          <p:cNvSpPr txBox="1"/>
          <p:nvPr/>
        </p:nvSpPr>
        <p:spPr>
          <a:xfrm>
            <a:off x="649224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machines</a:t>
            </a:r>
            <a:endParaRPr lang="en-US" sz="1800" dirty="0"/>
          </a:p>
        </p:txBody>
      </p:sp>
      <p:sp>
        <p:nvSpPr>
          <p:cNvPr id="15" name="Text 13"/>
          <p:cNvSpPr txBox="1"/>
          <p:nvPr/>
        </p:nvSpPr>
        <p:spPr>
          <a:xfrm>
            <a:off x="649224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6 DIMM + 3 AOI + 2 others</a:t>
            </a:r>
            <a:endParaRPr lang="en-US" sz="1300" dirty="0"/>
          </a:p>
        </p:txBody>
      </p:sp>
      <p:sp>
        <p:nvSpPr>
          <p:cNvPr id="16" name="Shape 14"/>
          <p:cNvSpPr/>
          <p:nvPr/>
        </p:nvSpPr>
        <p:spPr>
          <a:xfrm>
            <a:off x="905256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7" name="Text 15"/>
          <p:cNvSpPr txBox="1"/>
          <p:nvPr/>
        </p:nvSpPr>
        <p:spPr>
          <a:xfrm>
            <a:off x="932688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20</a:t>
            </a:r>
            <a:endParaRPr lang="en-US" sz="5400" dirty="0"/>
          </a:p>
        </p:txBody>
      </p:sp>
      <p:sp>
        <p:nvSpPr>
          <p:cNvPr id="18" name="Text 16"/>
          <p:cNvSpPr txBox="1"/>
          <p:nvPr/>
        </p:nvSpPr>
        <p:spPr>
          <a:xfrm>
            <a:off x="932688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catalog parts</a:t>
            </a:r>
            <a:endParaRPr lang="en-US" sz="1800" dirty="0"/>
          </a:p>
        </p:txBody>
      </p:sp>
      <p:sp>
        <p:nvSpPr>
          <p:cNvPr id="19" name="Text 17"/>
          <p:cNvSpPr txBox="1"/>
          <p:nvPr/>
        </p:nvSpPr>
        <p:spPr>
          <a:xfrm>
            <a:off x="932688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with real DIMM/AOI references</a:t>
            </a:r>
            <a:endParaRPr lang="en-US" sz="1300" dirty="0"/>
          </a:p>
        </p:txBody>
      </p:sp>
      <p:sp>
        <p:nvSpPr>
          <p:cNvPr id="20" name="Shape 18"/>
          <p:cNvSpPr/>
          <p:nvPr/>
        </p:nvSpPr>
        <p:spPr>
          <a:xfrm>
            <a:off x="548640" y="3886200"/>
            <a:ext cx="5486400" cy="2240280"/>
          </a:xfrm>
          <a:prstGeom prst="roundRect">
            <a:avLst>
              <a:gd name="adj" fmla="val 4082"/>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1" name="Text 19"/>
          <p:cNvSpPr txBox="1"/>
          <p:nvPr/>
        </p:nvSpPr>
        <p:spPr>
          <a:xfrm>
            <a:off x="822960" y="4023360"/>
            <a:ext cx="4937760" cy="365760"/>
          </a:xfrm>
          <a:prstGeom prst="rect">
            <a:avLst/>
          </a:prstGeom>
          <a:noFill/>
          <a:ln/>
        </p:spPr>
        <p:txBody>
          <a:bodyPr wrap="square" lIns="0" tIns="0" rIns="0" bIns="0" rtlCol="0" anchor="ctr"/>
          <a:lstStyle/>
          <a:p>
            <a:pPr indent="0" marL="0">
              <a:buNone/>
            </a:pPr>
            <a:r>
              <a:rPr lang="en-US" sz="1800" b="1" dirty="0">
                <a:solidFill>
                  <a:schemeClr val="tx2"/>
                </a:solidFill>
              </a:rPr>
              <a:t>Built with</a:t>
            </a:r>
            <a:endParaRPr lang="en-US" sz="1800" dirty="0"/>
          </a:p>
        </p:txBody>
      </p:sp>
      <p:sp>
        <p:nvSpPr>
          <p:cNvPr id="22" name="Text 20"/>
          <p:cNvSpPr txBox="1"/>
          <p:nvPr/>
        </p:nvSpPr>
        <p:spPr>
          <a:xfrm>
            <a:off x="822960" y="4434840"/>
            <a:ext cx="5029200" cy="16002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accent5"/>
                </a:solidFill>
              </a:rPr>
              <a:t>Flutter web front end (works on desktop, tablet, phone)</a:t>
            </a:r>
            <a:endParaRPr lang="en-US" sz="1400" dirty="0"/>
          </a:p>
          <a:p>
            <a:pPr marL="342900" indent="-342900">
              <a:spcAft>
                <a:spcPts val="400"/>
              </a:spcAft>
              <a:buSzPct val="100000"/>
              <a:buChar char="•"/>
            </a:pPr>
            <a:r>
              <a:rPr lang="en-US" sz="1400" dirty="0">
                <a:solidFill>
                  <a:schemeClr val="accent5"/>
                </a:solidFill>
              </a:rPr>
              <a:t>Python API using only the standard library</a:t>
            </a:r>
            <a:endParaRPr lang="en-US" sz="1400" dirty="0"/>
          </a:p>
          <a:p>
            <a:pPr marL="342900" indent="-342900">
              <a:spcAft>
                <a:spcPts val="400"/>
              </a:spcAft>
              <a:buSzPct val="100000"/>
              <a:buChar char="•"/>
            </a:pPr>
            <a:r>
              <a:rPr lang="en-US" sz="1400" dirty="0">
                <a:solidFill>
                  <a:schemeClr val="accent5"/>
                </a:solidFill>
              </a:rPr>
              <a:t>SQLite database with 7 ordered schema migrations</a:t>
            </a:r>
            <a:endParaRPr lang="en-US" sz="1400" dirty="0"/>
          </a:p>
          <a:p>
            <a:pPr marL="342900" indent="-342900">
              <a:spcAft>
                <a:spcPts val="400"/>
              </a:spcAft>
              <a:buSzPct val="100000"/>
              <a:buChar char="•"/>
            </a:pPr>
            <a:r>
              <a:rPr lang="en-US" sz="1400" dirty="0">
                <a:solidFill>
                  <a:schemeClr val="accent5"/>
                </a:solidFill>
              </a:rPr>
              <a:t>Optional background worker: checks, backups, email</a:t>
            </a:r>
            <a:endParaRPr lang="en-US" sz="1400" dirty="0"/>
          </a:p>
        </p:txBody>
      </p:sp>
      <p:sp>
        <p:nvSpPr>
          <p:cNvPr id="23" name="Shape 21"/>
          <p:cNvSpPr/>
          <p:nvPr/>
        </p:nvSpPr>
        <p:spPr>
          <a:xfrm>
            <a:off x="6263640" y="3886200"/>
            <a:ext cx="5349240" cy="2240280"/>
          </a:xfrm>
          <a:prstGeom prst="roundRect">
            <a:avLst>
              <a:gd name="adj" fmla="val 4082"/>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4" name="Text 22"/>
          <p:cNvSpPr txBox="1"/>
          <p:nvPr/>
        </p:nvSpPr>
        <p:spPr>
          <a:xfrm>
            <a:off x="6537960" y="4023360"/>
            <a:ext cx="4846320" cy="365760"/>
          </a:xfrm>
          <a:prstGeom prst="rect">
            <a:avLst/>
          </a:prstGeom>
          <a:noFill/>
          <a:ln/>
        </p:spPr>
        <p:txBody>
          <a:bodyPr wrap="square" lIns="0" tIns="0" rIns="0" bIns="0" rtlCol="0" anchor="ctr"/>
          <a:lstStyle/>
          <a:p>
            <a:pPr indent="0" marL="0">
              <a:buNone/>
            </a:pPr>
            <a:r>
              <a:rPr lang="en-US" sz="1800" b="1" dirty="0">
                <a:solidFill>
                  <a:schemeClr val="tx2"/>
                </a:solidFill>
              </a:rPr>
              <a:t>Verified by automated tests</a:t>
            </a:r>
            <a:endParaRPr lang="en-US" sz="1800" dirty="0"/>
          </a:p>
        </p:txBody>
      </p:sp>
      <p:sp>
        <p:nvSpPr>
          <p:cNvPr id="25" name="Text 23"/>
          <p:cNvSpPr txBox="1"/>
          <p:nvPr/>
        </p:nvSpPr>
        <p:spPr>
          <a:xfrm>
            <a:off x="6537960" y="4434840"/>
            <a:ext cx="4892040" cy="16002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accent5"/>
                </a:solidFill>
              </a:rPr>
              <a:t>140 backend tests: permissions, stock, workflows, security, backups</a:t>
            </a:r>
            <a:endParaRPr lang="en-US" sz="1400" dirty="0"/>
          </a:p>
          <a:p>
            <a:pPr marL="342900" indent="-342900">
              <a:spcAft>
                <a:spcPts val="400"/>
              </a:spcAft>
              <a:buSzPct val="100000"/>
              <a:buChar char="•"/>
            </a:pPr>
            <a:r>
              <a:rPr lang="en-US" sz="1400" dirty="0">
                <a:solidFill>
                  <a:schemeClr val="accent5"/>
                </a:solidFill>
              </a:rPr>
              <a:t>45 Flutter widget tests: screens, roles, forms, layouts</a:t>
            </a:r>
            <a:endParaRPr lang="en-US" sz="1400" dirty="0"/>
          </a:p>
          <a:p>
            <a:pPr marL="342900" indent="-342900">
              <a:spcAft>
                <a:spcPts val="400"/>
              </a:spcAft>
              <a:buSzPct val="100000"/>
              <a:buChar char="•"/>
            </a:pPr>
            <a:r>
              <a:rPr lang="en-US" sz="1400" dirty="0">
                <a:solidFill>
                  <a:schemeClr val="accent5"/>
                </a:solidFill>
              </a:rPr>
              <a:t>Static analysis: no issues found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PRODUCTION MODEL</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Every configured line: two DIMM presses and one AOI</a:t>
            </a:r>
            <a:endParaRPr lang="en-US" sz="3200" dirty="0"/>
          </a:p>
        </p:txBody>
      </p:sp>
      <p:sp>
        <p:nvSpPr>
          <p:cNvPr id="4" name="Shape 2"/>
          <p:cNvSpPr/>
          <p:nvPr/>
        </p:nvSpPr>
        <p:spPr>
          <a:xfrm>
            <a:off x="548640" y="1600200"/>
            <a:ext cx="2011680" cy="868680"/>
          </a:xfrm>
          <a:prstGeom prst="roundRect">
            <a:avLst>
              <a:gd name="adj" fmla="val 10526"/>
            </a:avLst>
          </a:prstGeom>
          <a:solidFill>
            <a:schemeClr val="tx2"/>
          </a:solidFill>
          <a:ln/>
        </p:spPr>
      </p:sp>
      <p:sp>
        <p:nvSpPr>
          <p:cNvPr id="5" name="Text 3"/>
          <p:cNvSpPr txBox="1"/>
          <p:nvPr/>
        </p:nvSpPr>
        <p:spPr>
          <a:xfrm>
            <a:off x="548640" y="160020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B01 / L01</a:t>
            </a:r>
            <a:endParaRPr lang="en-US" sz="1800" dirty="0"/>
          </a:p>
        </p:txBody>
      </p:sp>
      <p:sp>
        <p:nvSpPr>
          <p:cNvPr id="6" name="Shape 4"/>
          <p:cNvSpPr/>
          <p:nvPr/>
        </p:nvSpPr>
        <p:spPr>
          <a:xfrm>
            <a:off x="2743200" y="1600200"/>
            <a:ext cx="2103120" cy="868680"/>
          </a:xfrm>
          <a:prstGeom prst="roundRect">
            <a:avLst>
              <a:gd name="adj" fmla="val 10526"/>
            </a:avLst>
          </a:prstGeom>
          <a:solidFill>
            <a:schemeClr val="accent1"/>
          </a:solidFill>
          <a:ln/>
        </p:spPr>
      </p:sp>
      <p:sp>
        <p:nvSpPr>
          <p:cNvPr id="7" name="Text 5"/>
          <p:cNvSpPr txBox="1"/>
          <p:nvPr/>
        </p:nvSpPr>
        <p:spPr>
          <a:xfrm>
            <a:off x="2743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8" name="Shape 6"/>
          <p:cNvSpPr/>
          <p:nvPr/>
        </p:nvSpPr>
        <p:spPr>
          <a:xfrm>
            <a:off x="5029200" y="1600200"/>
            <a:ext cx="2103120" cy="868680"/>
          </a:xfrm>
          <a:prstGeom prst="roundRect">
            <a:avLst>
              <a:gd name="adj" fmla="val 10526"/>
            </a:avLst>
          </a:prstGeom>
          <a:solidFill>
            <a:schemeClr val="accent1"/>
          </a:solidFill>
          <a:ln/>
        </p:spPr>
      </p:sp>
      <p:sp>
        <p:nvSpPr>
          <p:cNvPr id="9" name="Text 7"/>
          <p:cNvSpPr txBox="1"/>
          <p:nvPr/>
        </p:nvSpPr>
        <p:spPr>
          <a:xfrm>
            <a:off x="5029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10" name="Shape 8"/>
          <p:cNvSpPr/>
          <p:nvPr/>
        </p:nvSpPr>
        <p:spPr>
          <a:xfrm>
            <a:off x="7315200" y="1600200"/>
            <a:ext cx="2103120" cy="868680"/>
          </a:xfrm>
          <a:prstGeom prst="roundRect">
            <a:avLst>
              <a:gd name="adj" fmla="val 10526"/>
            </a:avLst>
          </a:prstGeom>
          <a:solidFill>
            <a:schemeClr val="accent5"/>
          </a:solidFill>
          <a:ln/>
        </p:spPr>
      </p:sp>
      <p:sp>
        <p:nvSpPr>
          <p:cNvPr id="11" name="Text 9"/>
          <p:cNvSpPr txBox="1"/>
          <p:nvPr/>
        </p:nvSpPr>
        <p:spPr>
          <a:xfrm>
            <a:off x="7315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12" name="Shape 10"/>
          <p:cNvSpPr/>
          <p:nvPr/>
        </p:nvSpPr>
        <p:spPr>
          <a:xfrm>
            <a:off x="548640" y="2697480"/>
            <a:ext cx="2011680" cy="868680"/>
          </a:xfrm>
          <a:prstGeom prst="roundRect">
            <a:avLst>
              <a:gd name="adj" fmla="val 10526"/>
            </a:avLst>
          </a:prstGeom>
          <a:solidFill>
            <a:schemeClr val="tx2"/>
          </a:solidFill>
          <a:ln/>
        </p:spPr>
      </p:sp>
      <p:sp>
        <p:nvSpPr>
          <p:cNvPr id="13" name="Text 11"/>
          <p:cNvSpPr txBox="1"/>
          <p:nvPr/>
        </p:nvSpPr>
        <p:spPr>
          <a:xfrm>
            <a:off x="548640" y="269748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B01 / L02</a:t>
            </a:r>
            <a:endParaRPr lang="en-US" sz="1800" dirty="0"/>
          </a:p>
        </p:txBody>
      </p:sp>
      <p:sp>
        <p:nvSpPr>
          <p:cNvPr id="14" name="Shape 12"/>
          <p:cNvSpPr/>
          <p:nvPr/>
        </p:nvSpPr>
        <p:spPr>
          <a:xfrm>
            <a:off x="2743200" y="2697480"/>
            <a:ext cx="2103120" cy="868680"/>
          </a:xfrm>
          <a:prstGeom prst="roundRect">
            <a:avLst>
              <a:gd name="adj" fmla="val 10526"/>
            </a:avLst>
          </a:prstGeom>
          <a:solidFill>
            <a:schemeClr val="accent1"/>
          </a:solidFill>
          <a:ln/>
        </p:spPr>
      </p:sp>
      <p:sp>
        <p:nvSpPr>
          <p:cNvPr id="15" name="Text 13"/>
          <p:cNvSpPr txBox="1"/>
          <p:nvPr/>
        </p:nvSpPr>
        <p:spPr>
          <a:xfrm>
            <a:off x="2743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16" name="Shape 14"/>
          <p:cNvSpPr/>
          <p:nvPr/>
        </p:nvSpPr>
        <p:spPr>
          <a:xfrm>
            <a:off x="5029200" y="2697480"/>
            <a:ext cx="2103120" cy="868680"/>
          </a:xfrm>
          <a:prstGeom prst="roundRect">
            <a:avLst>
              <a:gd name="adj" fmla="val 10526"/>
            </a:avLst>
          </a:prstGeom>
          <a:solidFill>
            <a:schemeClr val="accent1"/>
          </a:solidFill>
          <a:ln/>
        </p:spPr>
      </p:sp>
      <p:sp>
        <p:nvSpPr>
          <p:cNvPr id="17" name="Text 15"/>
          <p:cNvSpPr txBox="1"/>
          <p:nvPr/>
        </p:nvSpPr>
        <p:spPr>
          <a:xfrm>
            <a:off x="5029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18" name="Shape 16"/>
          <p:cNvSpPr/>
          <p:nvPr/>
        </p:nvSpPr>
        <p:spPr>
          <a:xfrm>
            <a:off x="7315200" y="2697480"/>
            <a:ext cx="2103120" cy="868680"/>
          </a:xfrm>
          <a:prstGeom prst="roundRect">
            <a:avLst>
              <a:gd name="adj" fmla="val 10526"/>
            </a:avLst>
          </a:prstGeom>
          <a:solidFill>
            <a:schemeClr val="accent5"/>
          </a:solidFill>
          <a:ln/>
        </p:spPr>
      </p:sp>
      <p:sp>
        <p:nvSpPr>
          <p:cNvPr id="19" name="Text 17"/>
          <p:cNvSpPr txBox="1"/>
          <p:nvPr/>
        </p:nvSpPr>
        <p:spPr>
          <a:xfrm>
            <a:off x="7315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20" name="Shape 18"/>
          <p:cNvSpPr/>
          <p:nvPr/>
        </p:nvSpPr>
        <p:spPr>
          <a:xfrm>
            <a:off x="548640" y="3794760"/>
            <a:ext cx="2011680" cy="868680"/>
          </a:xfrm>
          <a:prstGeom prst="roundRect">
            <a:avLst>
              <a:gd name="adj" fmla="val 10526"/>
            </a:avLst>
          </a:prstGeom>
          <a:solidFill>
            <a:schemeClr val="tx2"/>
          </a:solidFill>
          <a:ln/>
        </p:spPr>
      </p:sp>
      <p:sp>
        <p:nvSpPr>
          <p:cNvPr id="21" name="Text 19"/>
          <p:cNvSpPr txBox="1"/>
          <p:nvPr/>
        </p:nvSpPr>
        <p:spPr>
          <a:xfrm>
            <a:off x="548640" y="379476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B03 / L02</a:t>
            </a:r>
            <a:endParaRPr lang="en-US" sz="1800" dirty="0"/>
          </a:p>
        </p:txBody>
      </p:sp>
      <p:sp>
        <p:nvSpPr>
          <p:cNvPr id="22" name="Shape 20"/>
          <p:cNvSpPr/>
          <p:nvPr/>
        </p:nvSpPr>
        <p:spPr>
          <a:xfrm>
            <a:off x="2743200" y="3794760"/>
            <a:ext cx="2103120" cy="868680"/>
          </a:xfrm>
          <a:prstGeom prst="roundRect">
            <a:avLst>
              <a:gd name="adj" fmla="val 10526"/>
            </a:avLst>
          </a:prstGeom>
          <a:solidFill>
            <a:schemeClr val="accent1"/>
          </a:solidFill>
          <a:ln/>
        </p:spPr>
      </p:sp>
      <p:sp>
        <p:nvSpPr>
          <p:cNvPr id="23" name="Text 21"/>
          <p:cNvSpPr txBox="1"/>
          <p:nvPr/>
        </p:nvSpPr>
        <p:spPr>
          <a:xfrm>
            <a:off x="2743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24" name="Shape 22"/>
          <p:cNvSpPr/>
          <p:nvPr/>
        </p:nvSpPr>
        <p:spPr>
          <a:xfrm>
            <a:off x="5029200" y="3794760"/>
            <a:ext cx="2103120" cy="868680"/>
          </a:xfrm>
          <a:prstGeom prst="roundRect">
            <a:avLst>
              <a:gd name="adj" fmla="val 10526"/>
            </a:avLst>
          </a:prstGeom>
          <a:solidFill>
            <a:schemeClr val="accent1"/>
          </a:solidFill>
          <a:ln/>
        </p:spPr>
      </p:sp>
      <p:sp>
        <p:nvSpPr>
          <p:cNvPr id="25" name="Text 23"/>
          <p:cNvSpPr txBox="1"/>
          <p:nvPr/>
        </p:nvSpPr>
        <p:spPr>
          <a:xfrm>
            <a:off x="5029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26" name="Shape 24"/>
          <p:cNvSpPr/>
          <p:nvPr/>
        </p:nvSpPr>
        <p:spPr>
          <a:xfrm>
            <a:off x="7315200" y="3794760"/>
            <a:ext cx="2103120" cy="868680"/>
          </a:xfrm>
          <a:prstGeom prst="roundRect">
            <a:avLst>
              <a:gd name="adj" fmla="val 10526"/>
            </a:avLst>
          </a:prstGeom>
          <a:solidFill>
            <a:schemeClr val="accent5"/>
          </a:solidFill>
          <a:ln/>
        </p:spPr>
      </p:sp>
      <p:sp>
        <p:nvSpPr>
          <p:cNvPr id="27" name="Text 25"/>
          <p:cNvSpPr txBox="1"/>
          <p:nvPr/>
        </p:nvSpPr>
        <p:spPr>
          <a:xfrm>
            <a:off x="7315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28" name="Text 26"/>
          <p:cNvSpPr txBox="1"/>
          <p:nvPr/>
        </p:nvSpPr>
        <p:spPr>
          <a:xfrm>
            <a:off x="548640" y="5029200"/>
            <a:ext cx="6400800" cy="822960"/>
          </a:xfrm>
          <a:prstGeom prst="rect">
            <a:avLst/>
          </a:prstGeom>
          <a:noFill/>
          <a:ln/>
        </p:spPr>
        <p:txBody>
          <a:bodyPr wrap="square" lIns="0" tIns="0" rIns="0" bIns="0" rtlCol="0" anchor="ctr"/>
          <a:lstStyle/>
          <a:p>
            <a:pPr indent="0" marL="0">
              <a:buNone/>
            </a:pPr>
            <a:r>
              <a:rPr lang="en-US" sz="1800" b="1" dirty="0">
                <a:solidFill>
                  <a:schemeClr val="accent1"/>
                </a:solidFill>
              </a:rPr>
              <a:t>6 DIMM + 3 AOI</a:t>
            </a:r>
            <a:endParaRPr lang="en-US" sz="1800" dirty="0"/>
          </a:p>
          <a:p>
            <a:pPr indent="0" marL="0">
              <a:buNone/>
            </a:pPr>
            <a:r>
              <a:rPr lang="en-US" sz="1800" dirty="0">
                <a:solidFill>
                  <a:schemeClr val="accent5"/>
                </a:solidFill>
              </a:rPr>
              <a:t>+ existing ACOS station and conveyor = 11 equipment records</a:t>
            </a:r>
            <a:endParaRPr lang="en-US" sz="1800" dirty="0"/>
          </a:p>
        </p:txBody>
      </p:sp>
      <p:sp>
        <p:nvSpPr>
          <p:cNvPr id="29" name="Shape 27"/>
          <p:cNvSpPr/>
          <p:nvPr/>
        </p:nvSpPr>
        <p:spPr>
          <a:xfrm>
            <a:off x="9829800" y="1600200"/>
            <a:ext cx="1783080" cy="3063240"/>
          </a:xfrm>
          <a:prstGeom prst="roundRect">
            <a:avLst>
              <a:gd name="adj" fmla="val 512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30" name="Text 28"/>
          <p:cNvSpPr txBox="1"/>
          <p:nvPr/>
        </p:nvSpPr>
        <p:spPr>
          <a:xfrm>
            <a:off x="10012680" y="1737360"/>
            <a:ext cx="1463040" cy="2834640"/>
          </a:xfrm>
          <a:prstGeom prst="rect">
            <a:avLst/>
          </a:prstGeom>
          <a:noFill/>
          <a:ln/>
        </p:spPr>
        <p:txBody>
          <a:bodyPr wrap="square" lIns="0" tIns="0" rIns="0" bIns="0" rtlCol="0" anchor="t"/>
          <a:lstStyle/>
          <a:p>
            <a:pPr indent="0" marL="0">
              <a:buNone/>
            </a:pPr>
            <a:r>
              <a:rPr lang="en-US" sz="3600" b="1" dirty="0">
                <a:solidFill>
                  <a:schemeClr val="accent1"/>
                </a:solidFill>
              </a:rPr>
              <a:t>10</a:t>
            </a:r>
            <a:endParaRPr lang="en-US" sz="3600" dirty="0"/>
          </a:p>
          <a:p>
            <a:pPr indent="0" marL="0">
              <a:buNone/>
            </a:pPr>
            <a:r>
              <a:rPr lang="en-US" sz="1300" dirty="0">
                <a:solidFill>
                  <a:schemeClr val="accent5"/>
                </a:solidFill>
              </a:rPr>
              <a:t>DIMM part references</a:t>
            </a:r>
            <a:endParaRPr lang="en-US" sz="3600" dirty="0"/>
          </a:p>
          <a:p>
            <a:pPr indent="0" marL="0">
              <a:buNone/>
            </a:pPr>
            <a:r>
              <a:rPr lang="en-US" sz="800" dirty="0">
                <a:solidFill>
                  <a:srgbClr val="000000"/>
                </a:solidFill>
              </a:rPr>
              <a:t> </a:t>
            </a:r>
            <a:endParaRPr lang="en-US" sz="3600" dirty="0"/>
          </a:p>
          <a:p>
            <a:pPr indent="0" marL="0">
              <a:buNone/>
            </a:pPr>
            <a:r>
              <a:rPr lang="en-US" sz="3600" b="1" dirty="0">
                <a:solidFill>
                  <a:schemeClr val="accent5"/>
                </a:solidFill>
              </a:rPr>
              <a:t>7</a:t>
            </a:r>
            <a:endParaRPr lang="en-US" sz="3600" dirty="0"/>
          </a:p>
          <a:p>
            <a:pPr indent="0" marL="0">
              <a:buNone/>
            </a:pPr>
            <a:r>
              <a:rPr lang="en-US" sz="1300" dirty="0">
                <a:solidFill>
                  <a:schemeClr val="accent5"/>
                </a:solidFill>
              </a:rPr>
              <a:t>AOI component references</a:t>
            </a:r>
            <a:endParaRPr lang="en-US" sz="3600" dirty="0"/>
          </a:p>
        </p:txBody>
      </p:sp>
      <p:sp>
        <p:nvSpPr>
          <p:cNvPr id="31" name="Text 29"/>
          <p:cNvSpPr txBox="1"/>
          <p:nvPr/>
        </p:nvSpPr>
        <p:spPr>
          <a:xfrm>
            <a:off x="7223760" y="4983480"/>
            <a:ext cx="4389120" cy="1005840"/>
          </a:xfrm>
          <a:prstGeom prst="rect">
            <a:avLst/>
          </a:prstGeom>
          <a:noFill/>
          <a:ln/>
        </p:spPr>
        <p:txBody>
          <a:bodyPr wrap="square" lIns="0" tIns="0" rIns="0" bIns="0" rtlCol="0" anchor="ctr"/>
          <a:lstStyle/>
          <a:p>
            <a:pPr indent="0" marL="0">
              <a:buNone/>
            </a:pPr>
            <a:r>
              <a:rPr lang="en-US" sz="1200" i="1" dirty="0">
                <a:solidFill>
                  <a:schemeClr val="accent5"/>
                </a:solidFill>
              </a:rPr>
              <a:t>Part names, manufacturers, model numbers and quantities per machine were supplied by maintenance (see appendix). New asset tags, stations and statuses are placeholders until a physical survey.</a:t>
            </a:r>
            <a:endParaRPr lang="en-US" sz="12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WHO DOES WHAT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Three roles, enforced on the server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583680" cy="914400"/>
        </p:xfrm>
        <a:graphic>
          <a:graphicData uri="http://schemas.openxmlformats.org/drawingml/2006/table">
            <a:tbl>
              <a:tblPr/>
              <a:tblGrid>
                <a:gridCol w="4114800"/>
                <a:gridCol w="822960"/>
                <a:gridCol w="822960"/>
                <a:gridCol w="822960"/>
              </a:tblGrid>
              <a:tr h="502920">
                <a:tc>
                  <a:txBody>
                    <a:bodyPr/>
                    <a:lstStyle/>
                    <a:p>
                      <a:pPr algn="l" indent="0" marL="0">
                        <a:buNone/>
                      </a:pPr>
                      <a:r>
                        <a:rPr lang="en-US" sz="1400" b="1" dirty="0">
                          <a:solidFill>
                            <a:srgbClr val="FFFFFF"/>
                          </a:solidFill>
                        </a:rPr>
                        <a:t>Capability</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Admin</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Lead</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Tech</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502920">
                <a:tc>
                  <a:txBody>
                    <a:bodyPr/>
                    <a:lstStyle/>
                    <a:p>
                      <a:pPr algn="l" indent="0" marL="0">
                        <a:buNone/>
                      </a:pPr>
                      <a:r>
                        <a:rPr lang="en-US" sz="1400" dirty="0">
                          <a:solidFill>
                            <a:srgbClr val="17232E"/>
                          </a:solidFill>
                        </a:rPr>
                        <a:t>View assigned machines and history</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Request a replacement; complete own work</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502920">
                <a:tc>
                  <a:txBody>
                    <a:bodyPr/>
                    <a:lstStyle/>
                    <a:p>
                      <a:pPr algn="l" indent="0" marL="0">
                        <a:buNone/>
                      </a:pPr>
                      <a:r>
                        <a:rPr lang="en-US" sz="1400" dirty="0">
                          <a:solidFill>
                            <a:srgbClr val="17232E"/>
                          </a:solidFill>
                        </a:rPr>
                        <a:t>Review early work, complete others' work</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Catalog, stock receipts and adjustments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502920">
                <a:tc>
                  <a:txBody>
                    <a:bodyPr/>
                    <a:lstStyle/>
                    <a:p>
                      <a:pPr algn="l" indent="0" marL="0">
                        <a:buNone/>
                      </a:pPr>
                      <a:r>
                        <a:rPr lang="en-US" sz="1400" dirty="0">
                          <a:solidFill>
                            <a:srgbClr val="17232E"/>
                          </a:solidFill>
                        </a:rPr>
                        <a:t>Purchasing, audit log, stock ledger, exports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Accounts, access, buildings and lines, backups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bl>
          </a:graphicData>
        </a:graphic>
      </p:graphicFrame>
      <p:sp>
        <p:nvSpPr>
          <p:cNvPr id="5" name="Text 2"/>
          <p:cNvSpPr txBox="1"/>
          <p:nvPr/>
        </p:nvSpPr>
        <p:spPr>
          <a:xfrm>
            <a:off x="548640" y="5349240"/>
            <a:ext cx="6583680" cy="731520"/>
          </a:xfrm>
          <a:prstGeom prst="rect">
            <a:avLst/>
          </a:prstGeom>
          <a:noFill/>
          <a:ln/>
        </p:spPr>
        <p:txBody>
          <a:bodyPr wrap="square" lIns="0" tIns="0" rIns="0" bIns="0" rtlCol="0" anchor="ctr"/>
          <a:lstStyle/>
          <a:p>
            <a:pPr indent="0" marL="0">
              <a:buNone/>
            </a:pPr>
            <a:r>
              <a:rPr lang="en-US" sz="1300" i="1" dirty="0">
                <a:solidFill>
                  <a:schemeClr val="accent5"/>
                </a:solidFill>
              </a:rPr>
              <a:t>Technicians see a shorter menu, and only the lines they are assigned to. Hiding buttons is not the protection: the server checks every action.</a:t>
            </a:r>
            <a:endParaRPr lang="en-US" sz="1300" dirty="0"/>
          </a:p>
        </p:txBody>
      </p:sp>
      <p:sp>
        <p:nvSpPr>
          <p:cNvPr id="6" name="Frame technician_equipment"/>
          <p:cNvSpPr/>
          <p:nvPr/>
        </p:nvSpPr>
        <p:spPr>
          <a:xfrm>
            <a:off x="7424928" y="1618488"/>
            <a:ext cx="4261104" cy="2718054"/>
          </a:xfrm>
          <a:prstGeom prst="roundRect">
            <a:avLst>
              <a:gd name="adj" fmla="val 2691"/>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technician_equipment" descr="MachineCare technician equipment screen (demo data)">    </p:cNvPr>
          <p:cNvPicPr>
            <a:picLocks noChangeAspect="1"/>
          </p:cNvPicPr>
          <p:nvPr/>
        </p:nvPicPr>
        <p:blipFill>
          <a:blip r:embed="rId1"/>
          <a:stretch>
            <a:fillRect/>
          </a:stretch>
        </p:blipFill>
        <p:spPr>
          <a:xfrm>
            <a:off x="7498080" y="1691640"/>
            <a:ext cx="4114800" cy="2571750"/>
          </a:xfrm>
          <a:prstGeom prst="rect">
            <a:avLst/>
          </a:prstGeom>
        </p:spPr>
      </p:pic>
      <p:sp>
        <p:nvSpPr>
          <p:cNvPr id="8" name="Text 4"/>
          <p:cNvSpPr txBox="1"/>
          <p:nvPr/>
        </p:nvSpPr>
        <p:spPr>
          <a:xfrm>
            <a:off x="7498080" y="4434840"/>
            <a:ext cx="4114800" cy="548640"/>
          </a:xfrm>
          <a:prstGeom prst="rect">
            <a:avLst/>
          </a:prstGeom>
          <a:noFill/>
          <a:ln/>
        </p:spPr>
        <p:txBody>
          <a:bodyPr wrap="square" lIns="0" tIns="0" rIns="0" bIns="0" rtlCol="0" anchor="ctr"/>
          <a:lstStyle/>
          <a:p>
            <a:pPr indent="0" marL="0">
              <a:buNone/>
            </a:pPr>
            <a:r>
              <a:rPr lang="en-US" sz="1200" dirty="0">
                <a:solidFill>
                  <a:schemeClr val="accent5"/>
                </a:solidFill>
              </a:rPr>
              <a:t>Technician view: no Management, Reorders, Audit or Stock screens</a:t>
            </a:r>
            <a:endParaRPr lang="en-US" sz="12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1 · OVERVIEW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The overview puts today's exceptions first</a:t>
            </a:r>
            <a:endParaRPr lang="en-US" sz="3200" dirty="0"/>
          </a:p>
        </p:txBody>
      </p:sp>
      <p:sp>
        <p:nvSpPr>
          <p:cNvPr id="4" name="Frame overview"/>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overview" descr="MachineCare overview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Start with what needs attention</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Attention cards</a:t>
            </a:r>
            <a:endParaRPr lang="en-US" sz="1400" dirty="0"/>
          </a:p>
          <a:p>
            <a:pPr indent="0" marL="0">
              <a:spcAft>
                <a:spcPts val="200"/>
              </a:spcAft>
              <a:buNone/>
            </a:pPr>
            <a:r>
              <a:rPr lang="en-US" sz="1400" dirty="0">
                <a:solidFill>
                  <a:schemeClr val="accent5"/>
                </a:solidFill>
              </a:rPr>
              <a:t>Turn amber or red when action is needed; click one to jump to that page</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Production status</a:t>
            </a:r>
            <a:endParaRPr lang="en-US" sz="1400" dirty="0"/>
          </a:p>
          <a:p>
            <a:pPr indent="0" marL="0">
              <a:spcAft>
                <a:spcPts val="200"/>
              </a:spcAft>
              <a:buNone/>
            </a:pPr>
            <a:r>
              <a:rPr lang="en-US" sz="1400" dirty="0">
                <a:solidFill>
                  <a:schemeClr val="accent5"/>
                </a:solidFill>
              </a:rPr>
              <a:t>Operating, maintenance, stopped and retired, each with colour and icon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Stock needs attention</a:t>
            </a:r>
            <a:endParaRPr lang="en-US" sz="1400" dirty="0"/>
          </a:p>
          <a:p>
            <a:pPr indent="0" marL="0">
              <a:spcAft>
                <a:spcPts val="200"/>
              </a:spcAft>
              <a:buNone/>
            </a:pPr>
            <a:r>
              <a:rPr lang="en-US" sz="1400" dirty="0">
                <a:solidFill>
                  <a:schemeClr val="accent5"/>
                </a:solidFill>
              </a:rPr>
              <a:t>Parts at or below their reorder level, with a stock bar</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2 · EQUIPMENT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Find the line, then the machine</a:t>
            </a:r>
            <a:endParaRPr lang="en-US" sz="3200" dirty="0"/>
          </a:p>
        </p:txBody>
      </p:sp>
      <p:sp>
        <p:nvSpPr>
          <p:cNvPr id="4" name="Frame equipment"/>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equipment" descr="MachineCare equipment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Navigate the plant</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Building › line › type</a:t>
            </a:r>
            <a:endParaRPr lang="en-US" sz="1400" dirty="0"/>
          </a:p>
          <a:p>
            <a:pPr indent="0" marL="0">
              <a:spcAft>
                <a:spcPts val="200"/>
              </a:spcAft>
              <a:buNone/>
            </a:pPr>
            <a:r>
              <a:rPr lang="en-US" sz="1400" dirty="0">
                <a:solidFill>
                  <a:schemeClr val="accent5"/>
                </a:solidFill>
              </a:rPr>
              <a:t>Expandable tree; each machine shows station, asset tag and status</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Search and filters</a:t>
            </a:r>
            <a:endParaRPr lang="en-US" sz="1400" dirty="0"/>
          </a:p>
          <a:p>
            <a:pPr indent="0" marL="0">
              <a:spcAft>
                <a:spcPts val="200"/>
              </a:spcAft>
              <a:buNone/>
            </a:pPr>
            <a:r>
              <a:rPr lang="en-US" sz="1400" dirty="0">
                <a:solidFill>
                  <a:schemeClr val="accent5"/>
                </a:solidFill>
              </a:rPr>
              <a:t>By asset tag, serial, building, line, type, station and status</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Scoped</a:t>
            </a:r>
            <a:endParaRPr lang="en-US" sz="1400" dirty="0"/>
          </a:p>
          <a:p>
            <a:pPr indent="0" marL="0">
              <a:spcAft>
                <a:spcPts val="200"/>
              </a:spcAft>
              <a:buNone/>
            </a:pPr>
            <a:r>
              <a:rPr lang="en-US" sz="1400" dirty="0">
                <a:solidFill>
                  <a:schemeClr val="accent5"/>
                </a:solidFill>
              </a:rPr>
              <a:t>Each user only sees the buildings and lines they are assigned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3 · INVENTORY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Shared spare parts with honest labels</a:t>
            </a:r>
            <a:endParaRPr lang="en-US" sz="3200" dirty="0"/>
          </a:p>
        </p:txBody>
      </p:sp>
      <p:sp>
        <p:nvSpPr>
          <p:cNvPr id="4" name="Frame inventory"/>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inventory" descr="MachineCare inventory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Every part shows</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Physical · reserved · available</a:t>
            </a:r>
            <a:endParaRPr lang="en-US" sz="1400" dirty="0"/>
          </a:p>
          <a:p>
            <a:pPr indent="0" marL="0">
              <a:spcAft>
                <a:spcPts val="200"/>
              </a:spcAft>
              <a:buNone/>
            </a:pPr>
            <a:r>
              <a:rPr lang="en-US" sz="1400" dirty="0">
                <a:solidFill>
                  <a:schemeClr val="accent5"/>
                </a:solidFill>
              </a:rPr>
              <a:t>Three clear tiles plus a bar marking the reorder level</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Supplier lead time</a:t>
            </a:r>
            <a:endParaRPr lang="en-US" sz="1400" dirty="0"/>
          </a:p>
          <a:p>
            <a:pPr indent="0" marL="0">
              <a:spcAft>
                <a:spcPts val="200"/>
              </a:spcAft>
              <a:buNone/>
            </a:pPr>
            <a:r>
              <a:rPr lang="en-US" sz="1400" dirty="0">
                <a:solidFill>
                  <a:schemeClr val="accent5"/>
                </a:solidFill>
              </a:rPr>
              <a:t>Shown in weeks or months; long-lead parts are flagged and arrival is estimated</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Real references, honest labels</a:t>
            </a:r>
            <a:endParaRPr lang="en-US" sz="1400" dirty="0"/>
          </a:p>
          <a:p>
            <a:pPr indent="0" marL="0">
              <a:spcAft>
                <a:spcPts val="200"/>
              </a:spcAft>
              <a:buNone/>
            </a:pPr>
            <a:r>
              <a:rPr lang="en-US" sz="1400" dirty="0">
                <a:solidFill>
                  <a:schemeClr val="accent5"/>
                </a:solidFill>
              </a:rPr>
              <a:t>Supplied model or serial kept; a blue tag marks demo stock and prices</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4 · MAINTENANCE FLOW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From request to an auditable replacement</a:t>
            </a:r>
            <a:endParaRPr lang="en-US" sz="3200" dirty="0"/>
          </a:p>
        </p:txBody>
      </p:sp>
      <p:sp>
        <p:nvSpPr>
          <p:cNvPr id="4" name="Shape 2"/>
          <p:cNvSpPr/>
          <p:nvPr/>
        </p:nvSpPr>
        <p:spPr>
          <a:xfrm>
            <a:off x="54864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77724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01</a:t>
            </a:r>
            <a:endParaRPr lang="en-US" sz="3200" dirty="0"/>
          </a:p>
        </p:txBody>
      </p:sp>
      <p:sp>
        <p:nvSpPr>
          <p:cNvPr id="6" name="Text 4"/>
          <p:cNvSpPr txBox="1"/>
          <p:nvPr/>
        </p:nvSpPr>
        <p:spPr>
          <a:xfrm>
            <a:off x="77724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Request</a:t>
            </a:r>
            <a:endParaRPr lang="en-US" sz="1900" dirty="0"/>
          </a:p>
        </p:txBody>
      </p:sp>
      <p:sp>
        <p:nvSpPr>
          <p:cNvPr id="7" name="Text 5"/>
          <p:cNvSpPr txBox="1"/>
          <p:nvPr/>
        </p:nvSpPr>
        <p:spPr>
          <a:xfrm>
            <a:off x="77724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Technician picks machine and compatible part</a:t>
            </a:r>
            <a:endParaRPr lang="en-US" sz="1300" dirty="0"/>
          </a:p>
        </p:txBody>
      </p:sp>
      <p:sp>
        <p:nvSpPr>
          <p:cNvPr id="8" name="Shape 6"/>
          <p:cNvSpPr/>
          <p:nvPr/>
        </p:nvSpPr>
        <p:spPr>
          <a:xfrm>
            <a:off x="278892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9" name="Text 7"/>
          <p:cNvSpPr txBox="1"/>
          <p:nvPr/>
        </p:nvSpPr>
        <p:spPr>
          <a:xfrm>
            <a:off x="301752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02</a:t>
            </a:r>
            <a:endParaRPr lang="en-US" sz="3200" dirty="0"/>
          </a:p>
        </p:txBody>
      </p:sp>
      <p:sp>
        <p:nvSpPr>
          <p:cNvPr id="10" name="Text 8"/>
          <p:cNvSpPr txBox="1"/>
          <p:nvPr/>
        </p:nvSpPr>
        <p:spPr>
          <a:xfrm>
            <a:off x="301752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Review</a:t>
            </a:r>
            <a:endParaRPr lang="en-US" sz="1900" dirty="0"/>
          </a:p>
        </p:txBody>
      </p:sp>
      <p:sp>
        <p:nvSpPr>
          <p:cNvPr id="11" name="Text 9"/>
          <p:cNvSpPr txBox="1"/>
          <p:nvPr/>
        </p:nvSpPr>
        <p:spPr>
          <a:xfrm>
            <a:off x="301752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Early work needs an explanation and lead review</a:t>
            </a:r>
            <a:endParaRPr lang="en-US" sz="1300" dirty="0"/>
          </a:p>
        </p:txBody>
      </p:sp>
      <p:sp>
        <p:nvSpPr>
          <p:cNvPr id="12" name="Shape 10"/>
          <p:cNvSpPr/>
          <p:nvPr/>
        </p:nvSpPr>
        <p:spPr>
          <a:xfrm>
            <a:off x="502920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3" name="Text 11"/>
          <p:cNvSpPr txBox="1"/>
          <p:nvPr/>
        </p:nvSpPr>
        <p:spPr>
          <a:xfrm>
            <a:off x="525780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03</a:t>
            </a:r>
            <a:endParaRPr lang="en-US" sz="3200" dirty="0"/>
          </a:p>
        </p:txBody>
      </p:sp>
      <p:sp>
        <p:nvSpPr>
          <p:cNvPr id="14" name="Text 12"/>
          <p:cNvSpPr txBox="1"/>
          <p:nvPr/>
        </p:nvSpPr>
        <p:spPr>
          <a:xfrm>
            <a:off x="525780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Reserve</a:t>
            </a:r>
            <a:endParaRPr lang="en-US" sz="1900" dirty="0"/>
          </a:p>
        </p:txBody>
      </p:sp>
      <p:sp>
        <p:nvSpPr>
          <p:cNvPr id="15" name="Text 13"/>
          <p:cNvSpPr txBox="1"/>
          <p:nvPr/>
        </p:nvSpPr>
        <p:spPr>
          <a:xfrm>
            <a:off x="525780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Approval holds stock without deducting it</a:t>
            </a:r>
            <a:endParaRPr lang="en-US" sz="1300" dirty="0"/>
          </a:p>
        </p:txBody>
      </p:sp>
      <p:sp>
        <p:nvSpPr>
          <p:cNvPr id="16" name="Shape 14"/>
          <p:cNvSpPr/>
          <p:nvPr/>
        </p:nvSpPr>
        <p:spPr>
          <a:xfrm>
            <a:off x="726948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7" name="Text 15"/>
          <p:cNvSpPr txBox="1"/>
          <p:nvPr/>
        </p:nvSpPr>
        <p:spPr>
          <a:xfrm>
            <a:off x="749808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04</a:t>
            </a:r>
            <a:endParaRPr lang="en-US" sz="3200" dirty="0"/>
          </a:p>
        </p:txBody>
      </p:sp>
      <p:sp>
        <p:nvSpPr>
          <p:cNvPr id="18" name="Text 16"/>
          <p:cNvSpPr txBox="1"/>
          <p:nvPr/>
        </p:nvSpPr>
        <p:spPr>
          <a:xfrm>
            <a:off x="749808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Complete</a:t>
            </a:r>
            <a:endParaRPr lang="en-US" sz="1900" dirty="0"/>
          </a:p>
        </p:txBody>
      </p:sp>
      <p:sp>
        <p:nvSpPr>
          <p:cNvPr id="19" name="Text 17"/>
          <p:cNvSpPr txBox="1"/>
          <p:nvPr/>
        </p:nvSpPr>
        <p:spPr>
          <a:xfrm>
            <a:off x="749808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One atomic stock deduction, at completion</a:t>
            </a:r>
            <a:endParaRPr lang="en-US" sz="1300" dirty="0"/>
          </a:p>
        </p:txBody>
      </p:sp>
      <p:sp>
        <p:nvSpPr>
          <p:cNvPr id="20" name="Shape 18"/>
          <p:cNvSpPr/>
          <p:nvPr/>
        </p:nvSpPr>
        <p:spPr>
          <a:xfrm>
            <a:off x="950976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1" name="Text 19"/>
          <p:cNvSpPr txBox="1"/>
          <p:nvPr/>
        </p:nvSpPr>
        <p:spPr>
          <a:xfrm>
            <a:off x="973836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05</a:t>
            </a:r>
            <a:endParaRPr lang="en-US" sz="3200" dirty="0"/>
          </a:p>
        </p:txBody>
      </p:sp>
      <p:sp>
        <p:nvSpPr>
          <p:cNvPr id="22" name="Text 20"/>
          <p:cNvSpPr txBox="1"/>
          <p:nvPr/>
        </p:nvSpPr>
        <p:spPr>
          <a:xfrm>
            <a:off x="973836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Record</a:t>
            </a:r>
            <a:endParaRPr lang="en-US" sz="1900" dirty="0"/>
          </a:p>
        </p:txBody>
      </p:sp>
      <p:sp>
        <p:nvSpPr>
          <p:cNvPr id="23" name="Text 21"/>
          <p:cNvSpPr txBox="1"/>
          <p:nvPr/>
        </p:nvSpPr>
        <p:spPr>
          <a:xfrm>
            <a:off x="973836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History and ledger keep who, where, cost</a:t>
            </a:r>
            <a:endParaRPr lang="en-US" sz="1300" dirty="0"/>
          </a:p>
        </p:txBody>
      </p:sp>
      <p:sp>
        <p:nvSpPr>
          <p:cNvPr id="24" name="Shape 22"/>
          <p:cNvSpPr/>
          <p:nvPr/>
        </p:nvSpPr>
        <p:spPr>
          <a:xfrm>
            <a:off x="548640" y="4572000"/>
            <a:ext cx="11064240" cy="640080"/>
          </a:xfrm>
          <a:prstGeom prst="roundRect">
            <a:avLst>
              <a:gd name="adj" fmla="val 14286"/>
            </a:avLst>
          </a:prstGeom>
          <a:solidFill>
            <a:schemeClr val="tx2"/>
          </a:solidFill>
          <a:ln/>
        </p:spPr>
      </p:sp>
      <p:sp>
        <p:nvSpPr>
          <p:cNvPr id="25" name="Text 23"/>
          <p:cNvSpPr txBox="1"/>
          <p:nvPr/>
        </p:nvSpPr>
        <p:spPr>
          <a:xfrm>
            <a:off x="822960" y="4572000"/>
            <a:ext cx="10515600" cy="640080"/>
          </a:xfrm>
          <a:prstGeom prst="rect">
            <a:avLst/>
          </a:prstGeom>
          <a:noFill/>
          <a:ln/>
        </p:spPr>
        <p:txBody>
          <a:bodyPr wrap="square" lIns="0" tIns="0" rIns="0" bIns="0" rtlCol="0" anchor="ctr"/>
          <a:lstStyle/>
          <a:p>
            <a:pPr indent="0" marL="0">
              <a:buNone/>
            </a:pPr>
            <a:r>
              <a:rPr lang="en-US" sz="1700" b="1" dirty="0">
                <a:solidFill>
                  <a:schemeClr val="accent2"/>
                </a:solidFill>
              </a:rPr>
              <a:t>Approval reserves stock.  </a:t>
            </a:r>
            <a:pPr indent="0" marL="0">
              <a:buNone/>
            </a:pPr>
            <a:r>
              <a:rPr lang="en-US" sz="1700" dirty="0">
                <a:solidFill>
                  <a:schemeClr val="bg1"/>
                </a:solidFill>
              </a:rPr>
              <a:t>Only completion deducts physical inventory. Cancelling never deducts.</a:t>
            </a:r>
            <a:endParaRPr lang="en-US" sz="1700" dirty="0"/>
          </a:p>
        </p:txBody>
      </p:sp>
      <p:sp>
        <p:nvSpPr>
          <p:cNvPr id="26" name="Text 24"/>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300" i="1" dirty="0">
                <a:solidFill>
                  <a:schemeClr val="accent5"/>
                </a:solidFill>
              </a:rPr>
              <a:t>If someone else completes or cancels your request, you are notified. The history keeps both the original requester and the person who did the work.</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5 · APPROVALS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Review early work before anyone records completion</a:t>
            </a:r>
            <a:endParaRPr lang="en-US" sz="3200" dirty="0"/>
          </a:p>
        </p:txBody>
      </p:sp>
      <p:sp>
        <p:nvSpPr>
          <p:cNvPr id="4" name="Frame approvals"/>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approvals" descr="MachineCare approvals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Grouped by what to do next</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#6 Pending · early</a:t>
            </a:r>
            <a:endParaRPr lang="en-US" sz="1400" dirty="0"/>
          </a:p>
          <a:p>
            <a:pPr indent="0" marL="0">
              <a:spcAft>
                <a:spcPts val="200"/>
              </a:spcAft>
              <a:buNone/>
            </a:pPr>
            <a:r>
              <a:rPr lang="en-US" sz="1400" dirty="0">
                <a:solidFill>
                  <a:schemeClr val="accent5"/>
                </a:solidFill>
              </a:rPr>
              <a:t>Finger cylinder: the technician's explanation is shown for the lead</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#5 Approved</a:t>
            </a:r>
            <a:endParaRPr lang="en-US" sz="1400" dirty="0"/>
          </a:p>
          <a:p>
            <a:pPr indent="0" marL="0">
              <a:spcAft>
                <a:spcPts val="200"/>
              </a:spcAft>
              <a:buNone/>
            </a:pPr>
            <a:r>
              <a:rPr lang="en-US" sz="1400" dirty="0">
                <a:solidFill>
                  <a:schemeClr val="accent5"/>
                </a:solidFill>
              </a:rPr>
              <a:t>2 reed switches reserved; ready to record physical completion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#4 Completed</a:t>
            </a:r>
            <a:endParaRPr lang="en-US" sz="1400" dirty="0"/>
          </a:p>
          <a:p>
            <a:pPr indent="0" marL="0">
              <a:spcAft>
                <a:spcPts val="200"/>
              </a:spcAft>
              <a:buNone/>
            </a:pPr>
            <a:r>
              <a:rPr lang="en-US" sz="1400" dirty="0">
                <a:solidFill>
                  <a:schemeClr val="accent5"/>
                </a:solidFill>
              </a:rPr>
              <a:t>Locked; it now appears in History and Stock movements</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6 · TRACEABILITY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History and stock movements explain every change</a:t>
            </a:r>
            <a:endParaRPr lang="en-US" sz="3200" dirty="0"/>
          </a:p>
        </p:txBody>
      </p:sp>
      <p:sp>
        <p:nvSpPr>
          <p:cNvPr id="4" name="Frame history"/>
          <p:cNvSpPr/>
          <p:nvPr/>
        </p:nvSpPr>
        <p:spPr>
          <a:xfrm>
            <a:off x="566928" y="1481328"/>
            <a:ext cx="5495544" cy="3489579"/>
          </a:xfrm>
          <a:prstGeom prst="roundRect">
            <a:avLst>
              <a:gd name="adj" fmla="val 2096"/>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history" descr="MachineCare history screen (demo data)">    </p:cNvPr>
          <p:cNvPicPr>
            <a:picLocks noChangeAspect="1"/>
          </p:cNvPicPr>
          <p:nvPr/>
        </p:nvPicPr>
        <p:blipFill>
          <a:blip r:embed="rId1"/>
          <a:stretch>
            <a:fillRect/>
          </a:stretch>
        </p:blipFill>
        <p:spPr>
          <a:xfrm>
            <a:off x="640080" y="1554480"/>
            <a:ext cx="5349240" cy="3343275"/>
          </a:xfrm>
          <a:prstGeom prst="rect">
            <a:avLst/>
          </a:prstGeom>
        </p:spPr>
      </p:pic>
      <p:sp>
        <p:nvSpPr>
          <p:cNvPr id="6" name="Frame stock_movements"/>
          <p:cNvSpPr/>
          <p:nvPr/>
        </p:nvSpPr>
        <p:spPr>
          <a:xfrm>
            <a:off x="6190488" y="1481328"/>
            <a:ext cx="5495544" cy="3489579"/>
          </a:xfrm>
          <a:prstGeom prst="roundRect">
            <a:avLst>
              <a:gd name="adj" fmla="val 2096"/>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stock_movements" descr="MachineCare stock movements screen (demo data)">    </p:cNvPr>
          <p:cNvPicPr>
            <a:picLocks noChangeAspect="1"/>
          </p:cNvPicPr>
          <p:nvPr/>
        </p:nvPicPr>
        <p:blipFill>
          <a:blip r:embed="rId2"/>
          <a:stretch>
            <a:fillRect/>
          </a:stretch>
        </p:blipFill>
        <p:spPr>
          <a:xfrm>
            <a:off x="6263640" y="1554480"/>
            <a:ext cx="5349240" cy="3343275"/>
          </a:xfrm>
          <a:prstGeom prst="rect">
            <a:avLst/>
          </a:prstGeom>
        </p:spPr>
      </p:pic>
      <p:sp>
        <p:nvSpPr>
          <p:cNvPr id="8" name="Text 4"/>
          <p:cNvSpPr txBox="1"/>
          <p:nvPr/>
        </p:nvSpPr>
        <p:spPr>
          <a:xfrm>
            <a:off x="640080" y="5126355"/>
            <a:ext cx="5349240" cy="1005840"/>
          </a:xfrm>
          <a:prstGeom prst="rect">
            <a:avLst/>
          </a:prstGeom>
          <a:noFill/>
          <a:ln/>
        </p:spPr>
        <p:txBody>
          <a:bodyPr wrap="square" lIns="0" tIns="0" rIns="0" bIns="0" rtlCol="0" anchor="t"/>
          <a:lstStyle/>
          <a:p>
            <a:pPr indent="0" marL="0">
              <a:buNone/>
            </a:pPr>
            <a:r>
              <a:rPr lang="en-US" sz="1300" b="1" dirty="0">
                <a:solidFill>
                  <a:schemeClr val="tx2"/>
                </a:solidFill>
              </a:rPr>
              <a:t>History  </a:t>
            </a:r>
            <a:pPr indent="0" marL="0">
              <a:buNone/>
            </a:pPr>
            <a:r>
              <a:rPr lang="en-US" sz="1300" dirty="0">
                <a:solidFill>
                  <a:schemeClr val="accent5"/>
                </a:solidFill>
              </a:rPr>
              <a:t>Part, machine location, who, when, quantity and cost, kept as a snapshot even if the machine later moves or the price changes</a:t>
            </a:r>
            <a:endParaRPr lang="en-US" sz="1300" dirty="0"/>
          </a:p>
        </p:txBody>
      </p:sp>
      <p:sp>
        <p:nvSpPr>
          <p:cNvPr id="9" name="Text 5"/>
          <p:cNvSpPr txBox="1"/>
          <p:nvPr/>
        </p:nvSpPr>
        <p:spPr>
          <a:xfrm>
            <a:off x="6263640" y="5126355"/>
            <a:ext cx="5349240" cy="1005840"/>
          </a:xfrm>
          <a:prstGeom prst="rect">
            <a:avLst/>
          </a:prstGeom>
          <a:noFill/>
          <a:ln/>
        </p:spPr>
        <p:txBody>
          <a:bodyPr wrap="square" lIns="0" tIns="0" rIns="0" bIns="0" rtlCol="0" anchor="t"/>
          <a:lstStyle/>
          <a:p>
            <a:pPr indent="0" marL="0">
              <a:buNone/>
            </a:pPr>
            <a:r>
              <a:rPr lang="en-US" sz="1300" b="1" dirty="0">
                <a:solidFill>
                  <a:schemeClr val="tx2"/>
                </a:solidFill>
              </a:rPr>
              <a:t>Stock movements  </a:t>
            </a:r>
            <a:pPr indent="0" marL="0">
              <a:buNone/>
            </a:pPr>
            <a:r>
              <a:rPr lang="en-US" sz="1300" dirty="0">
                <a:solidFill>
                  <a:schemeClr val="accent5"/>
                </a:solidFill>
              </a:rPr>
              <a:t>Every receipt, adjustment and deduction with actor, reason and running balance. Filters and CSV export</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7 · PURCHASING</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Ordering is tracked, but only receipts add stock</a:t>
            </a:r>
            <a:endParaRPr lang="en-US" sz="3200" dirty="0"/>
          </a:p>
        </p:txBody>
      </p:sp>
      <p:sp>
        <p:nvSpPr>
          <p:cNvPr id="4" name="Frame reorders"/>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reorders" descr="MachineCare reorders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Request › order › receive</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Approval policy</a:t>
            </a:r>
            <a:endParaRPr lang="en-US" sz="1400" dirty="0"/>
          </a:p>
          <a:p>
            <a:pPr indent="0" marL="0">
              <a:spcAft>
                <a:spcPts val="200"/>
              </a:spcAft>
              <a:buNone/>
            </a:pPr>
            <a:r>
              <a:rPr lang="en-US" sz="1400" dirty="0">
                <a:solidFill>
                  <a:schemeClr val="accent5"/>
                </a:solidFill>
              </a:rPr>
              <a:t>Lead requests start approved; Admin requests need another manager</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Partial deliveries</a:t>
            </a:r>
            <a:endParaRPr lang="en-US" sz="1400" dirty="0"/>
          </a:p>
          <a:p>
            <a:pPr indent="0" marL="0">
              <a:spcAft>
                <a:spcPts val="200"/>
              </a:spcAft>
              <a:buNone/>
            </a:pPr>
            <a:r>
              <a:rPr lang="en-US" sz="1400" dirty="0">
                <a:solidFill>
                  <a:schemeClr val="accent5"/>
                </a:solidFill>
              </a:rPr>
              <a:t>#1 solenoid: 10 ordered, 4 received on DN-DEMO-77, 6 still open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Expected arrival</a:t>
            </a:r>
            <a:endParaRPr lang="en-US" sz="1400" dirty="0"/>
          </a:p>
          <a:p>
            <a:pPr indent="0" marL="0">
              <a:spcAft>
                <a:spcPts val="200"/>
              </a:spcAft>
              <a:buNone/>
            </a:pPr>
            <a:r>
              <a:rPr lang="en-US" sz="1400" dirty="0">
                <a:solidFill>
                  <a:schemeClr val="accent5"/>
                </a:solidFill>
              </a:rPr>
              <a:t>Order date + supplier lead time; late deliveries turn red. Duplicates and over-receipts are rejected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8 · OVERSIGHT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Alerts, reports and a full audit trail</a:t>
            </a:r>
            <a:endParaRPr lang="en-US" sz="3200" dirty="0"/>
          </a:p>
        </p:txBody>
      </p:sp>
      <p:sp>
        <p:nvSpPr>
          <p:cNvPr id="4" name="Frame alerts"/>
          <p:cNvSpPr/>
          <p:nvPr/>
        </p:nvSpPr>
        <p:spPr>
          <a:xfrm>
            <a:off x="475488"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alerts" descr="MachineCare alerts screen (demo data)">    </p:cNvPr>
          <p:cNvPicPr>
            <a:picLocks noChangeAspect="1"/>
          </p:cNvPicPr>
          <p:nvPr/>
        </p:nvPicPr>
        <p:blipFill>
          <a:blip r:embed="rId1"/>
          <a:stretch>
            <a:fillRect/>
          </a:stretch>
        </p:blipFill>
        <p:spPr>
          <a:xfrm>
            <a:off x="548640" y="1828800"/>
            <a:ext cx="3520440" cy="2200275"/>
          </a:xfrm>
          <a:prstGeom prst="rect">
            <a:avLst/>
          </a:prstGeom>
        </p:spPr>
      </p:pic>
      <p:sp>
        <p:nvSpPr>
          <p:cNvPr id="6" name="Frame reports"/>
          <p:cNvSpPr/>
          <p:nvPr/>
        </p:nvSpPr>
        <p:spPr>
          <a:xfrm>
            <a:off x="4261104"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reports" descr="MachineCare reports screen (demo data)">    </p:cNvPr>
          <p:cNvPicPr>
            <a:picLocks noChangeAspect="1"/>
          </p:cNvPicPr>
          <p:nvPr/>
        </p:nvPicPr>
        <p:blipFill>
          <a:blip r:embed="rId2"/>
          <a:stretch>
            <a:fillRect/>
          </a:stretch>
        </p:blipFill>
        <p:spPr>
          <a:xfrm>
            <a:off x="4334256" y="1828800"/>
            <a:ext cx="3520440" cy="2200275"/>
          </a:xfrm>
          <a:prstGeom prst="rect">
            <a:avLst/>
          </a:prstGeom>
        </p:spPr>
      </p:pic>
      <p:sp>
        <p:nvSpPr>
          <p:cNvPr id="8" name="Frame audit"/>
          <p:cNvSpPr/>
          <p:nvPr/>
        </p:nvSpPr>
        <p:spPr>
          <a:xfrm>
            <a:off x="8046720"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9" name="Screenshot audit" descr="MachineCare audit screen (demo data)">    </p:cNvPr>
          <p:cNvPicPr>
            <a:picLocks noChangeAspect="1"/>
          </p:cNvPicPr>
          <p:nvPr/>
        </p:nvPicPr>
        <p:blipFill>
          <a:blip r:embed="rId3"/>
          <a:stretch>
            <a:fillRect/>
          </a:stretch>
        </p:blipFill>
        <p:spPr>
          <a:xfrm>
            <a:off x="8119872" y="1828800"/>
            <a:ext cx="3520440" cy="2200275"/>
          </a:xfrm>
          <a:prstGeom prst="rect">
            <a:avLst/>
          </a:prstGeom>
        </p:spPr>
      </p:pic>
      <p:sp>
        <p:nvSpPr>
          <p:cNvPr id="10" name="Text 5"/>
          <p:cNvSpPr txBox="1"/>
          <p:nvPr/>
        </p:nvSpPr>
        <p:spPr>
          <a:xfrm>
            <a:off x="548640"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Persistent alerts</a:t>
            </a:r>
            <a:endParaRPr lang="en-US" sz="1500" dirty="0"/>
          </a:p>
          <a:p>
            <a:pPr indent="0" marL="0">
              <a:buNone/>
            </a:pPr>
            <a:r>
              <a:rPr lang="en-US" sz="1500" dirty="0">
                <a:solidFill>
                  <a:schemeClr val="accent5"/>
                </a:solidFill>
              </a:rPr>
              <a:t>Low stock, shortfalls and overdue intervals stay open until the condition clears</a:t>
            </a:r>
            <a:endParaRPr lang="en-US" sz="1500" dirty="0"/>
          </a:p>
        </p:txBody>
      </p:sp>
      <p:sp>
        <p:nvSpPr>
          <p:cNvPr id="11" name="Text 6"/>
          <p:cNvSpPr txBox="1"/>
          <p:nvPr/>
        </p:nvSpPr>
        <p:spPr>
          <a:xfrm>
            <a:off x="4334256"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Reports and CSV</a:t>
            </a:r>
            <a:endParaRPr lang="en-US" sz="1500" dirty="0"/>
          </a:p>
          <a:p>
            <a:pPr indent="0" marL="0">
              <a:buNone/>
            </a:pPr>
            <a:r>
              <a:rPr lang="en-US" sz="1500" dirty="0">
                <a:solidFill>
                  <a:schemeClr val="accent5"/>
                </a:solidFill>
              </a:rPr>
              <a:t>Maintenance outlook, early-replacement counts, exports protected against spreadsheet formulas</a:t>
            </a:r>
            <a:endParaRPr lang="en-US" sz="1500" dirty="0"/>
          </a:p>
        </p:txBody>
      </p:sp>
      <p:sp>
        <p:nvSpPr>
          <p:cNvPr id="12" name="Text 7"/>
          <p:cNvSpPr txBox="1"/>
          <p:nvPr/>
        </p:nvSpPr>
        <p:spPr>
          <a:xfrm>
            <a:off x="8119872"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Audit log</a:t>
            </a:r>
            <a:endParaRPr lang="en-US" sz="1500" dirty="0"/>
          </a:p>
          <a:p>
            <a:pPr indent="0" marL="0">
              <a:buNone/>
            </a:pPr>
            <a:r>
              <a:rPr lang="en-US" sz="1500" dirty="0">
                <a:solidFill>
                  <a:schemeClr val="accent5"/>
                </a:solidFill>
              </a:rPr>
              <a:t>Logins, account changes, approvals and orders. Passwords are never recorded</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BUILT IN FROM DAY ONE</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Safeguards that are already working</a:t>
            </a:r>
            <a:endParaRPr lang="en-US" sz="3200" dirty="0"/>
          </a:p>
        </p:txBody>
      </p:sp>
      <p:sp>
        <p:nvSpPr>
          <p:cNvPr id="4" name="Shape 2"/>
          <p:cNvSpPr/>
          <p:nvPr/>
        </p:nvSpPr>
        <p:spPr>
          <a:xfrm>
            <a:off x="54864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Shape 3"/>
          <p:cNvSpPr/>
          <p:nvPr/>
        </p:nvSpPr>
        <p:spPr>
          <a:xfrm>
            <a:off x="822960" y="1874520"/>
            <a:ext cx="640080" cy="640080"/>
          </a:xfrm>
          <a:prstGeom prst="ellipse">
            <a:avLst/>
          </a:prstGeom>
          <a:solidFill>
            <a:srgbClr val="E0F2F1"/>
          </a:solidFill>
          <a:ln/>
        </p:spPr>
      </p:sp>
      <p:pic>
        <p:nvPicPr>
          <p:cNvPr id="6" name="Image 0" descr="preencoded.png">    </p:cNvPr>
          <p:cNvPicPr>
            <a:picLocks noChangeAspect="1"/>
          </p:cNvPicPr>
          <p:nvPr/>
        </p:nvPicPr>
        <p:blipFill>
          <a:blip r:embed="rId1"/>
          <a:stretch>
            <a:fillRect/>
          </a:stretch>
        </p:blipFill>
        <p:spPr>
          <a:xfrm>
            <a:off x="978408" y="2029968"/>
            <a:ext cx="329184" cy="329184"/>
          </a:xfrm>
          <a:prstGeom prst="rect">
            <a:avLst/>
          </a:prstGeom>
        </p:spPr>
      </p:pic>
      <p:sp>
        <p:nvSpPr>
          <p:cNvPr id="7" name="Text 4"/>
          <p:cNvSpPr txBox="1"/>
          <p:nvPr/>
        </p:nvSpPr>
        <p:spPr>
          <a:xfrm>
            <a:off x="164592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Secure sign-in</a:t>
            </a:r>
            <a:endParaRPr lang="en-US" sz="1700" dirty="0"/>
          </a:p>
        </p:txBody>
      </p:sp>
      <p:sp>
        <p:nvSpPr>
          <p:cNvPr id="8" name="Text 5"/>
          <p:cNvSpPr txBox="1"/>
          <p:nvPr/>
        </p:nvSpPr>
        <p:spPr>
          <a:xfrm>
            <a:off x="82296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Hashed passwords, 8-hour sessions, forced first change, lockout after repeated failures</a:t>
            </a:r>
            <a:endParaRPr lang="en-US" sz="1300" dirty="0"/>
          </a:p>
        </p:txBody>
      </p:sp>
      <p:sp>
        <p:nvSpPr>
          <p:cNvPr id="9" name="Shape 6"/>
          <p:cNvSpPr/>
          <p:nvPr/>
        </p:nvSpPr>
        <p:spPr>
          <a:xfrm>
            <a:off x="434340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Shape 7"/>
          <p:cNvSpPr/>
          <p:nvPr/>
        </p:nvSpPr>
        <p:spPr>
          <a:xfrm>
            <a:off x="4617720" y="1874520"/>
            <a:ext cx="640080" cy="640080"/>
          </a:xfrm>
          <a:prstGeom prst="ellipse">
            <a:avLst/>
          </a:prstGeom>
          <a:solidFill>
            <a:srgbClr val="E0F2F1"/>
          </a:solidFill>
          <a:ln/>
        </p:spPr>
      </p:sp>
      <p:pic>
        <p:nvPicPr>
          <p:cNvPr id="11" name="Image 1" descr="preencoded.png">    </p:cNvPr>
          <p:cNvPicPr>
            <a:picLocks noChangeAspect="1"/>
          </p:cNvPicPr>
          <p:nvPr/>
        </p:nvPicPr>
        <p:blipFill>
          <a:blip r:embed="rId2"/>
          <a:stretch>
            <a:fillRect/>
          </a:stretch>
        </p:blipFill>
        <p:spPr>
          <a:xfrm>
            <a:off x="4773168" y="2029968"/>
            <a:ext cx="329184" cy="329184"/>
          </a:xfrm>
          <a:prstGeom prst="rect">
            <a:avLst/>
          </a:prstGeom>
        </p:spPr>
      </p:pic>
      <p:sp>
        <p:nvSpPr>
          <p:cNvPr id="12" name="Text 8"/>
          <p:cNvSpPr txBox="1"/>
          <p:nvPr/>
        </p:nvSpPr>
        <p:spPr>
          <a:xfrm>
            <a:off x="544068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Server-side permissions</a:t>
            </a:r>
            <a:endParaRPr lang="en-US" sz="1700" dirty="0"/>
          </a:p>
        </p:txBody>
      </p:sp>
      <p:sp>
        <p:nvSpPr>
          <p:cNvPr id="13" name="Text 9"/>
          <p:cNvSpPr txBox="1"/>
          <p:nvPr/>
        </p:nvSpPr>
        <p:spPr>
          <a:xfrm>
            <a:off x="461772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Every action checks role and building/line scope</a:t>
            </a:r>
            <a:endParaRPr lang="en-US" sz="1300" dirty="0"/>
          </a:p>
        </p:txBody>
      </p:sp>
      <p:sp>
        <p:nvSpPr>
          <p:cNvPr id="14" name="Shape 10"/>
          <p:cNvSpPr/>
          <p:nvPr/>
        </p:nvSpPr>
        <p:spPr>
          <a:xfrm>
            <a:off x="813816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Shape 11"/>
          <p:cNvSpPr/>
          <p:nvPr/>
        </p:nvSpPr>
        <p:spPr>
          <a:xfrm>
            <a:off x="8412480" y="1874520"/>
            <a:ext cx="640080" cy="640080"/>
          </a:xfrm>
          <a:prstGeom prst="ellipse">
            <a:avLst/>
          </a:prstGeom>
          <a:solidFill>
            <a:srgbClr val="E0F2F1"/>
          </a:solidFill>
          <a:ln/>
        </p:spPr>
      </p:sp>
      <p:pic>
        <p:nvPicPr>
          <p:cNvPr id="16" name="Image 2" descr="preencoded.png">    </p:cNvPr>
          <p:cNvPicPr>
            <a:picLocks noChangeAspect="1"/>
          </p:cNvPicPr>
          <p:nvPr/>
        </p:nvPicPr>
        <p:blipFill>
          <a:blip r:embed="rId3"/>
          <a:stretch>
            <a:fillRect/>
          </a:stretch>
        </p:blipFill>
        <p:spPr>
          <a:xfrm>
            <a:off x="8567928" y="2029968"/>
            <a:ext cx="329184" cy="329184"/>
          </a:xfrm>
          <a:prstGeom prst="rect">
            <a:avLst/>
          </a:prstGeom>
        </p:spPr>
      </p:pic>
      <p:sp>
        <p:nvSpPr>
          <p:cNvPr id="17" name="Text 12"/>
          <p:cNvSpPr txBox="1"/>
          <p:nvPr/>
        </p:nvSpPr>
        <p:spPr>
          <a:xfrm>
            <a:off x="923544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No double counting</a:t>
            </a:r>
            <a:endParaRPr lang="en-US" sz="1700" dirty="0"/>
          </a:p>
        </p:txBody>
      </p:sp>
      <p:sp>
        <p:nvSpPr>
          <p:cNvPr id="18" name="Text 13"/>
          <p:cNvSpPr txBox="1"/>
          <p:nvPr/>
        </p:nvSpPr>
        <p:spPr>
          <a:xfrm>
            <a:off x="841248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Atomic transactions, duplicate-submit keys, edit-conflict detection</a:t>
            </a:r>
            <a:endParaRPr lang="en-US" sz="1300" dirty="0"/>
          </a:p>
        </p:txBody>
      </p:sp>
      <p:sp>
        <p:nvSpPr>
          <p:cNvPr id="19" name="Shape 14"/>
          <p:cNvSpPr/>
          <p:nvPr/>
        </p:nvSpPr>
        <p:spPr>
          <a:xfrm>
            <a:off x="54864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0" name="Shape 15"/>
          <p:cNvSpPr/>
          <p:nvPr/>
        </p:nvSpPr>
        <p:spPr>
          <a:xfrm>
            <a:off x="822960" y="4114800"/>
            <a:ext cx="640080" cy="640080"/>
          </a:xfrm>
          <a:prstGeom prst="ellipse">
            <a:avLst/>
          </a:prstGeom>
          <a:solidFill>
            <a:srgbClr val="E0F2F1"/>
          </a:solidFill>
          <a:ln/>
        </p:spPr>
      </p:sp>
      <p:pic>
        <p:nvPicPr>
          <p:cNvPr id="21" name="Image 3" descr="preencoded.png">    </p:cNvPr>
          <p:cNvPicPr>
            <a:picLocks noChangeAspect="1"/>
          </p:cNvPicPr>
          <p:nvPr/>
        </p:nvPicPr>
        <p:blipFill>
          <a:blip r:embed="rId4"/>
          <a:stretch>
            <a:fillRect/>
          </a:stretch>
        </p:blipFill>
        <p:spPr>
          <a:xfrm>
            <a:off x="978408" y="4270248"/>
            <a:ext cx="329184" cy="329184"/>
          </a:xfrm>
          <a:prstGeom prst="rect">
            <a:avLst/>
          </a:prstGeom>
        </p:spPr>
      </p:pic>
      <p:sp>
        <p:nvSpPr>
          <p:cNvPr id="22" name="Text 16"/>
          <p:cNvSpPr txBox="1"/>
          <p:nvPr/>
        </p:nvSpPr>
        <p:spPr>
          <a:xfrm>
            <a:off x="164592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Safe exports</a:t>
            </a:r>
            <a:endParaRPr lang="en-US" sz="1700" dirty="0"/>
          </a:p>
        </p:txBody>
      </p:sp>
      <p:sp>
        <p:nvSpPr>
          <p:cNvPr id="23" name="Text 17"/>
          <p:cNvSpPr txBox="1"/>
          <p:nvPr/>
        </p:nvSpPr>
        <p:spPr>
          <a:xfrm>
            <a:off x="82296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Permission checked, passwords redacted, formula injection blocked</a:t>
            </a:r>
            <a:endParaRPr lang="en-US" sz="1300" dirty="0"/>
          </a:p>
        </p:txBody>
      </p:sp>
      <p:sp>
        <p:nvSpPr>
          <p:cNvPr id="24" name="Shape 18"/>
          <p:cNvSpPr/>
          <p:nvPr/>
        </p:nvSpPr>
        <p:spPr>
          <a:xfrm>
            <a:off x="434340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5" name="Shape 19"/>
          <p:cNvSpPr/>
          <p:nvPr/>
        </p:nvSpPr>
        <p:spPr>
          <a:xfrm>
            <a:off x="4617720" y="4114800"/>
            <a:ext cx="640080" cy="640080"/>
          </a:xfrm>
          <a:prstGeom prst="ellipse">
            <a:avLst/>
          </a:prstGeom>
          <a:solidFill>
            <a:srgbClr val="E0F2F1"/>
          </a:solidFill>
          <a:ln/>
        </p:spPr>
      </p:sp>
      <p:pic>
        <p:nvPicPr>
          <p:cNvPr id="26" name="Image 4" descr="preencoded.png">    </p:cNvPr>
          <p:cNvPicPr>
            <a:picLocks noChangeAspect="1"/>
          </p:cNvPicPr>
          <p:nvPr/>
        </p:nvPicPr>
        <p:blipFill>
          <a:blip r:embed="rId5"/>
          <a:stretch>
            <a:fillRect/>
          </a:stretch>
        </p:blipFill>
        <p:spPr>
          <a:xfrm>
            <a:off x="4773168" y="4270248"/>
            <a:ext cx="329184" cy="329184"/>
          </a:xfrm>
          <a:prstGeom prst="rect">
            <a:avLst/>
          </a:prstGeom>
        </p:spPr>
      </p:pic>
      <p:sp>
        <p:nvSpPr>
          <p:cNvPr id="27" name="Text 20"/>
          <p:cNvSpPr txBox="1"/>
          <p:nvPr/>
        </p:nvSpPr>
        <p:spPr>
          <a:xfrm>
            <a:off x="544068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Verified backups</a:t>
            </a:r>
            <a:endParaRPr lang="en-US" sz="1700" dirty="0"/>
          </a:p>
        </p:txBody>
      </p:sp>
      <p:sp>
        <p:nvSpPr>
          <p:cNvPr id="28" name="Text 21"/>
          <p:cNvSpPr txBox="1"/>
          <p:nvPr/>
        </p:nvSpPr>
        <p:spPr>
          <a:xfrm>
            <a:off x="461772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Integrity-checked copies; recovery always uses a new file</a:t>
            </a:r>
            <a:endParaRPr lang="en-US" sz="1300" dirty="0"/>
          </a:p>
        </p:txBody>
      </p:sp>
      <p:sp>
        <p:nvSpPr>
          <p:cNvPr id="29" name="Shape 22"/>
          <p:cNvSpPr/>
          <p:nvPr/>
        </p:nvSpPr>
        <p:spPr>
          <a:xfrm>
            <a:off x="813816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30" name="Shape 23"/>
          <p:cNvSpPr/>
          <p:nvPr/>
        </p:nvSpPr>
        <p:spPr>
          <a:xfrm>
            <a:off x="8412480" y="4114800"/>
            <a:ext cx="640080" cy="640080"/>
          </a:xfrm>
          <a:prstGeom prst="ellipse">
            <a:avLst/>
          </a:prstGeom>
          <a:solidFill>
            <a:srgbClr val="E0F2F1"/>
          </a:solidFill>
          <a:ln/>
        </p:spPr>
      </p:sp>
      <p:pic>
        <p:nvPicPr>
          <p:cNvPr id="31" name="Image 5" descr="preencoded.png">    </p:cNvPr>
          <p:cNvPicPr>
            <a:picLocks noChangeAspect="1"/>
          </p:cNvPicPr>
          <p:nvPr/>
        </p:nvPicPr>
        <p:blipFill>
          <a:blip r:embed="rId6"/>
          <a:stretch>
            <a:fillRect/>
          </a:stretch>
        </p:blipFill>
        <p:spPr>
          <a:xfrm>
            <a:off x="8567928" y="4270248"/>
            <a:ext cx="329184" cy="329184"/>
          </a:xfrm>
          <a:prstGeom prst="rect">
            <a:avLst/>
          </a:prstGeom>
        </p:spPr>
      </p:pic>
      <p:sp>
        <p:nvSpPr>
          <p:cNvPr id="32" name="Text 24"/>
          <p:cNvSpPr txBox="1"/>
          <p:nvPr/>
        </p:nvSpPr>
        <p:spPr>
          <a:xfrm>
            <a:off x="923544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Local only</a:t>
            </a:r>
            <a:endParaRPr lang="en-US" sz="1700" dirty="0"/>
          </a:p>
        </p:txBody>
      </p:sp>
      <p:sp>
        <p:nvSpPr>
          <p:cNvPr id="33" name="Text 25"/>
          <p:cNvSpPr txBox="1"/>
          <p:nvPr/>
        </p:nvSpPr>
        <p:spPr>
          <a:xfrm>
            <a:off x="841248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Bound to this laptop (loopback); not exposed to the company network</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PRODUCTION READINESS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Features are done; operations and data are not</a:t>
            </a:r>
            <a:endParaRPr lang="en-US" sz="3200" dirty="0"/>
          </a:p>
        </p:txBody>
      </p:sp>
      <p:sp>
        <p:nvSpPr>
          <p:cNvPr id="4" name="Shape 2"/>
          <p:cNvSpPr/>
          <p:nvPr/>
        </p:nvSpPr>
        <p:spPr>
          <a:xfrm>
            <a:off x="548640" y="1554480"/>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Image 0" descr="preencoded.png">    </p:cNvPr>
          <p:cNvPicPr>
            <a:picLocks noChangeAspect="1"/>
          </p:cNvPicPr>
          <p:nvPr/>
        </p:nvPicPr>
        <p:blipFill>
          <a:blip r:embed="rId1"/>
          <a:stretch>
            <a:fillRect/>
          </a:stretch>
        </p:blipFill>
        <p:spPr>
          <a:xfrm>
            <a:off x="731520" y="1673352"/>
            <a:ext cx="310896" cy="310896"/>
          </a:xfrm>
          <a:prstGeom prst="rect">
            <a:avLst/>
          </a:prstGeom>
        </p:spPr>
      </p:pic>
      <p:sp>
        <p:nvSpPr>
          <p:cNvPr id="6" name="Text 3"/>
          <p:cNvSpPr txBox="1"/>
          <p:nvPr/>
        </p:nvSpPr>
        <p:spPr>
          <a:xfrm>
            <a:off x="1188720" y="1554480"/>
            <a:ext cx="1188720" cy="548640"/>
          </a:xfrm>
          <a:prstGeom prst="rect">
            <a:avLst/>
          </a:prstGeom>
          <a:noFill/>
          <a:ln/>
        </p:spPr>
        <p:txBody>
          <a:bodyPr wrap="square" lIns="0" tIns="0" rIns="0" bIns="0" rtlCol="0" anchor="ctr"/>
          <a:lstStyle/>
          <a:p>
            <a:pPr indent="0" marL="0">
              <a:buNone/>
            </a:pPr>
            <a:r>
              <a:rPr lang="en-US" sz="1500" b="1" dirty="0">
                <a:solidFill>
                  <a:schemeClr val="accent1"/>
                </a:solidFill>
              </a:rPr>
              <a:t>Done</a:t>
            </a:r>
            <a:endParaRPr lang="en-US" sz="1500" dirty="0"/>
          </a:p>
        </p:txBody>
      </p:sp>
      <p:sp>
        <p:nvSpPr>
          <p:cNvPr id="7" name="Text 4"/>
          <p:cNvSpPr txBox="1"/>
          <p:nvPr/>
        </p:nvSpPr>
        <p:spPr>
          <a:xfrm>
            <a:off x="2377440" y="1554480"/>
            <a:ext cx="9052560" cy="548640"/>
          </a:xfrm>
          <a:prstGeom prst="rect">
            <a:avLst/>
          </a:prstGeom>
          <a:noFill/>
          <a:ln/>
        </p:spPr>
        <p:txBody>
          <a:bodyPr wrap="square" lIns="0" tIns="0" rIns="0" bIns="0" rtlCol="0" anchor="ctr"/>
          <a:lstStyle/>
          <a:p>
            <a:pPr indent="0" marL="0">
              <a:buNone/>
            </a:pPr>
            <a:r>
              <a:rPr lang="en-US" sz="1500" dirty="0">
                <a:solidFill>
                  <a:schemeClr val="tx1"/>
                </a:solidFill>
              </a:rPr>
              <a:t>Core workflows: equipment, inventory, approvals, history, purchasing, alerts, reports, audit</a:t>
            </a:r>
            <a:endParaRPr lang="en-US" sz="1500" dirty="0"/>
          </a:p>
        </p:txBody>
      </p:sp>
      <p:sp>
        <p:nvSpPr>
          <p:cNvPr id="8" name="Shape 5"/>
          <p:cNvSpPr/>
          <p:nvPr/>
        </p:nvSpPr>
        <p:spPr>
          <a:xfrm>
            <a:off x="548640" y="2212848"/>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9" name="Image 1" descr="preencoded.png">    </p:cNvPr>
          <p:cNvPicPr>
            <a:picLocks noChangeAspect="1"/>
          </p:cNvPicPr>
          <p:nvPr/>
        </p:nvPicPr>
        <p:blipFill>
          <a:blip r:embed="rId2"/>
          <a:stretch>
            <a:fillRect/>
          </a:stretch>
        </p:blipFill>
        <p:spPr>
          <a:xfrm>
            <a:off x="731520" y="2331720"/>
            <a:ext cx="310896" cy="310896"/>
          </a:xfrm>
          <a:prstGeom prst="rect">
            <a:avLst/>
          </a:prstGeom>
        </p:spPr>
      </p:pic>
      <p:sp>
        <p:nvSpPr>
          <p:cNvPr id="10" name="Text 6"/>
          <p:cNvSpPr txBox="1"/>
          <p:nvPr/>
        </p:nvSpPr>
        <p:spPr>
          <a:xfrm>
            <a:off x="1188720" y="2212848"/>
            <a:ext cx="1188720" cy="548640"/>
          </a:xfrm>
          <a:prstGeom prst="rect">
            <a:avLst/>
          </a:prstGeom>
          <a:noFill/>
          <a:ln/>
        </p:spPr>
        <p:txBody>
          <a:bodyPr wrap="square" lIns="0" tIns="0" rIns="0" bIns="0" rtlCol="0" anchor="ctr"/>
          <a:lstStyle/>
          <a:p>
            <a:pPr indent="0" marL="0">
              <a:buNone/>
            </a:pPr>
            <a:r>
              <a:rPr lang="en-US" sz="1500" b="1" dirty="0">
                <a:solidFill>
                  <a:schemeClr val="accent1"/>
                </a:solidFill>
              </a:rPr>
              <a:t>Done</a:t>
            </a:r>
            <a:endParaRPr lang="en-US" sz="1500" dirty="0"/>
          </a:p>
        </p:txBody>
      </p:sp>
      <p:sp>
        <p:nvSpPr>
          <p:cNvPr id="11" name="Text 7"/>
          <p:cNvSpPr txBox="1"/>
          <p:nvPr/>
        </p:nvSpPr>
        <p:spPr>
          <a:xfrm>
            <a:off x="2377440" y="2212848"/>
            <a:ext cx="9052560" cy="548640"/>
          </a:xfrm>
          <a:prstGeom prst="rect">
            <a:avLst/>
          </a:prstGeom>
          <a:noFill/>
          <a:ln/>
        </p:spPr>
        <p:txBody>
          <a:bodyPr wrap="square" lIns="0" tIns="0" rIns="0" bIns="0" rtlCol="0" anchor="ctr"/>
          <a:lstStyle/>
          <a:p>
            <a:pPr indent="0" marL="0">
              <a:buNone/>
            </a:pPr>
            <a:r>
              <a:rPr lang="en-US" sz="1500" dirty="0">
                <a:solidFill>
                  <a:schemeClr val="tx1"/>
                </a:solidFill>
              </a:rPr>
              <a:t>Role permissions, data integrity, backups and recovery tooling, automated tests</a:t>
            </a:r>
            <a:endParaRPr lang="en-US" sz="1500" dirty="0"/>
          </a:p>
        </p:txBody>
      </p:sp>
      <p:sp>
        <p:nvSpPr>
          <p:cNvPr id="12" name="Shape 8"/>
          <p:cNvSpPr/>
          <p:nvPr/>
        </p:nvSpPr>
        <p:spPr>
          <a:xfrm>
            <a:off x="548640" y="2871216"/>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13" name="Image 2" descr="preencoded.png">    </p:cNvPr>
          <p:cNvPicPr>
            <a:picLocks noChangeAspect="1"/>
          </p:cNvPicPr>
          <p:nvPr/>
        </p:nvPicPr>
        <p:blipFill>
          <a:blip r:embed="rId3"/>
          <a:stretch>
            <a:fillRect/>
          </a:stretch>
        </p:blipFill>
        <p:spPr>
          <a:xfrm>
            <a:off x="731520" y="2990088"/>
            <a:ext cx="310896" cy="310896"/>
          </a:xfrm>
          <a:prstGeom prst="rect">
            <a:avLst/>
          </a:prstGeom>
        </p:spPr>
      </p:pic>
      <p:sp>
        <p:nvSpPr>
          <p:cNvPr id="14" name="Text 9"/>
          <p:cNvSpPr txBox="1"/>
          <p:nvPr/>
        </p:nvSpPr>
        <p:spPr>
          <a:xfrm>
            <a:off x="1188720" y="2871216"/>
            <a:ext cx="1188720" cy="548640"/>
          </a:xfrm>
          <a:prstGeom prst="rect">
            <a:avLst/>
          </a:prstGeom>
          <a:noFill/>
          <a:ln/>
        </p:spPr>
        <p:txBody>
          <a:bodyPr wrap="square" lIns="0" tIns="0" rIns="0" bIns="0" rtlCol="0" anchor="ctr"/>
          <a:lstStyle/>
          <a:p>
            <a:pPr indent="0" marL="0">
              <a:buNone/>
            </a:pPr>
            <a:r>
              <a:rPr lang="en-US" sz="1500" b="1" dirty="0">
                <a:solidFill>
                  <a:srgbClr val="8A5A00"/>
                </a:solidFill>
              </a:rPr>
              <a:t>Partial</a:t>
            </a:r>
            <a:endParaRPr lang="en-US" sz="1500" dirty="0"/>
          </a:p>
        </p:txBody>
      </p:sp>
      <p:sp>
        <p:nvSpPr>
          <p:cNvPr id="15" name="Text 10"/>
          <p:cNvSpPr txBox="1"/>
          <p:nvPr/>
        </p:nvSpPr>
        <p:spPr>
          <a:xfrm>
            <a:off x="2377440" y="2871216"/>
            <a:ext cx="9052560" cy="548640"/>
          </a:xfrm>
          <a:prstGeom prst="rect">
            <a:avLst/>
          </a:prstGeom>
          <a:noFill/>
          <a:ln/>
        </p:spPr>
        <p:txBody>
          <a:bodyPr wrap="square" lIns="0" tIns="0" rIns="0" bIns="0" rtlCol="0" anchor="ctr"/>
          <a:lstStyle/>
          <a:p>
            <a:pPr indent="0" marL="0">
              <a:buNone/>
            </a:pPr>
            <a:r>
              <a:rPr lang="en-US" sz="1500" dirty="0">
                <a:solidFill>
                  <a:schemeClr val="tx1"/>
                </a:solidFill>
              </a:rPr>
              <a:t>Background worker and email: built and tested, not switched on or configured</a:t>
            </a:r>
            <a:endParaRPr lang="en-US" sz="1500" dirty="0"/>
          </a:p>
        </p:txBody>
      </p:sp>
      <p:sp>
        <p:nvSpPr>
          <p:cNvPr id="16" name="Shape 11"/>
          <p:cNvSpPr/>
          <p:nvPr/>
        </p:nvSpPr>
        <p:spPr>
          <a:xfrm>
            <a:off x="548640" y="3529584"/>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17" name="Image 3" descr="preencoded.png">    </p:cNvPr>
          <p:cNvPicPr>
            <a:picLocks noChangeAspect="1"/>
          </p:cNvPicPr>
          <p:nvPr/>
        </p:nvPicPr>
        <p:blipFill>
          <a:blip r:embed="rId4"/>
          <a:stretch>
            <a:fillRect/>
          </a:stretch>
        </p:blipFill>
        <p:spPr>
          <a:xfrm>
            <a:off x="731520" y="3648456"/>
            <a:ext cx="310896" cy="310896"/>
          </a:xfrm>
          <a:prstGeom prst="rect">
            <a:avLst/>
          </a:prstGeom>
        </p:spPr>
      </p:pic>
      <p:sp>
        <p:nvSpPr>
          <p:cNvPr id="18" name="Text 12"/>
          <p:cNvSpPr txBox="1"/>
          <p:nvPr/>
        </p:nvSpPr>
        <p:spPr>
          <a:xfrm>
            <a:off x="1188720" y="3529584"/>
            <a:ext cx="1188720" cy="548640"/>
          </a:xfrm>
          <a:prstGeom prst="rect">
            <a:avLst/>
          </a:prstGeom>
          <a:noFill/>
          <a:ln/>
        </p:spPr>
        <p:txBody>
          <a:bodyPr wrap="square" lIns="0" tIns="0" rIns="0" bIns="0" rtlCol="0" anchor="ctr"/>
          <a:lstStyle/>
          <a:p>
            <a:pPr indent="0" marL="0">
              <a:buNone/>
            </a:pPr>
            <a:r>
              <a:rPr lang="en-US" sz="1500" b="1" dirty="0">
                <a:solidFill>
                  <a:srgbClr val="8A5A00"/>
                </a:solidFill>
              </a:rPr>
              <a:t>Partial</a:t>
            </a:r>
            <a:endParaRPr lang="en-US" sz="1500" dirty="0"/>
          </a:p>
        </p:txBody>
      </p:sp>
      <p:sp>
        <p:nvSpPr>
          <p:cNvPr id="19" name="Text 13"/>
          <p:cNvSpPr txBox="1"/>
          <p:nvPr/>
        </p:nvSpPr>
        <p:spPr>
          <a:xfrm>
            <a:off x="2377440" y="3529584"/>
            <a:ext cx="9052560" cy="548640"/>
          </a:xfrm>
          <a:prstGeom prst="rect">
            <a:avLst/>
          </a:prstGeom>
          <a:noFill/>
          <a:ln/>
        </p:spPr>
        <p:txBody>
          <a:bodyPr wrap="square" lIns="0" tIns="0" rIns="0" bIns="0" rtlCol="0" anchor="ctr"/>
          <a:lstStyle/>
          <a:p>
            <a:pPr indent="0" marL="0">
              <a:buNone/>
            </a:pPr>
            <a:r>
              <a:rPr lang="en-US" sz="1500" dirty="0">
                <a:solidFill>
                  <a:schemeClr val="tx1"/>
                </a:solidFill>
              </a:rPr>
              <a:t>Operational data: part references real; stock, prices, bins, intervals, asset tags are demo</a:t>
            </a:r>
            <a:endParaRPr lang="en-US" sz="1500" dirty="0"/>
          </a:p>
        </p:txBody>
      </p:sp>
      <p:sp>
        <p:nvSpPr>
          <p:cNvPr id="20" name="Shape 14"/>
          <p:cNvSpPr/>
          <p:nvPr/>
        </p:nvSpPr>
        <p:spPr>
          <a:xfrm>
            <a:off x="548640" y="4187952"/>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1" name="Image 4" descr="preencoded.png">    </p:cNvPr>
          <p:cNvPicPr>
            <a:picLocks noChangeAspect="1"/>
          </p:cNvPicPr>
          <p:nvPr/>
        </p:nvPicPr>
        <p:blipFill>
          <a:blip r:embed="rId5"/>
          <a:stretch>
            <a:fillRect/>
          </a:stretch>
        </p:blipFill>
        <p:spPr>
          <a:xfrm>
            <a:off x="731520" y="4306824"/>
            <a:ext cx="310896" cy="310896"/>
          </a:xfrm>
          <a:prstGeom prst="rect">
            <a:avLst/>
          </a:prstGeom>
        </p:spPr>
      </p:pic>
      <p:sp>
        <p:nvSpPr>
          <p:cNvPr id="22" name="Text 15"/>
          <p:cNvSpPr txBox="1"/>
          <p:nvPr/>
        </p:nvSpPr>
        <p:spPr>
          <a:xfrm>
            <a:off x="1188720" y="4187952"/>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23" name="Text 16"/>
          <p:cNvSpPr txBox="1"/>
          <p:nvPr/>
        </p:nvSpPr>
        <p:spPr>
          <a:xfrm>
            <a:off x="2377440" y="4187952"/>
            <a:ext cx="9052560" cy="548640"/>
          </a:xfrm>
          <a:prstGeom prst="rect">
            <a:avLst/>
          </a:prstGeom>
          <a:noFill/>
          <a:ln/>
        </p:spPr>
        <p:txBody>
          <a:bodyPr wrap="square" lIns="0" tIns="0" rIns="0" bIns="0" rtlCol="0" anchor="ctr"/>
          <a:lstStyle/>
          <a:p>
            <a:pPr indent="0" marL="0">
              <a:buNone/>
            </a:pPr>
            <a:r>
              <a:rPr lang="en-US" sz="1500" dirty="0">
                <a:solidFill>
                  <a:schemeClr val="tx1"/>
                </a:solidFill>
              </a:rPr>
              <a:t>Production hosting: HTTPS server, company sign-in, monitoring, supported runtime</a:t>
            </a:r>
            <a:endParaRPr lang="en-US" sz="1500" dirty="0"/>
          </a:p>
        </p:txBody>
      </p:sp>
      <p:sp>
        <p:nvSpPr>
          <p:cNvPr id="24" name="Shape 17"/>
          <p:cNvSpPr/>
          <p:nvPr/>
        </p:nvSpPr>
        <p:spPr>
          <a:xfrm>
            <a:off x="548640" y="4846320"/>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5" name="Image 5" descr="preencoded.png">    </p:cNvPr>
          <p:cNvPicPr>
            <a:picLocks noChangeAspect="1"/>
          </p:cNvPicPr>
          <p:nvPr/>
        </p:nvPicPr>
        <p:blipFill>
          <a:blip r:embed="rId6"/>
          <a:stretch>
            <a:fillRect/>
          </a:stretch>
        </p:blipFill>
        <p:spPr>
          <a:xfrm>
            <a:off x="731520" y="4965192"/>
            <a:ext cx="310896" cy="310896"/>
          </a:xfrm>
          <a:prstGeom prst="rect">
            <a:avLst/>
          </a:prstGeom>
        </p:spPr>
      </p:pic>
      <p:sp>
        <p:nvSpPr>
          <p:cNvPr id="26" name="Text 18"/>
          <p:cNvSpPr txBox="1"/>
          <p:nvPr/>
        </p:nvSpPr>
        <p:spPr>
          <a:xfrm>
            <a:off x="1188720" y="4846320"/>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27" name="Text 19"/>
          <p:cNvSpPr txBox="1"/>
          <p:nvPr/>
        </p:nvSpPr>
        <p:spPr>
          <a:xfrm>
            <a:off x="2377440" y="4846320"/>
            <a:ext cx="9052560" cy="548640"/>
          </a:xfrm>
          <a:prstGeom prst="rect">
            <a:avLst/>
          </a:prstGeom>
          <a:noFill/>
          <a:ln/>
        </p:spPr>
        <p:txBody>
          <a:bodyPr wrap="square" lIns="0" tIns="0" rIns="0" bIns="0" rtlCol="0" anchor="ctr"/>
          <a:lstStyle/>
          <a:p>
            <a:pPr indent="0" marL="0">
              <a:buNone/>
            </a:pPr>
            <a:r>
              <a:rPr lang="en-US" sz="1500" dirty="0">
                <a:solidFill>
                  <a:schemeClr val="tx1"/>
                </a:solidFill>
              </a:rPr>
              <a:t>Independent security review and signed-in user acceptance for all roles</a:t>
            </a:r>
            <a:endParaRPr lang="en-US" sz="1500" dirty="0"/>
          </a:p>
        </p:txBody>
      </p:sp>
      <p:sp>
        <p:nvSpPr>
          <p:cNvPr id="28" name="Shape 20"/>
          <p:cNvSpPr/>
          <p:nvPr/>
        </p:nvSpPr>
        <p:spPr>
          <a:xfrm>
            <a:off x="548640" y="5504688"/>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9" name="Image 6" descr="preencoded.png">    </p:cNvPr>
          <p:cNvPicPr>
            <a:picLocks noChangeAspect="1"/>
          </p:cNvPicPr>
          <p:nvPr/>
        </p:nvPicPr>
        <p:blipFill>
          <a:blip r:embed="rId7"/>
          <a:stretch>
            <a:fillRect/>
          </a:stretch>
        </p:blipFill>
        <p:spPr>
          <a:xfrm>
            <a:off x="731520" y="5623560"/>
            <a:ext cx="310896" cy="310896"/>
          </a:xfrm>
          <a:prstGeom prst="rect">
            <a:avLst/>
          </a:prstGeom>
        </p:spPr>
      </p:pic>
      <p:sp>
        <p:nvSpPr>
          <p:cNvPr id="30" name="Text 21"/>
          <p:cNvSpPr txBox="1"/>
          <p:nvPr/>
        </p:nvSpPr>
        <p:spPr>
          <a:xfrm>
            <a:off x="1188720" y="5504688"/>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31" name="Text 22"/>
          <p:cNvSpPr txBox="1"/>
          <p:nvPr/>
        </p:nvSpPr>
        <p:spPr>
          <a:xfrm>
            <a:off x="2377440" y="5504688"/>
            <a:ext cx="9052560" cy="548640"/>
          </a:xfrm>
          <a:prstGeom prst="rect">
            <a:avLst/>
          </a:prstGeom>
          <a:noFill/>
          <a:ln/>
        </p:spPr>
        <p:txBody>
          <a:bodyPr wrap="square" lIns="0" tIns="0" rIns="0" bIns="0" rtlCol="0" anchor="ctr"/>
          <a:lstStyle/>
          <a:p>
            <a:pPr indent="0" marL="0">
              <a:buNone/>
            </a:pPr>
            <a:r>
              <a:rPr lang="en-US" sz="1500" dirty="0">
                <a:solidFill>
                  <a:schemeClr val="tx1"/>
                </a:solidFill>
              </a:rPr>
              <a:t>Four business rules not yet decided (multi-bin, backdating, emergency work, corrections)</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WHAT'S MISSING</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Release gates, owners and evidence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920240"/>
                <a:gridCol w="4297680"/>
                <a:gridCol w="1828800"/>
                <a:gridCol w="3017520"/>
              </a:tblGrid>
              <a:tr h="457200">
                <a:tc>
                  <a:txBody>
                    <a:bodyPr/>
                    <a:lstStyle/>
                    <a:p>
                      <a:pPr indent="0" marL="0">
                        <a:buNone/>
                      </a:pPr>
                      <a:r>
                        <a:rPr lang="en-US" sz="1200" b="1" dirty="0">
                          <a:solidFill>
                            <a:srgbClr val="FFFFFF"/>
                          </a:solidFill>
                        </a:rPr>
                        <a:t>Gate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Still missing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Owner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Evidence of done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457200">
                <a:tc>
                  <a:txBody>
                    <a:bodyPr/>
                    <a:lstStyle/>
                    <a:p>
                      <a:pPr indent="0" marL="0">
                        <a:buNone/>
                      </a:pPr>
                      <a:r>
                        <a:rPr lang="en-US" sz="1200" b="1" dirty="0">
                          <a:solidFill>
                            <a:srgbClr val="0F2A3A"/>
                          </a:solidFill>
                        </a:rPr>
                        <a:t>Operational data</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Real stock counts, bins, prices, suppliers, intervals, asset tags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Maintenance lead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Signed inventory and equipment review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AOI identification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TM robot model, unknown makers, nameplate check</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Maintenance lead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Verified component list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Hosting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Production web server, HTTPS, upgrade and rollback plan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engineering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Reviewed staging deployment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Runtime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Python 3.10 out of support since 1 Oct 2026; Flutter SDK review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Engineering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Approved versions, tests re-run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Identity and security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SSO/MFA decision, service account, file permissions, secrets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security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Independent security assessment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Backups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Scheduled, encrypted, off-host; recovery targets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IT / 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Restore drill on a separate host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Auto-start, monitoring, logs, patching, support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Runbook and restart tests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User acceptance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All roles in Chrome, CSV in Excel, accessibility, load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Maintenance + eng.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Signed acceptance, no critical defects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Email (optional)</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Mail server, recipients, send authorization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business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Monitored test sends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DECISIONS NEEDED</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Four business rules to agree before building</a:t>
            </a:r>
            <a:endParaRPr lang="en-US" sz="3200" dirty="0"/>
          </a:p>
        </p:txBody>
      </p:sp>
      <p:sp>
        <p:nvSpPr>
          <p:cNvPr id="4" name="Shape 2"/>
          <p:cNvSpPr/>
          <p:nvPr/>
        </p:nvSpPr>
        <p:spPr>
          <a:xfrm>
            <a:off x="548640" y="160020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868680" y="187452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Multi-bin stock</a:t>
            </a:r>
            <a:endParaRPr lang="en-US" sz="2000" dirty="0"/>
          </a:p>
        </p:txBody>
      </p:sp>
      <p:sp>
        <p:nvSpPr>
          <p:cNvPr id="6" name="Text 4"/>
          <p:cNvSpPr txBox="1"/>
          <p:nvPr/>
        </p:nvSpPr>
        <p:spPr>
          <a:xfrm>
            <a:off x="868680" y="242316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If one part sits in several bins, which bin is reserved and used, and how are transfers recorded?</a:t>
            </a:r>
            <a:endParaRPr lang="en-US" sz="1500" dirty="0"/>
          </a:p>
        </p:txBody>
      </p:sp>
      <p:sp>
        <p:nvSpPr>
          <p:cNvPr id="7" name="Shape 5"/>
          <p:cNvSpPr/>
          <p:nvPr/>
        </p:nvSpPr>
        <p:spPr>
          <a:xfrm>
            <a:off x="6172200" y="160020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8" name="Text 6"/>
          <p:cNvSpPr txBox="1"/>
          <p:nvPr/>
        </p:nvSpPr>
        <p:spPr>
          <a:xfrm>
            <a:off x="6492240" y="187452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Backdated work</a:t>
            </a:r>
            <a:endParaRPr lang="en-US" sz="2000" dirty="0"/>
          </a:p>
        </p:txBody>
      </p:sp>
      <p:sp>
        <p:nvSpPr>
          <p:cNvPr id="9" name="Text 7"/>
          <p:cNvSpPr txBox="1"/>
          <p:nvPr/>
        </p:nvSpPr>
        <p:spPr>
          <a:xfrm>
            <a:off x="6492240" y="242316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Can completion be recorded for an earlier date? How far back, in which time zone, and who approves?</a:t>
            </a:r>
            <a:endParaRPr lang="en-US" sz="1500" dirty="0"/>
          </a:p>
        </p:txBody>
      </p:sp>
      <p:sp>
        <p:nvSpPr>
          <p:cNvPr id="10" name="Shape 8"/>
          <p:cNvSpPr/>
          <p:nvPr/>
        </p:nvSpPr>
        <p:spPr>
          <a:xfrm>
            <a:off x="548640" y="384048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1" name="Text 9"/>
          <p:cNvSpPr txBox="1"/>
          <p:nvPr/>
        </p:nvSpPr>
        <p:spPr>
          <a:xfrm>
            <a:off x="868680" y="41148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Emergency work</a:t>
            </a:r>
            <a:endParaRPr lang="en-US" sz="2000" dirty="0"/>
          </a:p>
        </p:txBody>
      </p:sp>
      <p:sp>
        <p:nvSpPr>
          <p:cNvPr id="12" name="Text 10"/>
          <p:cNvSpPr txBox="1"/>
          <p:nvPr/>
        </p:nvSpPr>
        <p:spPr>
          <a:xfrm>
            <a:off x="868680" y="466344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Who can override stock or approval checks in a breakdown, and what is the deadline for review afterwards?</a:t>
            </a:r>
            <a:endParaRPr lang="en-US" sz="1500" dirty="0"/>
          </a:p>
        </p:txBody>
      </p:sp>
      <p:sp>
        <p:nvSpPr>
          <p:cNvPr id="13" name="Shape 11"/>
          <p:cNvSpPr/>
          <p:nvPr/>
        </p:nvSpPr>
        <p:spPr>
          <a:xfrm>
            <a:off x="6172200" y="384048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4" name="Text 12"/>
          <p:cNvSpPr txBox="1"/>
          <p:nvPr/>
        </p:nvSpPr>
        <p:spPr>
          <a:xfrm>
            <a:off x="6492240" y="41148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Corrections</a:t>
            </a:r>
            <a:endParaRPr lang="en-US" sz="2000" dirty="0"/>
          </a:p>
        </p:txBody>
      </p:sp>
      <p:sp>
        <p:nvSpPr>
          <p:cNvPr id="15" name="Text 13"/>
          <p:cNvSpPr txBox="1"/>
          <p:nvPr/>
        </p:nvSpPr>
        <p:spPr>
          <a:xfrm>
            <a:off x="6492240" y="466344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How is a wrong record reversed, and what happens to stock, history and orders? Today nothing is ever deleted.</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PROPOSED ROLLOUT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 staged path from demo to adoption</a:t>
            </a:r>
            <a:endParaRPr lang="en-US" sz="3200" dirty="0"/>
          </a:p>
        </p:txBody>
      </p:sp>
      <p:sp>
        <p:nvSpPr>
          <p:cNvPr id="4" name="Shape 2"/>
          <p:cNvSpPr/>
          <p:nvPr/>
        </p:nvSpPr>
        <p:spPr>
          <a:xfrm>
            <a:off x="594360" y="1737360"/>
            <a:ext cx="640080" cy="640080"/>
          </a:xfrm>
          <a:prstGeom prst="ellipse">
            <a:avLst/>
          </a:prstGeom>
          <a:solidFill>
            <a:schemeClr val="accent1"/>
          </a:solidFill>
          <a:ln w="25400">
            <a:solidFill>
              <a:srgbClr val="00695C"/>
            </a:solidFill>
            <a:prstDash val="solid"/>
          </a:ln>
        </p:spPr>
      </p:sp>
      <p:sp>
        <p:nvSpPr>
          <p:cNvPr id="5" name="Text 3"/>
          <p:cNvSpPr txBox="1"/>
          <p:nvPr/>
        </p:nvSpPr>
        <p:spPr>
          <a:xfrm>
            <a:off x="594360" y="17373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4"/>
          <p:cNvSpPr/>
          <p:nvPr/>
        </p:nvSpPr>
        <p:spPr>
          <a:xfrm>
            <a:off x="1325880" y="2057400"/>
            <a:ext cx="1947672" cy="0"/>
          </a:xfrm>
          <a:prstGeom prst="line">
            <a:avLst/>
          </a:prstGeom>
          <a:noFill/>
          <a:ln w="25400">
            <a:solidFill>
              <a:srgbClr val="4DB6AC"/>
            </a:solidFill>
            <a:prstDash val="dash"/>
          </a:ln>
        </p:spPr>
      </p:sp>
      <p:sp>
        <p:nvSpPr>
          <p:cNvPr id="7" name="Shape 5"/>
          <p:cNvSpPr/>
          <p:nvPr/>
        </p:nvSpPr>
        <p:spPr>
          <a:xfrm>
            <a:off x="548640"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8" name="Text 6"/>
          <p:cNvSpPr txBox="1"/>
          <p:nvPr/>
        </p:nvSpPr>
        <p:spPr>
          <a:xfrm>
            <a:off x="777240"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NOW</a:t>
            </a:r>
            <a:endParaRPr lang="en-US" sz="1200" dirty="0"/>
          </a:p>
        </p:txBody>
      </p:sp>
      <p:sp>
        <p:nvSpPr>
          <p:cNvPr id="9" name="Text 7"/>
          <p:cNvSpPr txBox="1"/>
          <p:nvPr/>
        </p:nvSpPr>
        <p:spPr>
          <a:xfrm>
            <a:off x="777240"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Manager review</a:t>
            </a:r>
            <a:endParaRPr lang="en-US" sz="2000" dirty="0"/>
          </a:p>
        </p:txBody>
      </p:sp>
      <p:sp>
        <p:nvSpPr>
          <p:cNvPr id="10" name="Text 8"/>
          <p:cNvSpPr txBox="1"/>
          <p:nvPr/>
        </p:nvSpPr>
        <p:spPr>
          <a:xfrm>
            <a:off x="777240"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Walkthrough on the demo copy; agree owners and success measures</a:t>
            </a:r>
            <a:endParaRPr lang="en-US" sz="1400" dirty="0"/>
          </a:p>
        </p:txBody>
      </p:sp>
      <p:sp>
        <p:nvSpPr>
          <p:cNvPr id="11" name="Shape 9"/>
          <p:cNvSpPr/>
          <p:nvPr/>
        </p:nvSpPr>
        <p:spPr>
          <a:xfrm>
            <a:off x="3410712" y="1737360"/>
            <a:ext cx="640080" cy="640080"/>
          </a:xfrm>
          <a:prstGeom prst="ellipse">
            <a:avLst/>
          </a:prstGeom>
          <a:solidFill>
            <a:schemeClr val="bg1"/>
          </a:solidFill>
          <a:ln w="25400">
            <a:solidFill>
              <a:srgbClr val="00695C"/>
            </a:solidFill>
            <a:prstDash val="solid"/>
          </a:ln>
        </p:spPr>
      </p:sp>
      <p:sp>
        <p:nvSpPr>
          <p:cNvPr id="12" name="Text 10"/>
          <p:cNvSpPr txBox="1"/>
          <p:nvPr/>
        </p:nvSpPr>
        <p:spPr>
          <a:xfrm>
            <a:off x="3410712"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2</a:t>
            </a:r>
            <a:endParaRPr lang="en-US" sz="2000" dirty="0"/>
          </a:p>
        </p:txBody>
      </p:sp>
      <p:sp>
        <p:nvSpPr>
          <p:cNvPr id="13" name="Shape 11"/>
          <p:cNvSpPr/>
          <p:nvPr/>
        </p:nvSpPr>
        <p:spPr>
          <a:xfrm>
            <a:off x="4142232" y="2057400"/>
            <a:ext cx="1947672" cy="0"/>
          </a:xfrm>
          <a:prstGeom prst="line">
            <a:avLst/>
          </a:prstGeom>
          <a:noFill/>
          <a:ln w="25400">
            <a:solidFill>
              <a:srgbClr val="4DB6AC"/>
            </a:solidFill>
            <a:prstDash val="dash"/>
          </a:ln>
        </p:spPr>
      </p:sp>
      <p:sp>
        <p:nvSpPr>
          <p:cNvPr id="14" name="Shape 12"/>
          <p:cNvSpPr/>
          <p:nvPr/>
        </p:nvSpPr>
        <p:spPr>
          <a:xfrm>
            <a:off x="3364992"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Text 13"/>
          <p:cNvSpPr txBox="1"/>
          <p:nvPr/>
        </p:nvSpPr>
        <p:spPr>
          <a:xfrm>
            <a:off x="3593592"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NEXT</a:t>
            </a:r>
            <a:endParaRPr lang="en-US" sz="1200" dirty="0"/>
          </a:p>
        </p:txBody>
      </p:sp>
      <p:sp>
        <p:nvSpPr>
          <p:cNvPr id="16" name="Text 14"/>
          <p:cNvSpPr txBox="1"/>
          <p:nvPr/>
        </p:nvSpPr>
        <p:spPr>
          <a:xfrm>
            <a:off x="3593592"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One-line pilot</a:t>
            </a:r>
            <a:endParaRPr lang="en-US" sz="2000" dirty="0"/>
          </a:p>
        </p:txBody>
      </p:sp>
      <p:sp>
        <p:nvSpPr>
          <p:cNvPr id="17" name="Text 15"/>
          <p:cNvSpPr txBox="1"/>
          <p:nvPr/>
        </p:nvSpPr>
        <p:spPr>
          <a:xfrm>
            <a:off x="3593592"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Count real stock for one line; replace demo values; train users</a:t>
            </a:r>
            <a:endParaRPr lang="en-US" sz="1400" dirty="0"/>
          </a:p>
        </p:txBody>
      </p:sp>
      <p:sp>
        <p:nvSpPr>
          <p:cNvPr id="18" name="Shape 16"/>
          <p:cNvSpPr/>
          <p:nvPr/>
        </p:nvSpPr>
        <p:spPr>
          <a:xfrm>
            <a:off x="6227064" y="1737360"/>
            <a:ext cx="640080" cy="640080"/>
          </a:xfrm>
          <a:prstGeom prst="ellipse">
            <a:avLst/>
          </a:prstGeom>
          <a:solidFill>
            <a:schemeClr val="bg1"/>
          </a:solidFill>
          <a:ln w="25400">
            <a:solidFill>
              <a:srgbClr val="00695C"/>
            </a:solidFill>
            <a:prstDash val="solid"/>
          </a:ln>
        </p:spPr>
      </p:sp>
      <p:sp>
        <p:nvSpPr>
          <p:cNvPr id="19" name="Text 17"/>
          <p:cNvSpPr txBox="1"/>
          <p:nvPr/>
        </p:nvSpPr>
        <p:spPr>
          <a:xfrm>
            <a:off x="6227064"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3</a:t>
            </a:r>
            <a:endParaRPr lang="en-US" sz="2000" dirty="0"/>
          </a:p>
        </p:txBody>
      </p:sp>
      <p:sp>
        <p:nvSpPr>
          <p:cNvPr id="20" name="Shape 18"/>
          <p:cNvSpPr/>
          <p:nvPr/>
        </p:nvSpPr>
        <p:spPr>
          <a:xfrm>
            <a:off x="6958584" y="2057400"/>
            <a:ext cx="1947672" cy="0"/>
          </a:xfrm>
          <a:prstGeom prst="line">
            <a:avLst/>
          </a:prstGeom>
          <a:noFill/>
          <a:ln w="25400">
            <a:solidFill>
              <a:srgbClr val="4DB6AC"/>
            </a:solidFill>
            <a:prstDash val="dash"/>
          </a:ln>
        </p:spPr>
      </p:sp>
      <p:sp>
        <p:nvSpPr>
          <p:cNvPr id="21" name="Shape 19"/>
          <p:cNvSpPr/>
          <p:nvPr/>
        </p:nvSpPr>
        <p:spPr>
          <a:xfrm>
            <a:off x="6181344"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2" name="Text 20"/>
          <p:cNvSpPr txBox="1"/>
          <p:nvPr/>
        </p:nvSpPr>
        <p:spPr>
          <a:xfrm>
            <a:off x="6409944"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THEN</a:t>
            </a:r>
            <a:endParaRPr lang="en-US" sz="1200" dirty="0"/>
          </a:p>
        </p:txBody>
      </p:sp>
      <p:sp>
        <p:nvSpPr>
          <p:cNvPr id="23" name="Text 21"/>
          <p:cNvSpPr txBox="1"/>
          <p:nvPr/>
        </p:nvSpPr>
        <p:spPr>
          <a:xfrm>
            <a:off x="6409944"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Harden</a:t>
            </a:r>
            <a:endParaRPr lang="en-US" sz="2000" dirty="0"/>
          </a:p>
        </p:txBody>
      </p:sp>
      <p:sp>
        <p:nvSpPr>
          <p:cNvPr id="24" name="Text 22"/>
          <p:cNvSpPr txBox="1"/>
          <p:nvPr/>
        </p:nvSpPr>
        <p:spPr>
          <a:xfrm>
            <a:off x="6409944"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Supported runtime, hosting design, security review, backup policy</a:t>
            </a:r>
            <a:endParaRPr lang="en-US" sz="1400" dirty="0"/>
          </a:p>
        </p:txBody>
      </p:sp>
      <p:sp>
        <p:nvSpPr>
          <p:cNvPr id="25" name="Shape 23"/>
          <p:cNvSpPr/>
          <p:nvPr/>
        </p:nvSpPr>
        <p:spPr>
          <a:xfrm>
            <a:off x="9043416" y="1737360"/>
            <a:ext cx="640080" cy="640080"/>
          </a:xfrm>
          <a:prstGeom prst="ellipse">
            <a:avLst/>
          </a:prstGeom>
          <a:solidFill>
            <a:schemeClr val="bg1"/>
          </a:solidFill>
          <a:ln w="25400">
            <a:solidFill>
              <a:srgbClr val="00695C"/>
            </a:solidFill>
            <a:prstDash val="solid"/>
          </a:ln>
        </p:spPr>
      </p:sp>
      <p:sp>
        <p:nvSpPr>
          <p:cNvPr id="26" name="Text 24"/>
          <p:cNvSpPr txBox="1"/>
          <p:nvPr/>
        </p:nvSpPr>
        <p:spPr>
          <a:xfrm>
            <a:off x="9043416"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4</a:t>
            </a:r>
            <a:endParaRPr lang="en-US" sz="2000" dirty="0"/>
          </a:p>
        </p:txBody>
      </p:sp>
      <p:sp>
        <p:nvSpPr>
          <p:cNvPr id="27" name="Shape 25"/>
          <p:cNvSpPr/>
          <p:nvPr/>
        </p:nvSpPr>
        <p:spPr>
          <a:xfrm>
            <a:off x="8997696"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8" name="Text 26"/>
          <p:cNvSpPr txBox="1"/>
          <p:nvPr/>
        </p:nvSpPr>
        <p:spPr>
          <a:xfrm>
            <a:off x="9226296"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RELEASE</a:t>
            </a:r>
            <a:endParaRPr lang="en-US" sz="1200" dirty="0"/>
          </a:p>
        </p:txBody>
      </p:sp>
      <p:sp>
        <p:nvSpPr>
          <p:cNvPr id="29" name="Text 27"/>
          <p:cNvSpPr txBox="1"/>
          <p:nvPr/>
        </p:nvSpPr>
        <p:spPr>
          <a:xfrm>
            <a:off x="9226296"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Go live</a:t>
            </a:r>
            <a:endParaRPr lang="en-US" sz="2000" dirty="0"/>
          </a:p>
        </p:txBody>
      </p:sp>
      <p:sp>
        <p:nvSpPr>
          <p:cNvPr id="30" name="Text 28"/>
          <p:cNvSpPr txBox="1"/>
          <p:nvPr/>
        </p:nvSpPr>
        <p:spPr>
          <a:xfrm>
            <a:off x="9226296"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User acceptance sign-off, monitored service, support owner</a:t>
            </a:r>
            <a:endParaRPr lang="en-US" sz="1400" dirty="0"/>
          </a:p>
        </p:txBody>
      </p:sp>
      <p:sp>
        <p:nvSpPr>
          <p:cNvPr id="31" name="Text 2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chemeClr val="accent5"/>
                </a:solidFill>
              </a:rPr>
              <a:t>Move to the next stage when the current one meets its agreed acceptance criteria. No calendar dates are promised here.</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BUDGET · 5-YEAR VIEW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MachineCare costs less than a third of the outside system</a:t>
            </a:r>
            <a:endParaRPr lang="en-US" sz="3200" dirty="0"/>
          </a:p>
        </p:txBody>
      </p:sp>
      <p:graphicFrame>
        <p:nvGraphicFramePr>
          <p:cNvPr id="4" name="Chart 0" descr=""/>
          <p:cNvGraphicFramePr/>
          <p:nvPr/>
        </p:nvGraphicFramePr>
        <p:xfrm>
          <a:off x="548640" y="1508760"/>
          <a:ext cx="6858000" cy="45262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508760"/>
            <a:ext cx="3840480" cy="1371600"/>
          </a:xfrm>
          <a:prstGeom prst="roundRect">
            <a:avLst>
              <a:gd name="adj" fmla="val 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6" name="Text 3"/>
          <p:cNvSpPr txBox="1"/>
          <p:nvPr/>
        </p:nvSpPr>
        <p:spPr>
          <a:xfrm>
            <a:off x="8001000" y="1618488"/>
            <a:ext cx="3474720" cy="274320"/>
          </a:xfrm>
          <a:prstGeom prst="rect">
            <a:avLst/>
          </a:prstGeom>
          <a:noFill/>
          <a:ln/>
        </p:spPr>
        <p:txBody>
          <a:bodyPr wrap="square" lIns="0" tIns="0" rIns="0" bIns="0" rtlCol="0" anchor="ctr"/>
          <a:lstStyle/>
          <a:p>
            <a:pPr indent="0" marL="0">
              <a:buNone/>
            </a:pPr>
            <a:r>
              <a:rPr lang="en-US" sz="1300" b="1" dirty="0">
                <a:solidFill>
                  <a:schemeClr val="accent5"/>
                </a:solidFill>
              </a:rPr>
              <a:t>Outside vendor · 5 years</a:t>
            </a:r>
            <a:endParaRPr lang="en-US" sz="1300" dirty="0"/>
          </a:p>
        </p:txBody>
      </p:sp>
      <p:sp>
        <p:nvSpPr>
          <p:cNvPr id="7" name="Text 4"/>
          <p:cNvSpPr txBox="1"/>
          <p:nvPr/>
        </p:nvSpPr>
        <p:spPr>
          <a:xfrm>
            <a:off x="8001000" y="1892808"/>
            <a:ext cx="3474720" cy="502920"/>
          </a:xfrm>
          <a:prstGeom prst="rect">
            <a:avLst/>
          </a:prstGeom>
          <a:noFill/>
          <a:ln/>
        </p:spPr>
        <p:txBody>
          <a:bodyPr wrap="square" lIns="0" tIns="0" rIns="0" bIns="0" rtlCol="0" anchor="ctr"/>
          <a:lstStyle/>
          <a:p>
            <a:pPr indent="0" marL="0">
              <a:buNone/>
            </a:pPr>
            <a:r>
              <a:rPr lang="en-US" sz="2800" b="1" dirty="0">
                <a:solidFill>
                  <a:schemeClr val="accent4"/>
                </a:solidFill>
              </a:rPr>
              <a:t>$214,160</a:t>
            </a:r>
            <a:endParaRPr lang="en-US" sz="2800" dirty="0"/>
          </a:p>
        </p:txBody>
      </p:sp>
      <p:sp>
        <p:nvSpPr>
          <p:cNvPr id="8" name="Text 5"/>
          <p:cNvSpPr txBox="1"/>
          <p:nvPr/>
        </p:nvSpPr>
        <p:spPr>
          <a:xfrm>
            <a:off x="8001000" y="2395728"/>
            <a:ext cx="3474720" cy="411480"/>
          </a:xfrm>
          <a:prstGeom prst="rect">
            <a:avLst/>
          </a:prstGeom>
          <a:noFill/>
          <a:ln/>
        </p:spPr>
        <p:txBody>
          <a:bodyPr wrap="square" lIns="0" tIns="0" rIns="0" bIns="0" rtlCol="0" anchor="ctr"/>
          <a:lstStyle/>
          <a:p>
            <a:pPr indent="0" marL="0">
              <a:buNone/>
            </a:pPr>
            <a:r>
              <a:rPr lang="en-US" sz="1100" dirty="0">
                <a:solidFill>
                  <a:schemeClr val="accent5"/>
                </a:solidFill>
              </a:rPr>
              <a:t>Year 1 $55,760, then $39,600 a year</a:t>
            </a:r>
            <a:endParaRPr lang="en-US" sz="1100" dirty="0"/>
          </a:p>
        </p:txBody>
      </p:sp>
      <p:sp>
        <p:nvSpPr>
          <p:cNvPr id="9" name="Shape 6"/>
          <p:cNvSpPr/>
          <p:nvPr/>
        </p:nvSpPr>
        <p:spPr>
          <a:xfrm>
            <a:off x="7772400" y="3044952"/>
            <a:ext cx="3840480" cy="1371600"/>
          </a:xfrm>
          <a:prstGeom prst="roundRect">
            <a:avLst>
              <a:gd name="adj" fmla="val 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Text 7"/>
          <p:cNvSpPr txBox="1"/>
          <p:nvPr/>
        </p:nvSpPr>
        <p:spPr>
          <a:xfrm>
            <a:off x="8001000" y="3154680"/>
            <a:ext cx="3474720" cy="274320"/>
          </a:xfrm>
          <a:prstGeom prst="rect">
            <a:avLst/>
          </a:prstGeom>
          <a:noFill/>
          <a:ln/>
        </p:spPr>
        <p:txBody>
          <a:bodyPr wrap="square" lIns="0" tIns="0" rIns="0" bIns="0" rtlCol="0" anchor="ctr"/>
          <a:lstStyle/>
          <a:p>
            <a:pPr indent="0" marL="0">
              <a:buNone/>
            </a:pPr>
            <a:r>
              <a:rPr lang="en-US" sz="1300" b="1" dirty="0">
                <a:solidFill>
                  <a:schemeClr val="accent5"/>
                </a:solidFill>
              </a:rPr>
              <a:t>MachineCare · 5 years</a:t>
            </a:r>
            <a:endParaRPr lang="en-US" sz="1300" dirty="0"/>
          </a:p>
        </p:txBody>
      </p:sp>
      <p:sp>
        <p:nvSpPr>
          <p:cNvPr id="11" name="Text 8"/>
          <p:cNvSpPr txBox="1"/>
          <p:nvPr/>
        </p:nvSpPr>
        <p:spPr>
          <a:xfrm>
            <a:off x="8001000" y="3429000"/>
            <a:ext cx="3474720" cy="502920"/>
          </a:xfrm>
          <a:prstGeom prst="rect">
            <a:avLst/>
          </a:prstGeom>
          <a:noFill/>
          <a:ln/>
        </p:spPr>
        <p:txBody>
          <a:bodyPr wrap="square" lIns="0" tIns="0" rIns="0" bIns="0" rtlCol="0" anchor="ctr"/>
          <a:lstStyle/>
          <a:p>
            <a:pPr indent="0" marL="0">
              <a:buNone/>
            </a:pPr>
            <a:r>
              <a:rPr lang="en-US" sz="2800" b="1" dirty="0">
                <a:solidFill>
                  <a:schemeClr val="accent1"/>
                </a:solidFill>
              </a:rPr>
              <a:t>$61,760</a:t>
            </a:r>
            <a:endParaRPr lang="en-US" sz="2800" dirty="0"/>
          </a:p>
        </p:txBody>
      </p:sp>
      <p:sp>
        <p:nvSpPr>
          <p:cNvPr id="12" name="Text 9"/>
          <p:cNvSpPr txBox="1"/>
          <p:nvPr/>
        </p:nvSpPr>
        <p:spPr>
          <a:xfrm>
            <a:off x="8001000" y="3931920"/>
            <a:ext cx="3474720" cy="411480"/>
          </a:xfrm>
          <a:prstGeom prst="rect">
            <a:avLst/>
          </a:prstGeom>
          <a:noFill/>
          <a:ln/>
        </p:spPr>
        <p:txBody>
          <a:bodyPr wrap="square" lIns="0" tIns="0" rIns="0" bIns="0" rtlCol="0" anchor="ctr"/>
          <a:lstStyle/>
          <a:p>
            <a:pPr indent="0" marL="0">
              <a:buNone/>
            </a:pPr>
            <a:r>
              <a:rPr lang="en-US" sz="1100" dirty="0">
                <a:solidFill>
                  <a:schemeClr val="accent5"/>
                </a:solidFill>
              </a:rPr>
              <a:t>Year 1 $22,400, then $9,840 a year</a:t>
            </a:r>
            <a:endParaRPr lang="en-US" sz="1100" dirty="0"/>
          </a:p>
        </p:txBody>
      </p:sp>
      <p:sp>
        <p:nvSpPr>
          <p:cNvPr id="13" name="Shape 10"/>
          <p:cNvSpPr/>
          <p:nvPr/>
        </p:nvSpPr>
        <p:spPr>
          <a:xfrm>
            <a:off x="7772400" y="4581144"/>
            <a:ext cx="3840480" cy="1371600"/>
          </a:xfrm>
          <a:prstGeom prst="roundRect">
            <a:avLst>
              <a:gd name="adj" fmla="val 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4" name="Text 11"/>
          <p:cNvSpPr txBox="1"/>
          <p:nvPr/>
        </p:nvSpPr>
        <p:spPr>
          <a:xfrm>
            <a:off x="8001000" y="4690872"/>
            <a:ext cx="3474720" cy="274320"/>
          </a:xfrm>
          <a:prstGeom prst="rect">
            <a:avLst/>
          </a:prstGeom>
          <a:noFill/>
          <a:ln/>
        </p:spPr>
        <p:txBody>
          <a:bodyPr wrap="square" lIns="0" tIns="0" rIns="0" bIns="0" rtlCol="0" anchor="ctr"/>
          <a:lstStyle/>
          <a:p>
            <a:pPr indent="0" marL="0">
              <a:buNone/>
            </a:pPr>
            <a:r>
              <a:rPr lang="en-US" sz="1300" b="1" dirty="0">
                <a:solidFill>
                  <a:schemeClr val="accent5"/>
                </a:solidFill>
              </a:rPr>
              <a:t>Saving over 5 years</a:t>
            </a:r>
            <a:endParaRPr lang="en-US" sz="1300" dirty="0"/>
          </a:p>
        </p:txBody>
      </p:sp>
      <p:sp>
        <p:nvSpPr>
          <p:cNvPr id="15" name="Text 12"/>
          <p:cNvSpPr txBox="1"/>
          <p:nvPr/>
        </p:nvSpPr>
        <p:spPr>
          <a:xfrm>
            <a:off x="8001000" y="4965192"/>
            <a:ext cx="3474720" cy="502920"/>
          </a:xfrm>
          <a:prstGeom prst="rect">
            <a:avLst/>
          </a:prstGeom>
          <a:noFill/>
          <a:ln/>
        </p:spPr>
        <p:txBody>
          <a:bodyPr wrap="square" lIns="0" tIns="0" rIns="0" bIns="0" rtlCol="0" anchor="ctr"/>
          <a:lstStyle/>
          <a:p>
            <a:pPr indent="0" marL="0">
              <a:buNone/>
            </a:pPr>
            <a:r>
              <a:rPr lang="en-US" sz="2800" b="1" dirty="0">
                <a:solidFill>
                  <a:schemeClr val="tx2"/>
                </a:solidFill>
              </a:rPr>
              <a:t>$152,400</a:t>
            </a:r>
            <a:endParaRPr lang="en-US" sz="2800" dirty="0"/>
          </a:p>
        </p:txBody>
      </p:sp>
      <p:sp>
        <p:nvSpPr>
          <p:cNvPr id="16" name="Text 13"/>
          <p:cNvSpPr txBox="1"/>
          <p:nvPr/>
        </p:nvSpPr>
        <p:spPr>
          <a:xfrm>
            <a:off x="8001000" y="5468112"/>
            <a:ext cx="3474720" cy="411480"/>
          </a:xfrm>
          <a:prstGeom prst="rect">
            <a:avLst/>
          </a:prstGeom>
          <a:noFill/>
          <a:ln/>
        </p:spPr>
        <p:txBody>
          <a:bodyPr wrap="square" lIns="0" tIns="0" rIns="0" bIns="0" rtlCol="0" anchor="ctr"/>
          <a:lstStyle/>
          <a:p>
            <a:pPr indent="0" marL="0">
              <a:buNone/>
            </a:pPr>
            <a:r>
              <a:rPr lang="en-US" sz="1100" dirty="0">
                <a:solidFill>
                  <a:schemeClr val="accent5"/>
                </a:solidFill>
              </a:rPr>
              <a:t>Running cost ≈ $13 vs $53 per user per month</a:t>
            </a:r>
            <a:endParaRPr lang="en-US" sz="1100" dirty="0"/>
          </a:p>
        </p:txBody>
      </p:sp>
      <p:sp>
        <p:nvSpPr>
          <p:cNvPr id="17" name="Text 14"/>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chemeClr val="accent5"/>
                </a:solidFill>
              </a:rPr>
              <a:t>Vendor: the quote received. Internal work on both sides at $40/h, including our in-house security team. Full model: docs/budget/MachineCare_Cost_Comparison.xlsx.</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BUDGET · SIDE BY SIDE</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Side-by-side budget: where every dollar goes</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108960"/>
                <a:gridCol w="1325880"/>
                <a:gridCol w="1325880"/>
                <a:gridCol w="1325880"/>
                <a:gridCol w="1325880"/>
                <a:gridCol w="1325880"/>
                <a:gridCol w="1325880"/>
              </a:tblGrid>
              <a:tr h="566928">
                <a:tc>
                  <a:txBody>
                    <a:bodyPr/>
                    <a:lstStyle/>
                    <a:p>
                      <a:pPr algn="l" indent="0" marL="0">
                        <a:buNone/>
                      </a:pPr>
                      <a:r>
                        <a:rPr lang="en-US" sz="1300" b="1" dirty="0">
                          <a:solidFill>
                            <a:srgbClr val="FFFFFF"/>
                          </a:solidFill>
                        </a:rPr>
                        <a:t>Category</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r" indent="0" marL="0">
                        <a:buNone/>
                      </a:pPr>
                      <a:r>
                        <a:rPr lang="en-US" sz="1300" b="1" dirty="0">
                          <a:solidFill>
                            <a:srgbClr val="FFFFFF"/>
                          </a:solidFill>
                        </a:rPr>
                        <a:t>Vendor</a:t>
                      </a:r>
                      <a:endParaRPr lang="en-US" sz="1300" dirty="0"/>
                    </a:p>
                    <a:p>
                      <a:pPr algn="r" indent="0" marL="0">
                        <a:buNone/>
                      </a:pPr>
                      <a:r>
                        <a:rPr lang="en-US" sz="1300" b="1" dirty="0">
                          <a:solidFill>
                            <a:srgbClr val="FFFFFF"/>
                          </a:solidFill>
                        </a:rPr>
                        <a:t>Year 1</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8A2E0A"/>
                    </a:solidFill>
                  </a:tcPr>
                </a:tc>
                <a:tc>
                  <a:txBody>
                    <a:bodyPr/>
                    <a:lstStyle/>
                    <a:p>
                      <a:pPr algn="r" indent="0" marL="0">
                        <a:buNone/>
                      </a:pPr>
                      <a:r>
                        <a:rPr lang="en-US" sz="1300" b="1" dirty="0">
                          <a:solidFill>
                            <a:srgbClr val="FFFFFF"/>
                          </a:solidFill>
                        </a:rPr>
                        <a:t>Vendor</a:t>
                      </a:r>
                      <a:endParaRPr lang="en-US" sz="1300" dirty="0"/>
                    </a:p>
                    <a:p>
                      <a:pPr algn="r" indent="0" marL="0">
                        <a:buNone/>
                      </a:pPr>
                      <a:r>
                        <a:rPr lang="en-US" sz="1300" b="1" dirty="0">
                          <a:solidFill>
                            <a:srgbClr val="FFFFFF"/>
                          </a:solidFill>
                        </a:rPr>
                        <a:t>Year 2+</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8A2E0A"/>
                    </a:solidFill>
                  </a:tcPr>
                </a:tc>
                <a:tc>
                  <a:txBody>
                    <a:bodyPr/>
                    <a:lstStyle/>
                    <a:p>
                      <a:pPr algn="r" indent="0" marL="0">
                        <a:buNone/>
                      </a:pPr>
                      <a:r>
                        <a:rPr lang="en-US" sz="1300" b="1" dirty="0">
                          <a:solidFill>
                            <a:srgbClr val="FFFFFF"/>
                          </a:solidFill>
                        </a:rPr>
                        <a:t>Vendor</a:t>
                      </a:r>
                      <a:endParaRPr lang="en-US" sz="1300" dirty="0"/>
                    </a:p>
                    <a:p>
                      <a:pPr algn="r" indent="0" marL="0">
                        <a:buNone/>
                      </a:pPr>
                      <a:r>
                        <a:rPr lang="en-US" sz="1300" b="1" dirty="0">
                          <a:solidFill>
                            <a:srgbClr val="FFFFFF"/>
                          </a:solidFill>
                        </a:rPr>
                        <a:t>5 years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8A2E0A"/>
                    </a:solidFill>
                  </a:tcPr>
                </a:tc>
                <a:tc>
                  <a:txBody>
                    <a:bodyPr/>
                    <a:lstStyle/>
                    <a:p>
                      <a:pPr algn="r" indent="0" marL="0">
                        <a:buNone/>
                      </a:pPr>
                      <a:r>
                        <a:rPr lang="en-US" sz="1300" b="1" dirty="0">
                          <a:solidFill>
                            <a:srgbClr val="FFFFFF"/>
                          </a:solidFill>
                        </a:rPr>
                        <a:t>MachineCare</a:t>
                      </a:r>
                      <a:endParaRPr lang="en-US" sz="1300" dirty="0"/>
                    </a:p>
                    <a:p>
                      <a:pPr algn="r" indent="0" marL="0">
                        <a:buNone/>
                      </a:pPr>
                      <a:r>
                        <a:rPr lang="en-US" sz="1300" b="1" dirty="0">
                          <a:solidFill>
                            <a:srgbClr val="FFFFFF"/>
                          </a:solidFill>
                        </a:rPr>
                        <a:t>Year 1</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B5A51"/>
                    </a:solidFill>
                  </a:tcPr>
                </a:tc>
                <a:tc>
                  <a:txBody>
                    <a:bodyPr/>
                    <a:lstStyle/>
                    <a:p>
                      <a:pPr algn="r" indent="0" marL="0">
                        <a:buNone/>
                      </a:pPr>
                      <a:r>
                        <a:rPr lang="en-US" sz="1300" b="1" dirty="0">
                          <a:solidFill>
                            <a:srgbClr val="FFFFFF"/>
                          </a:solidFill>
                        </a:rPr>
                        <a:t>MachineCare</a:t>
                      </a:r>
                      <a:endParaRPr lang="en-US" sz="1300" dirty="0"/>
                    </a:p>
                    <a:p>
                      <a:pPr algn="r" indent="0" marL="0">
                        <a:buNone/>
                      </a:pPr>
                      <a:r>
                        <a:rPr lang="en-US" sz="1300" b="1" dirty="0">
                          <a:solidFill>
                            <a:srgbClr val="FFFFFF"/>
                          </a:solidFill>
                        </a:rPr>
                        <a:t>Year 2+</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B5A51"/>
                    </a:solidFill>
                  </a:tcPr>
                </a:tc>
                <a:tc>
                  <a:txBody>
                    <a:bodyPr/>
                    <a:lstStyle/>
                    <a:p>
                      <a:pPr algn="r" indent="0" marL="0">
                        <a:buNone/>
                      </a:pPr>
                      <a:r>
                        <a:rPr lang="en-US" sz="1300" b="1" dirty="0">
                          <a:solidFill>
                            <a:srgbClr val="FFFFFF"/>
                          </a:solidFill>
                        </a:rPr>
                        <a:t>MachineCare</a:t>
                      </a:r>
                      <a:endParaRPr lang="en-US" sz="1300" dirty="0"/>
                    </a:p>
                    <a:p>
                      <a:pPr algn="r" indent="0" marL="0">
                        <a:buNone/>
                      </a:pPr>
                      <a:r>
                        <a:rPr lang="en-US" sz="1300" b="1" dirty="0">
                          <a:solidFill>
                            <a:srgbClr val="FFFFFF"/>
                          </a:solidFill>
                        </a:rPr>
                        <a:t>5 years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B5A51"/>
                    </a:solidFill>
                  </a:tcPr>
                </a:tc>
              </a:tr>
              <a:tr h="402336">
                <a:tc>
                  <a:txBody>
                    <a:bodyPr/>
                    <a:lstStyle/>
                    <a:p>
                      <a:pPr algn="l" indent="0" marL="0">
                        <a:buNone/>
                      </a:pPr>
                      <a:r>
                        <a:rPr lang="en-US" sz="1300" b="1" dirty="0">
                          <a:solidFill>
                            <a:srgbClr val="17232E"/>
                          </a:solidFill>
                        </a:rPr>
                        <a:t>Licences and fees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$47,200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$37,200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$196,000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7232E"/>
                          </a:solidFill>
                        </a:rPr>
                        <a:t>Setup and deployment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$6,400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$6,400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02336">
                <a:tc>
                  <a:txBody>
                    <a:bodyPr/>
                    <a:lstStyle/>
                    <a:p>
                      <a:pPr algn="l" indent="0" marL="0">
                        <a:buNone/>
                      </a:pPr>
                      <a:r>
                        <a:rPr lang="en-US" sz="1300" b="1" dirty="0">
                          <a:solidFill>
                            <a:srgbClr val="17232E"/>
                          </a:solidFill>
                        </a:rPr>
                        <a:t>Security (in-house team)</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$800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$320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$2,080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$800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$320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$2,080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7232E"/>
                          </a:solidFill>
                        </a:rPr>
                        <a:t>Data preparation</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$3,200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$3,200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$3,200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$3,200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02336">
                <a:tc>
                  <a:txBody>
                    <a:bodyPr/>
                    <a:lstStyle/>
                    <a:p>
                      <a:pPr algn="l" indent="0" marL="0">
                        <a:buNone/>
                      </a:pPr>
                      <a:r>
                        <a:rPr lang="en-US" sz="1300" b="1" dirty="0">
                          <a:solidFill>
                            <a:srgbClr val="17232E"/>
                          </a:solidFill>
                        </a:rPr>
                        <a:t>Training</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$2,480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$2,480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$2,480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$2,480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7232E"/>
                          </a:solidFill>
                        </a:rPr>
                        <a:t>Hosting and backups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C2410C"/>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$1,200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$1,200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00695C"/>
                          </a:solidFill>
                        </a:rPr>
                        <a:t>$6,000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02336">
                <a:tc>
                  <a:txBody>
                    <a:bodyPr/>
                    <a:lstStyle/>
                    <a:p>
                      <a:pPr algn="l" indent="0" marL="0">
                        <a:buNone/>
                      </a:pPr>
                      <a:r>
                        <a:rPr lang="en-US" sz="1300" b="1" dirty="0">
                          <a:solidFill>
                            <a:srgbClr val="17232E"/>
                          </a:solidFill>
                        </a:rPr>
                        <a:t>Running, support and administration</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$2,080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$2,080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C2410C"/>
                          </a:solidFill>
                        </a:rPr>
                        <a:t>$10,400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$8,320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$8,320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0695C"/>
                          </a:solidFill>
                        </a:rPr>
                        <a:t>$41,600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02336">
                <a:tc>
                  <a:txBody>
                    <a:bodyPr/>
                    <a:lstStyle/>
                    <a:p>
                      <a:pPr algn="l" indent="0" marL="0">
                        <a:buNone/>
                      </a:pPr>
                      <a:r>
                        <a:rPr lang="en-US" sz="1300" b="1" dirty="0">
                          <a:solidFill>
                            <a:srgbClr val="17232E"/>
                          </a:solidFill>
                        </a:rPr>
                        <a:t>Total</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C2410C"/>
                          </a:solidFill>
                        </a:rPr>
                        <a:t>$55,760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C2410C"/>
                          </a:solidFill>
                        </a:rPr>
                        <a:t>$39,600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C2410C"/>
                          </a:solidFill>
                        </a:rPr>
                        <a:t>$214,160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00695C"/>
                          </a:solidFill>
                        </a:rPr>
                        <a:t>$22,400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00695C"/>
                          </a:solidFill>
                        </a:rPr>
                        <a:t>$9,840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00695C"/>
                          </a:solidFill>
                        </a:rPr>
                        <a:t>$61,760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r>
            </a:tbl>
          </a:graphicData>
        </a:graphic>
      </p:graphicFrame>
      <p:sp>
        <p:nvSpPr>
          <p:cNvPr id="5" name="Text 2"/>
          <p:cNvSpPr txBox="1"/>
          <p:nvPr/>
        </p:nvSpPr>
        <p:spPr>
          <a:xfrm>
            <a:off x="548640" y="5577840"/>
            <a:ext cx="11064240" cy="502920"/>
          </a:xfrm>
          <a:prstGeom prst="rect">
            <a:avLst/>
          </a:prstGeom>
          <a:noFill/>
          <a:ln/>
        </p:spPr>
        <p:txBody>
          <a:bodyPr wrap="square" lIns="0" tIns="0" rIns="0" bIns="0" rtlCol="0" anchor="t"/>
          <a:lstStyle/>
          <a:p>
            <a:pPr indent="0" marL="0">
              <a:buNone/>
            </a:pPr>
            <a:r>
              <a:rPr lang="en-US" sz="1200" b="1" dirty="0">
                <a:solidFill>
                  <a:schemeClr val="tx2"/>
                </a:solidFill>
              </a:rPr>
              <a:t>Security is done by our own security team on both sides: </a:t>
            </a:r>
            <a:pPr indent="0" marL="0">
              <a:buNone/>
            </a:pPr>
            <a:r>
              <a:rPr lang="en-US" sz="1200" dirty="0">
                <a:solidFill>
                  <a:schemeClr val="accent5"/>
                </a:solidFill>
              </a:rPr>
              <a:t>20 h initial review + 8 h a year. Data preparation and training are needed with either option, so they cancel out. The real difference is licences vs our own setup, hosting and support time.</a:t>
            </a:r>
            <a:endParaRPr lang="en-US" sz="1200" dirty="0"/>
          </a:p>
        </p:txBody>
      </p:sp>
      <p:sp>
        <p:nvSpPr>
          <p:cNvPr id="6" name="Text 3"/>
          <p:cNvSpPr txBox="1"/>
          <p:nvPr/>
        </p:nvSpPr>
        <p:spPr>
          <a:xfrm>
            <a:off x="548640" y="6172200"/>
            <a:ext cx="11064240" cy="228600"/>
          </a:xfrm>
          <a:prstGeom prst="rect">
            <a:avLst/>
          </a:prstGeom>
          <a:noFill/>
          <a:ln/>
        </p:spPr>
        <p:txBody>
          <a:bodyPr wrap="square" lIns="0" tIns="0" rIns="0" bIns="0" rtlCol="0" anchor="ctr"/>
          <a:lstStyle/>
          <a:p>
            <a:pPr indent="0" marL="0">
              <a:buNone/>
            </a:pPr>
            <a:r>
              <a:rPr lang="en-US" sz="1000" i="1" dirty="0">
                <a:solidFill>
                  <a:schemeClr val="accent5"/>
                </a:solidFill>
              </a:rPr>
              <a:t>Every individual cost line, year by year: appendix C and the Comparison sheet of the budget workbook.</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BUDGET · ASSUMPTIONS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What the numbers are based on</a:t>
            </a:r>
            <a:endParaRPr lang="en-US" sz="3200" dirty="0"/>
          </a:p>
        </p:txBody>
      </p:sp>
      <p:sp>
        <p:nvSpPr>
          <p:cNvPr id="4" name="Shape 2"/>
          <p:cNvSpPr/>
          <p:nvPr/>
        </p:nvSpPr>
        <p:spPr>
          <a:xfrm>
            <a:off x="548640" y="1508760"/>
            <a:ext cx="5440680" cy="4526280"/>
          </a:xfrm>
          <a:prstGeom prst="roundRect">
            <a:avLst>
              <a:gd name="adj" fmla="val 2020"/>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822960" y="1691640"/>
            <a:ext cx="4937760" cy="365760"/>
          </a:xfrm>
          <a:prstGeom prst="rect">
            <a:avLst/>
          </a:prstGeom>
          <a:noFill/>
          <a:ln/>
        </p:spPr>
        <p:txBody>
          <a:bodyPr wrap="square" lIns="0" tIns="0" rIns="0" bIns="0" rtlCol="0" anchor="ctr"/>
          <a:lstStyle/>
          <a:p>
            <a:pPr indent="0" marL="0">
              <a:buNone/>
            </a:pPr>
            <a:r>
              <a:rPr lang="en-US" sz="1800" b="1" dirty="0">
                <a:solidFill>
                  <a:schemeClr val="accent1"/>
                </a:solidFill>
              </a:rPr>
              <a:t>From your spreadsheet</a:t>
            </a:r>
            <a:endParaRPr lang="en-US" sz="1800" dirty="0"/>
          </a:p>
        </p:txBody>
      </p:sp>
      <p:sp>
        <p:nvSpPr>
          <p:cNvPr id="6" name="Text 4"/>
          <p:cNvSpPr txBox="1"/>
          <p:nvPr/>
        </p:nvSpPr>
        <p:spPr>
          <a:xfrm>
            <a:off x="822960" y="2148840"/>
            <a:ext cx="4937760"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$50/user/month × 62 users, $10,000 installation</a:t>
            </a:r>
            <a:endParaRPr lang="en-US" sz="1300" dirty="0"/>
          </a:p>
          <a:p>
            <a:pPr marL="342900" indent="-342900">
              <a:spcAft>
                <a:spcPts val="600"/>
              </a:spcAft>
              <a:buSzPct val="100000"/>
              <a:buChar char="•"/>
            </a:pPr>
            <a:r>
              <a:rPr lang="en-US" sz="1300" dirty="0">
                <a:solidFill>
                  <a:schemeClr val="tx1"/>
                </a:solidFill>
              </a:rPr>
              <a:t>Internal labour: $40/hour</a:t>
            </a:r>
            <a:endParaRPr lang="en-US" sz="1300" dirty="0"/>
          </a:p>
          <a:p>
            <a:pPr marL="342900" indent="-342900">
              <a:spcAft>
                <a:spcPts val="600"/>
              </a:spcAft>
              <a:buSzPct val="100000"/>
              <a:buChar char="•"/>
            </a:pPr>
            <a:r>
              <a:rPr lang="en-US" sz="1300" dirty="0">
                <a:solidFill>
                  <a:schemeClr val="tx1"/>
                </a:solidFill>
              </a:rPr>
              <a:t>Security review by our in-house team: 20 h ($800)</a:t>
            </a:r>
            <a:endParaRPr lang="en-US" sz="1300" dirty="0"/>
          </a:p>
          <a:p>
            <a:pPr marL="342900" indent="-342900">
              <a:spcAft>
                <a:spcPts val="600"/>
              </a:spcAft>
              <a:buSzPct val="100000"/>
              <a:buChar char="•"/>
            </a:pPr>
            <a:r>
              <a:rPr lang="en-US" sz="1300" dirty="0">
                <a:solidFill>
                  <a:schemeClr val="tx1"/>
                </a:solidFill>
              </a:rPr>
              <a:t>MachineCare setup: 160 h (runtime 24, server &amp; HTTPS 40, company sign-in 40, monitoring &amp; backups 24, acceptance testing 32)</a:t>
            </a:r>
            <a:endParaRPr lang="en-US" sz="1300" dirty="0"/>
          </a:p>
          <a:p>
            <a:pPr marL="342900" indent="-342900">
              <a:spcAft>
                <a:spcPts val="600"/>
              </a:spcAft>
              <a:buSzPct val="100000"/>
              <a:buChar char="•"/>
            </a:pPr>
            <a:r>
              <a:rPr lang="en-US" sz="1300" dirty="0">
                <a:solidFill>
                  <a:schemeClr val="tx1"/>
                </a:solidFill>
              </a:rPr>
              <a:t>Data preparation 80 h; training 1 h per person</a:t>
            </a:r>
            <a:endParaRPr lang="en-US" sz="1300" dirty="0"/>
          </a:p>
          <a:p>
            <a:pPr marL="342900" indent="-342900">
              <a:spcAft>
                <a:spcPts val="600"/>
              </a:spcAft>
              <a:buSzPct val="100000"/>
              <a:buChar char="•"/>
            </a:pPr>
            <a:r>
              <a:rPr lang="en-US" sz="1300" dirty="0">
                <a:solidFill>
                  <a:schemeClr val="tx1"/>
                </a:solidFill>
              </a:rPr>
              <a:t>Hosting &amp; backup storage $1,200/yr; support 4 h/week</a:t>
            </a:r>
            <a:endParaRPr lang="en-US" sz="1300" dirty="0"/>
          </a:p>
        </p:txBody>
      </p:sp>
      <p:sp>
        <p:nvSpPr>
          <p:cNvPr id="7" name="Shape 5"/>
          <p:cNvSpPr/>
          <p:nvPr/>
        </p:nvSpPr>
        <p:spPr>
          <a:xfrm>
            <a:off x="6172200" y="1508760"/>
            <a:ext cx="5440680" cy="4526280"/>
          </a:xfrm>
          <a:prstGeom prst="roundRect">
            <a:avLst>
              <a:gd name="adj" fmla="val 2020"/>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8" name="Text 6"/>
          <p:cNvSpPr txBox="1"/>
          <p:nvPr/>
        </p:nvSpPr>
        <p:spPr>
          <a:xfrm>
            <a:off x="6446520" y="1691640"/>
            <a:ext cx="4937760" cy="365760"/>
          </a:xfrm>
          <a:prstGeom prst="rect">
            <a:avLst/>
          </a:prstGeom>
          <a:noFill/>
          <a:ln/>
        </p:spPr>
        <p:txBody>
          <a:bodyPr wrap="square" lIns="0" tIns="0" rIns="0" bIns="0" rtlCol="0" anchor="ctr"/>
          <a:lstStyle/>
          <a:p>
            <a:pPr indent="0" marL="0">
              <a:buNone/>
            </a:pPr>
            <a:r>
              <a:rPr lang="en-US" sz="1800" b="1" dirty="0">
                <a:solidFill>
                  <a:srgbClr val="8A5A00"/>
                </a:solidFill>
              </a:rPr>
              <a:t>Added for a fair comparison</a:t>
            </a:r>
            <a:endParaRPr lang="en-US" sz="1800" dirty="0"/>
          </a:p>
        </p:txBody>
      </p:sp>
      <p:sp>
        <p:nvSpPr>
          <p:cNvPr id="9" name="Text 7"/>
          <p:cNvSpPr txBox="1"/>
          <p:nvPr/>
        </p:nvSpPr>
        <p:spPr>
          <a:xfrm>
            <a:off x="6446520" y="2148840"/>
            <a:ext cx="493776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Our security team also reviews the vendor system: 20 h, then 8 h a year</a:t>
            </a:r>
            <a:endParaRPr lang="en-US" sz="1300" dirty="0"/>
          </a:p>
          <a:p>
            <a:pPr marL="342900" indent="-342900">
              <a:spcAft>
                <a:spcPts val="600"/>
              </a:spcAft>
              <a:buSzPct val="100000"/>
              <a:buChar char="•"/>
            </a:pPr>
            <a:r>
              <a:rPr lang="en-US" sz="1300" dirty="0">
                <a:solidFill>
                  <a:schemeClr val="tx1"/>
                </a:solidFill>
              </a:rPr>
              <a:t>Yearly MachineCare security re-check: 8 h a year</a:t>
            </a:r>
            <a:endParaRPr lang="en-US" sz="1300" dirty="0"/>
          </a:p>
          <a:p>
            <a:pPr marL="342900" indent="-342900">
              <a:spcAft>
                <a:spcPts val="600"/>
              </a:spcAft>
              <a:buSzPct val="100000"/>
              <a:buChar char="•"/>
            </a:pPr>
            <a:r>
              <a:rPr lang="en-US" sz="1300" dirty="0">
                <a:solidFill>
                  <a:schemeClr val="tx1"/>
                </a:solidFill>
              </a:rPr>
              <a:t>Someone still administers the vendor system: 1 h/week</a:t>
            </a:r>
            <a:endParaRPr lang="en-US" sz="1300" dirty="0"/>
          </a:p>
          <a:p>
            <a:pPr marL="342900" indent="-342900">
              <a:spcAft>
                <a:spcPts val="600"/>
              </a:spcAft>
              <a:buSzPct val="100000"/>
              <a:buChar char="•"/>
            </a:pPr>
            <a:r>
              <a:rPr lang="en-US" sz="1300" dirty="0">
                <a:solidFill>
                  <a:schemeClr val="tx1"/>
                </a:solidFill>
              </a:rPr>
              <a:t>Vendor price increase: 0% a year (ask the vendor)</a:t>
            </a:r>
            <a:endParaRPr lang="en-US" sz="1300" dirty="0"/>
          </a:p>
        </p:txBody>
      </p:sp>
      <p:sp>
        <p:nvSpPr>
          <p:cNvPr id="10" name="Shape 8"/>
          <p:cNvSpPr/>
          <p:nvPr/>
        </p:nvSpPr>
        <p:spPr>
          <a:xfrm>
            <a:off x="6446520" y="4526280"/>
            <a:ext cx="4892040" cy="1280160"/>
          </a:xfrm>
          <a:prstGeom prst="roundRect">
            <a:avLst>
              <a:gd name="adj" fmla="val 5714"/>
            </a:avLst>
          </a:prstGeom>
          <a:solidFill>
            <a:srgbClr val="FFF4DC"/>
          </a:solidFill>
          <a:ln/>
        </p:spPr>
      </p:sp>
      <p:sp>
        <p:nvSpPr>
          <p:cNvPr id="11" name="Text 9"/>
          <p:cNvSpPr txBox="1"/>
          <p:nvPr/>
        </p:nvSpPr>
        <p:spPr>
          <a:xfrm>
            <a:off x="6675120" y="4617720"/>
            <a:ext cx="4480560" cy="1097280"/>
          </a:xfrm>
          <a:prstGeom prst="rect">
            <a:avLst/>
          </a:prstGeom>
          <a:noFill/>
          <a:ln/>
        </p:spPr>
        <p:txBody>
          <a:bodyPr wrap="square" lIns="0" tIns="0" rIns="0" bIns="0" rtlCol="0" anchor="ctr"/>
          <a:lstStyle/>
          <a:p>
            <a:pPr indent="0" marL="0">
              <a:buNone/>
            </a:pPr>
            <a:r>
              <a:rPr lang="en-US" sz="1300" b="1" dirty="0">
                <a:solidFill>
                  <a:srgbClr val="7A4B00"/>
                </a:solidFill>
              </a:rPr>
              <a:t>Without the added lines (your sheet exactly):</a:t>
            </a:r>
            <a:endParaRPr lang="en-US" sz="1300" dirty="0"/>
          </a:p>
          <a:p>
            <a:pPr indent="0" marL="0">
              <a:buNone/>
            </a:pPr>
            <a:r>
              <a:rPr lang="en-US" sz="1300" dirty="0">
                <a:solidFill>
                  <a:srgbClr val="7A4B00"/>
                </a:solidFill>
              </a:rPr>
              <a:t>Vendor $201,680 vs MachineCare $60,480 over 5 years, a saving of $141,200.</a:t>
            </a:r>
            <a:endParaRPr lang="en-US" sz="1300" dirty="0"/>
          </a:p>
        </p:txBody>
      </p:sp>
      <p:sp>
        <p:nvSpPr>
          <p:cNvPr id="12" name="Text 10"/>
          <p:cNvSpPr txBox="1"/>
          <p:nvPr/>
        </p:nvSpPr>
        <p:spPr>
          <a:xfrm>
            <a:off x="548640" y="6172200"/>
            <a:ext cx="11064240" cy="228600"/>
          </a:xfrm>
          <a:prstGeom prst="rect">
            <a:avLst/>
          </a:prstGeom>
          <a:noFill/>
          <a:ln/>
        </p:spPr>
        <p:txBody>
          <a:bodyPr wrap="square" lIns="0" tIns="0" rIns="0" bIns="0" rtlCol="0" anchor="ctr"/>
          <a:lstStyle/>
          <a:p>
            <a:pPr indent="0" marL="0">
              <a:buNone/>
            </a:pPr>
            <a:r>
              <a:rPr lang="en-US" sz="1000" i="1" dirty="0">
                <a:solidFill>
                  <a:schemeClr val="accent5"/>
                </a:solidFill>
              </a:rPr>
              <a:t>Change any blue cell on the Inputs sheet; all totals recalculate. Re-export to update these slides.</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lIns="0" tIns="0" rIns="0" bIns="0" rtlCol="0"/>
          <a:lstStyle/>
          <a:p>
            <a:pPr indent="0" marL="0">
              <a:buNone/>
            </a:pPr>
            <a:r>
              <a:rPr lang="en-US" sz="1200" b="1" spc="200" kern="0" dirty="0">
                <a:solidFill>
                  <a:schemeClr val="accent2"/>
                </a:solidFill>
              </a:rPr>
              <a:t>THE DECISION</a:t>
            </a: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lIns="0" tIns="0" rIns="0" bIns="0" rtlCol="0" anchor="t"/>
          <a:lstStyle/>
          <a:p>
            <a:pPr algn="l" indent="0" marL="0">
              <a:buNone/>
            </a:pPr>
            <a:r>
              <a:rPr lang="en-US" sz="3600" b="1" dirty="0">
                <a:solidFill>
                  <a:schemeClr val="bg1"/>
                </a:solidFill>
              </a:rPr>
              <a:t>Approve a focused validation pilot</a:t>
            </a:r>
            <a:endParaRPr lang="en-US" sz="3600" dirty="0"/>
          </a:p>
        </p:txBody>
      </p:sp>
      <p:sp>
        <p:nvSpPr>
          <p:cNvPr id="4" name="Shape 2"/>
          <p:cNvSpPr/>
          <p:nvPr/>
        </p:nvSpPr>
        <p:spPr>
          <a:xfrm>
            <a:off x="548640" y="2103120"/>
            <a:ext cx="731520" cy="731520"/>
          </a:xfrm>
          <a:prstGeom prst="ellipse">
            <a:avLst/>
          </a:prstGeom>
          <a:solidFill>
            <a:schemeClr val="accent1"/>
          </a:solidFill>
          <a:ln/>
        </p:spPr>
      </p:sp>
      <p:sp>
        <p:nvSpPr>
          <p:cNvPr id="5" name="Text 3"/>
          <p:cNvSpPr txBox="1"/>
          <p:nvPr/>
        </p:nvSpPr>
        <p:spPr>
          <a:xfrm>
            <a:off x="548640" y="21031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1554480" y="205740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Choose one validated line</a:t>
            </a:r>
            <a:endParaRPr lang="en-US" sz="2200" dirty="0"/>
          </a:p>
          <a:p>
            <a:pPr indent="0" marL="0">
              <a:buNone/>
            </a:pPr>
            <a:r>
              <a:rPr lang="en-US" sz="1500" dirty="0">
                <a:solidFill>
                  <a:schemeClr val="accent6"/>
                </a:solidFill>
              </a:rPr>
              <a:t>Where we count real stock and run the full workflow</a:t>
            </a:r>
            <a:endParaRPr lang="en-US" sz="2200" dirty="0"/>
          </a:p>
        </p:txBody>
      </p:sp>
      <p:sp>
        <p:nvSpPr>
          <p:cNvPr id="7" name="Shape 5"/>
          <p:cNvSpPr/>
          <p:nvPr/>
        </p:nvSpPr>
        <p:spPr>
          <a:xfrm>
            <a:off x="548640" y="3291840"/>
            <a:ext cx="731520" cy="731520"/>
          </a:xfrm>
          <a:prstGeom prst="ellipse">
            <a:avLst/>
          </a:prstGeom>
          <a:solidFill>
            <a:schemeClr val="accent1"/>
          </a:solidFill>
          <a:ln/>
        </p:spPr>
      </p:sp>
      <p:sp>
        <p:nvSpPr>
          <p:cNvPr id="8" name="Text 6"/>
          <p:cNvSpPr txBox="1"/>
          <p:nvPr/>
        </p:nvSpPr>
        <p:spPr>
          <a:xfrm>
            <a:off x="548640" y="32918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9" name="Text 7"/>
          <p:cNvSpPr txBox="1"/>
          <p:nvPr/>
        </p:nvSpPr>
        <p:spPr>
          <a:xfrm>
            <a:off x="1554480" y="324612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Name a data owner and an IT reviewer</a:t>
            </a:r>
            <a:endParaRPr lang="en-US" sz="2200" dirty="0"/>
          </a:p>
          <a:p>
            <a:pPr indent="0" marL="0">
              <a:buNone/>
            </a:pPr>
            <a:r>
              <a:rPr lang="en-US" sz="1500" dirty="0">
                <a:solidFill>
                  <a:schemeClr val="accent6"/>
                </a:solidFill>
              </a:rPr>
              <a:t>Maintenance and IT/security owners for the production gates</a:t>
            </a:r>
            <a:endParaRPr lang="en-US" sz="2200" dirty="0"/>
          </a:p>
        </p:txBody>
      </p:sp>
      <p:sp>
        <p:nvSpPr>
          <p:cNvPr id="10" name="Shape 8"/>
          <p:cNvSpPr/>
          <p:nvPr/>
        </p:nvSpPr>
        <p:spPr>
          <a:xfrm>
            <a:off x="548640" y="4480560"/>
            <a:ext cx="731520" cy="731520"/>
          </a:xfrm>
          <a:prstGeom prst="ellipse">
            <a:avLst/>
          </a:prstGeom>
          <a:solidFill>
            <a:schemeClr val="accent1"/>
          </a:solidFill>
          <a:ln/>
        </p:spPr>
      </p:sp>
      <p:sp>
        <p:nvSpPr>
          <p:cNvPr id="11" name="Text 9"/>
          <p:cNvSpPr txBox="1"/>
          <p:nvPr/>
        </p:nvSpPr>
        <p:spPr>
          <a:xfrm>
            <a:off x="548640" y="448056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2" name="Text 10"/>
          <p:cNvSpPr txBox="1"/>
          <p:nvPr/>
        </p:nvSpPr>
        <p:spPr>
          <a:xfrm>
            <a:off x="1554480" y="443484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Agree acceptance measures</a:t>
            </a:r>
            <a:endParaRPr lang="en-US" sz="2200" dirty="0"/>
          </a:p>
          <a:p>
            <a:pPr indent="0" marL="0">
              <a:buNone/>
            </a:pPr>
            <a:r>
              <a:rPr lang="en-US" sz="1500" dirty="0">
                <a:solidFill>
                  <a:schemeClr val="accent6"/>
                </a:solidFill>
              </a:rPr>
              <a:t>Traceability, stock accuracy and operator usability</a:t>
            </a:r>
            <a:endParaRPr lang="en-US" sz="2200" dirty="0"/>
          </a:p>
        </p:txBody>
      </p:sp>
      <p:pic>
        <p:nvPicPr>
          <p:cNvPr id="13" name="Image 0" descr="MachineCare on a phone-sized screen">    </p:cNvPr>
          <p:cNvPicPr>
            <a:picLocks noChangeAspect="1"/>
          </p:cNvPicPr>
          <p:nvPr/>
        </p:nvPicPr>
        <p:blipFill>
          <a:blip r:embed="rId1"/>
          <a:stretch>
            <a:fillRect/>
          </a:stretch>
        </p:blipFill>
        <p:spPr>
          <a:xfrm>
            <a:off x="9326880" y="1280160"/>
            <a:ext cx="1737360" cy="3636335"/>
          </a:xfrm>
          <a:prstGeom prst="rect">
            <a:avLst/>
          </a:prstGeom>
        </p:spPr>
      </p:pic>
      <p:sp>
        <p:nvSpPr>
          <p:cNvPr id="14" name="Text 11"/>
          <p:cNvSpPr txBox="1"/>
          <p:nvPr/>
        </p:nvSpPr>
        <p:spPr>
          <a:xfrm>
            <a:off x="9052560" y="5029200"/>
            <a:ext cx="2286000" cy="365760"/>
          </a:xfrm>
          <a:prstGeom prst="rect">
            <a:avLst/>
          </a:prstGeom>
          <a:noFill/>
          <a:ln/>
        </p:spPr>
        <p:txBody>
          <a:bodyPr wrap="square" lIns="0" tIns="0" rIns="0" bIns="0" rtlCol="0" anchor="ctr"/>
          <a:lstStyle/>
          <a:p>
            <a:pPr algn="ctr" indent="0" marL="0">
              <a:buNone/>
            </a:pPr>
            <a:r>
              <a:rPr lang="en-US" sz="1200" dirty="0">
                <a:solidFill>
                  <a:schemeClr val="accent6"/>
                </a:solidFill>
              </a:rPr>
              <a:t>Also works on a phone</a:t>
            </a:r>
            <a:endParaRPr lang="en-US" sz="1200" dirty="0"/>
          </a:p>
        </p:txBody>
      </p:sp>
      <p:sp>
        <p:nvSpPr>
          <p:cNvPr id="15" name="Text 12"/>
          <p:cNvSpPr txBox="1"/>
          <p:nvPr/>
        </p:nvSpPr>
        <p:spPr>
          <a:xfrm>
            <a:off x="548640" y="5852160"/>
            <a:ext cx="8229600" cy="457200"/>
          </a:xfrm>
          <a:prstGeom prst="rect">
            <a:avLst/>
          </a:prstGeom>
          <a:noFill/>
          <a:ln/>
        </p:spPr>
        <p:txBody>
          <a:bodyPr wrap="square" lIns="0" tIns="0" rIns="0" bIns="0" rtlCol="0" anchor="ctr"/>
          <a:lstStyle/>
          <a:p>
            <a:pPr indent="0" marL="0">
              <a:buNone/>
            </a:pPr>
            <a:r>
              <a:rPr lang="en-US" sz="1600" i="1" dirty="0">
                <a:solidFill>
                  <a:schemeClr val="accent2"/>
                </a:solidFill>
              </a:rPr>
              <a:t>A working local pilot today. A controlled release after validation.</a:t>
            </a:r>
            <a:endParaRPr lang="en-US" sz="16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APPENDIX A</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DIMM press component reference</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91840"/>
                <a:gridCol w="2560320"/>
                <a:gridCol w="3931920"/>
                <a:gridCol w="1280160"/>
              </a:tblGrid>
              <a:tr h="384048">
                <a:tc>
                  <a:txBody>
                    <a:bodyPr/>
                    <a:lstStyle/>
                    <a:p>
                      <a:pPr algn="l"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Manufacturer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Supplied identifier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200" b="1" dirty="0">
                          <a:solidFill>
                            <a:srgbClr val="FFFFFF"/>
                          </a:solidFill>
                        </a:rPr>
                        <a:t>Per DIMM</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384048">
                <a:tc>
                  <a:txBody>
                    <a:bodyPr/>
                    <a:lstStyle/>
                    <a:p>
                      <a:pPr algn="l" indent="0" marL="0">
                        <a:buNone/>
                      </a:pPr>
                      <a:r>
                        <a:rPr lang="en-US" sz="1200" dirty="0">
                          <a:solidFill>
                            <a:srgbClr val="17232E"/>
                          </a:solidFill>
                        </a:rPr>
                        <a:t>Load cell</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Delta Transducers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Serial 2511231 (not a part number)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Finger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HFD12X50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Vertical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HLQ12X50S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Solenoid valve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7V110-6</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Tray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TCL25X20S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Tray clamp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HLS16X20SAS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Finger reed switch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DMSH A11DW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8</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Vertical reed switch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D-M98W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Flag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Panasonic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PM-T45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8</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Photoelectric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Panasonic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CX-441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APPENDIX B</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AOI component reference</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91840"/>
                <a:gridCol w="2560320"/>
                <a:gridCol w="3931920"/>
                <a:gridCol w="1280160"/>
              </a:tblGrid>
              <a:tr h="384048">
                <a:tc>
                  <a:txBody>
                    <a:bodyPr/>
                    <a:lstStyle/>
                    <a:p>
                      <a:pPr algn="l"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Manufacturer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Supplied identifier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200" b="1" dirty="0">
                          <a:solidFill>
                            <a:srgbClr val="FFFFFF"/>
                          </a:solidFill>
                        </a:rPr>
                        <a:t>Per AOI</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384048">
                <a:tc>
                  <a:txBody>
                    <a:bodyPr/>
                    <a:lstStyle/>
                    <a:p>
                      <a:pPr algn="l" indent="0" marL="0">
                        <a:buNone/>
                      </a:pPr>
                      <a:r>
                        <a:rPr lang="en-US" sz="1200" dirty="0">
                          <a:solidFill>
                            <a:srgbClr val="17232E"/>
                          </a:solidFill>
                        </a:rPr>
                        <a:t>TM robot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TM (as supplied)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Model not supplied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Small light curtain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PSEN op113H-s-30-030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Large light curtain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PESN op113H-s-30-075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PLC PNOZ m bo.1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Ident-772104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Tower light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ASTLF-110-4-5FT-CM</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Switching power supply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s-120-24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Control box</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VEVOR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Serial 240108586510146</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APPENDIX C</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Every cost line, both options</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3429000"/>
                <a:gridCol w="1005840"/>
                <a:gridCol w="1005840"/>
              </a:tblGrid>
              <a:tr h="239573">
                <a:tc>
                  <a:txBody>
                    <a:bodyPr/>
                    <a:lstStyle/>
                    <a:p>
                      <a:pPr algn="l" indent="0" marL="0">
                        <a:buNone/>
                      </a:pPr>
                      <a:r>
                        <a:rPr lang="en-US" sz="1000" b="1" dirty="0">
                          <a:solidFill>
                            <a:srgbClr val="FFFFFF"/>
                          </a:solidFill>
                        </a:rPr>
                        <a:t>Outside vendor</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8A2E0A"/>
                    </a:solidFill>
                  </a:tcPr>
                </a:tc>
                <a:tc>
                  <a:txBody>
                    <a:bodyPr/>
                    <a:lstStyle/>
                    <a:p>
                      <a:pPr algn="r" indent="0" marL="0">
                        <a:buNone/>
                      </a:pPr>
                      <a:r>
                        <a:rPr lang="en-US" sz="1000" b="1" dirty="0">
                          <a:solidFill>
                            <a:srgbClr val="FFFFFF"/>
                          </a:solidFill>
                        </a:rPr>
                        <a:t>Year 1</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8A2E0A"/>
                    </a:solidFill>
                  </a:tcPr>
                </a:tc>
                <a:tc>
                  <a:txBody>
                    <a:bodyPr/>
                    <a:lstStyle/>
                    <a:p>
                      <a:pPr algn="r" indent="0" marL="0">
                        <a:buNone/>
                      </a:pPr>
                      <a:r>
                        <a:rPr lang="en-US" sz="1000" b="1" dirty="0">
                          <a:solidFill>
                            <a:srgbClr val="FFFFFF"/>
                          </a:solidFill>
                        </a:rPr>
                        <a:t>5 years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8A2E0A"/>
                    </a:solidFill>
                  </a:tcPr>
                </a:tc>
              </a:tr>
              <a:tr h="239573">
                <a:tc>
                  <a:txBody>
                    <a:bodyPr/>
                    <a:lstStyle/>
                    <a:p>
                      <a:pPr algn="l" indent="0" marL="0">
                        <a:buNone/>
                      </a:pPr>
                      <a:r>
                        <a:rPr lang="en-US" sz="1000" dirty="0">
                          <a:solidFill>
                            <a:srgbClr val="17232E"/>
                          </a:solidFill>
                        </a:rPr>
                        <a:t>Licences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$37,200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$186,000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Installation fee</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$10,000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$10,000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Setup and deployment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Security review (in-house team)</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Yearly security re-check</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$1,280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Physical stock count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Bins, prices and supplier details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Lead times and maintenance intervals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Training</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$2,480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$2,480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Hosting and backups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System administration (internal)</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$2,080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$10,400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b="1" dirty="0">
                          <a:solidFill>
                            <a:srgbClr val="17232E"/>
                          </a:solidFill>
                        </a:rPr>
                        <a:t>Total</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000" b="1" dirty="0">
                          <a:solidFill>
                            <a:srgbClr val="17232E"/>
                          </a:solidFill>
                        </a:rPr>
                        <a:t>$55,760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000" b="1" dirty="0">
                          <a:solidFill>
                            <a:srgbClr val="17232E"/>
                          </a:solidFill>
                        </a:rPr>
                        <a:t>$214,160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E1F2EF"/>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3429000"/>
                <a:gridCol w="1005840"/>
                <a:gridCol w="1005840"/>
              </a:tblGrid>
              <a:tr h="239573">
                <a:tc>
                  <a:txBody>
                    <a:bodyPr/>
                    <a:lstStyle/>
                    <a:p>
                      <a:pPr algn="l" indent="0" marL="0">
                        <a:buNone/>
                      </a:pPr>
                      <a:r>
                        <a:rPr lang="en-US" sz="1000" b="1" dirty="0">
                          <a:solidFill>
                            <a:srgbClr val="FFFFFF"/>
                          </a:solidFill>
                        </a:rPr>
                        <a:t>MachineCare (in-house)</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0B5A51"/>
                    </a:solidFill>
                  </a:tcPr>
                </a:tc>
                <a:tc>
                  <a:txBody>
                    <a:bodyPr/>
                    <a:lstStyle/>
                    <a:p>
                      <a:pPr algn="r" indent="0" marL="0">
                        <a:buNone/>
                      </a:pPr>
                      <a:r>
                        <a:rPr lang="en-US" sz="1000" b="1" dirty="0">
                          <a:solidFill>
                            <a:srgbClr val="FFFFFF"/>
                          </a:solidFill>
                        </a:rPr>
                        <a:t>Year 1</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0B5A51"/>
                    </a:solidFill>
                  </a:tcPr>
                </a:tc>
                <a:tc>
                  <a:txBody>
                    <a:bodyPr/>
                    <a:lstStyle/>
                    <a:p>
                      <a:pPr algn="r" indent="0" marL="0">
                        <a:buNone/>
                      </a:pPr>
                      <a:r>
                        <a:rPr lang="en-US" sz="1000" b="1" dirty="0">
                          <a:solidFill>
                            <a:srgbClr val="FFFFFF"/>
                          </a:solidFill>
                        </a:rPr>
                        <a:t>5 years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0B5A51"/>
                    </a:solidFill>
                  </a:tcPr>
                </a:tc>
              </a:tr>
              <a:tr h="239573">
                <a:tc>
                  <a:txBody>
                    <a:bodyPr/>
                    <a:lstStyle/>
                    <a:p>
                      <a:pPr algn="l" indent="0" marL="0">
                        <a:buNone/>
                      </a:pPr>
                      <a:r>
                        <a:rPr lang="en-US" sz="1000" dirty="0">
                          <a:solidFill>
                            <a:srgbClr val="17232E"/>
                          </a:solidFill>
                        </a:rPr>
                        <a:t>Licences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Installation fee</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Runtime upgrade and re-test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$960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$960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Production server, HTTPS and deployment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Company sign-in (SSO)</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Monitoring and scheduled backups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$960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$960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User acceptance testing</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$1,280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$1,280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Security review (in-house team)</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Yearly security re-check</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$1,280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Physical stock count</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Bins, prices and supplier details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Lead times and maintenance intervals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$800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Training</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$2,480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$2,480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Server / VM hosting</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$900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$4,500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Off-host backup storage</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$300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$1,500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Patching and monitoring</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$3,120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$15,600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dirty="0">
                          <a:solidFill>
                            <a:srgbClr val="17232E"/>
                          </a:solidFill>
                        </a:rPr>
                        <a:t>User help and fixes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$3,120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7232E"/>
                          </a:solidFill>
                        </a:rPr>
                        <a:t>$15,600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FFFFF"/>
                    </a:solidFill>
                  </a:tcPr>
                </a:tc>
              </a:tr>
              <a:tr h="239573">
                <a:tc>
                  <a:txBody>
                    <a:bodyPr/>
                    <a:lstStyle/>
                    <a:p>
                      <a:pPr algn="l" indent="0" marL="0">
                        <a:buNone/>
                      </a:pPr>
                      <a:r>
                        <a:rPr lang="en-US" sz="1000" dirty="0">
                          <a:solidFill>
                            <a:srgbClr val="17232E"/>
                          </a:solidFill>
                        </a:rPr>
                        <a:t>Small changes and improvements</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$2,080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000" dirty="0">
                          <a:solidFill>
                            <a:srgbClr val="17232E"/>
                          </a:solidFill>
                        </a:rPr>
                        <a:t>$10,400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F5F9FA"/>
                    </a:solidFill>
                  </a:tcPr>
                </a:tc>
              </a:tr>
              <a:tr h="239573">
                <a:tc>
                  <a:txBody>
                    <a:bodyPr/>
                    <a:lstStyle/>
                    <a:p>
                      <a:pPr algn="l" indent="0" marL="0">
                        <a:buNone/>
                      </a:pPr>
                      <a:r>
                        <a:rPr lang="en-US" sz="1000" b="1" dirty="0">
                          <a:solidFill>
                            <a:srgbClr val="17232E"/>
                          </a:solidFill>
                        </a:rPr>
                        <a:t>Total</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000" b="1" dirty="0">
                          <a:solidFill>
                            <a:srgbClr val="17232E"/>
                          </a:solidFill>
                        </a:rPr>
                        <a:t>$22,400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000" b="1" dirty="0">
                          <a:solidFill>
                            <a:srgbClr val="17232E"/>
                          </a:solidFill>
                        </a:rPr>
                        <a:t>$61,760</a:t>
                      </a:r>
                      <a:endParaRPr lang="en-US" sz="1000" dirty="0"/>
                    </a:p>
                  </a:txBody>
                  <a:tcPr marL="54864" marR="54864" marT="9144" marB="9144" anchor="ctr">
                    <a:lnL w="6350" cap="flat" cmpd="sng" algn="ctr">
                      <a:solidFill>
                        <a:srgbClr val="D5E0E3"/>
                      </a:solidFill>
                      <a:prstDash val="solid"/>
                      <a:round/>
                      <a:headEnd type="none" w="med" len="med"/>
                      <a:tailEnd type="none" w="med" len="med"/>
                    </a:lnL>
                    <a:lnR w="6350" cap="flat" cmpd="sng" algn="ctr">
                      <a:solidFill>
                        <a:srgbClr val="D5E0E3"/>
                      </a:solidFill>
                      <a:prstDash val="solid"/>
                      <a:round/>
                      <a:headEnd type="none" w="med" len="med"/>
                      <a:tailEnd type="none" w="med" len="med"/>
                    </a:lnR>
                    <a:lnT w="6350" cap="flat" cmpd="sng" algn="ctr">
                      <a:solidFill>
                        <a:srgbClr val="D5E0E3"/>
                      </a:solidFill>
                      <a:prstDash val="solid"/>
                      <a:round/>
                      <a:headEnd type="none" w="med" len="med"/>
                      <a:tailEnd type="none" w="med" len="med"/>
                    </a:lnT>
                    <a:lnB w="6350" cap="flat" cmpd="sng" algn="ctr">
                      <a:solidFill>
                        <a:srgbClr val="D5E0E3"/>
                      </a:solidFill>
                      <a:prstDash val="solid"/>
                      <a:round/>
                      <a:headEnd type="none" w="med" len="med"/>
                      <a:tailEnd type="none" w="med" len="med"/>
                    </a:lnB>
                    <a:solidFill>
                      <a:srgbClr val="E1F2EF"/>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MachineCare">
  <a:themeElements>
    <a:clrScheme name="MachineCare">
      <a:dk1>
        <a:srgbClr val="17232E"/>
      </a:dk1>
      <a:lt1>
        <a:srgbClr val="FFFFFF"/>
      </a:lt1>
      <a:dk2>
        <a:srgbClr val="0F2A3A"/>
      </a:dk2>
      <a:lt2>
        <a:srgbClr val="EEF4F5"/>
      </a:lt2>
      <a:accent1>
        <a:srgbClr val="00695C"/>
      </a:accent1>
      <a:accent2>
        <a:srgbClr val="4DB6AC"/>
      </a:accent2>
      <a:accent3>
        <a:srgbClr val="E0A030"/>
      </a:accent3>
      <a:accent4>
        <a:srgbClr val="C2410C"/>
      </a:accent4>
      <a:accent5>
        <a:srgbClr val="5B7083"/>
      </a:accent5>
      <a:accent6>
        <a:srgbClr val="B2DFDB"/>
      </a:accent6>
      <a:hlink>
        <a:srgbClr val="00695C"/>
      </a:hlink>
      <a:folHlink>
        <a:srgbClr val="5B7083"/>
      </a:folHlink>
    </a:clrScheme>
    <a:fontScheme name="MachineCa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MachineCare - Manager Review</dc:title>
  <dc:subject>PptxGenJS Presentation</dc:subject>
  <dc:creator>MachineCare project</dc:creator>
  <cp:lastModifiedBy>MachineCare project</cp:lastModifiedBy>
  <cp:revision>1</cp:revision>
  <dcterms:created xsi:type="dcterms:W3CDTF">2026-10-21T13:46:27Z</dcterms:created>
  <dcterms:modified xsi:type="dcterms:W3CDTF">2026-10-21T13:46:27Z</dcterms:modified>
</cp:coreProperties>
</file>